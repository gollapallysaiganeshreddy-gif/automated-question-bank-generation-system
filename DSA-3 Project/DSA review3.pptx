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3397421E-2B3F-4435-B146-2A778B67532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997C2C-CD7C-4644-ACE8-C20BB0ED5C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987D33-4751-4FBE-9752-8361E7C344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1CC186-6970-4061-9A21-C18532CCA3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BA00F-F26F-446F-93CA-853BB57046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7CD49-3D54-4DEB-9D40-4652666FE1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653C8C-4FFB-4247-8C6E-10C9F00E74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9F1308-2CDD-4289-9BE2-48A7BC11EA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4CC8A-603D-4793-BAC6-C4F5FF9BC1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9930BB-3E21-4388-B50D-24602CBE93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44A175-0D1A-4353-A158-967053A6C0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IGHT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120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 spc="119">
                <a:solidFill>
                  <a:srgbClr val="6D7485"/>
                </a:solidFill>
                <a:effectLst/>
                <a:uFillTx/>
                <a:latin typeface="Aptos"/>
                <a:ea typeface="Aptos"/>
              </a:rPr>
              <a:t>AUTOMATED QUESTION BANK GENERATION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rPr>
              <a:t>SECTION A5  •  DSA-3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4D1F89-0212-4901-8752-EDF00BD1C0AA}" type="slidenum">
              <a: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 hasCustomPrompt="1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RK">
    <p:bg>
      <p:bgPr>
        <a:solidFill>
          <a:srgbClr val="10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27D3C2"/>
          </a:solidFill>
          <a:ln w="12700">
            <a:solidFill>
              <a:srgbClr val="27D3C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Text 1"/>
          <p:cNvSpPr/>
          <p:nvPr/>
        </p:nvSpPr>
        <p:spPr>
          <a:xfrm>
            <a:off x="502920" y="6492240"/>
            <a:ext cx="5120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 spc="119">
                <a:solidFill>
                  <a:srgbClr val="96A0B8"/>
                </a:solidFill>
                <a:effectLst/>
                <a:uFillTx/>
                <a:latin typeface="Aptos"/>
                <a:ea typeface="Aptos"/>
              </a:rPr>
              <a:t>AUTOMATED QUESTION BANK GENERATION SYSTEM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" name="Text 2"/>
          <p:cNvSpPr/>
          <p:nvPr/>
        </p:nvSpPr>
        <p:spPr>
          <a:xfrm>
            <a:off x="9875520" y="649224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rPr>
              <a:t>SECTION A5  •  DSA-3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0B98898-742A-4EC0-B35A-E85F849858EB}" type="slidenum">
              <a: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 hasCustomPrompt="1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8001000" y="118800"/>
            <a:ext cx="4187520" cy="6235920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8823960" y="118800"/>
            <a:ext cx="3364560" cy="6235920"/>
          </a:xfrm>
          <a:prstGeom prst="rect">
            <a:avLst/>
          </a:prstGeom>
          <a:solidFill>
            <a:srgbClr val="2F7BFF">
              <a:alpha val="72000"/>
            </a:srgbClr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8321040" y="5029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8979480" y="5029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9637920" y="5029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10296000" y="5029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10954440" y="5029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8321040" y="11613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8979480" y="11613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9637920" y="11613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10296000" y="11613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10954440" y="11613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8321040" y="18198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8979480" y="18198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9637920" y="18198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10296000" y="18198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10954440" y="18198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8321040" y="247788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" name="Shape 18"/>
          <p:cNvSpPr/>
          <p:nvPr/>
        </p:nvSpPr>
        <p:spPr>
          <a:xfrm>
            <a:off x="8979480" y="247788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9637920" y="247788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10296000" y="247788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" name="Shape 21"/>
          <p:cNvSpPr/>
          <p:nvPr/>
        </p:nvSpPr>
        <p:spPr>
          <a:xfrm>
            <a:off x="10954440" y="247788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" name="Shape 22"/>
          <p:cNvSpPr/>
          <p:nvPr/>
        </p:nvSpPr>
        <p:spPr>
          <a:xfrm>
            <a:off x="8321040" y="31363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" name="Shape 23"/>
          <p:cNvSpPr/>
          <p:nvPr/>
        </p:nvSpPr>
        <p:spPr>
          <a:xfrm>
            <a:off x="8979480" y="31363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" name="Shape 24"/>
          <p:cNvSpPr/>
          <p:nvPr/>
        </p:nvSpPr>
        <p:spPr>
          <a:xfrm>
            <a:off x="9637920" y="31363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" name="Shape 25"/>
          <p:cNvSpPr/>
          <p:nvPr/>
        </p:nvSpPr>
        <p:spPr>
          <a:xfrm>
            <a:off x="10296000" y="31363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" name="Shape 26"/>
          <p:cNvSpPr/>
          <p:nvPr/>
        </p:nvSpPr>
        <p:spPr>
          <a:xfrm>
            <a:off x="10954440" y="313632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8321040" y="37947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" name="Shape 28"/>
          <p:cNvSpPr/>
          <p:nvPr/>
        </p:nvSpPr>
        <p:spPr>
          <a:xfrm>
            <a:off x="8979480" y="37947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" name="Shape 29"/>
          <p:cNvSpPr/>
          <p:nvPr/>
        </p:nvSpPr>
        <p:spPr>
          <a:xfrm>
            <a:off x="9637920" y="37947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" name="Shape 30"/>
          <p:cNvSpPr/>
          <p:nvPr/>
        </p:nvSpPr>
        <p:spPr>
          <a:xfrm>
            <a:off x="10296000" y="37947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" name="Shape 31"/>
          <p:cNvSpPr/>
          <p:nvPr/>
        </p:nvSpPr>
        <p:spPr>
          <a:xfrm>
            <a:off x="10954440" y="379476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0" name="Shape 32"/>
          <p:cNvSpPr/>
          <p:nvPr/>
        </p:nvSpPr>
        <p:spPr>
          <a:xfrm>
            <a:off x="8321040" y="44532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1" name="Shape 33"/>
          <p:cNvSpPr/>
          <p:nvPr/>
        </p:nvSpPr>
        <p:spPr>
          <a:xfrm>
            <a:off x="8979480" y="44532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9637920" y="44532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" name="Shape 35"/>
          <p:cNvSpPr/>
          <p:nvPr/>
        </p:nvSpPr>
        <p:spPr>
          <a:xfrm>
            <a:off x="10296000" y="44532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4" name="Shape 36"/>
          <p:cNvSpPr/>
          <p:nvPr/>
        </p:nvSpPr>
        <p:spPr>
          <a:xfrm>
            <a:off x="10954440" y="4453200"/>
            <a:ext cx="72720" cy="72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" name="Shape 37"/>
          <p:cNvSpPr/>
          <p:nvPr/>
        </p:nvSpPr>
        <p:spPr>
          <a:xfrm>
            <a:off x="594360" y="594360"/>
            <a:ext cx="2148480" cy="310680"/>
          </a:xfrm>
          <a:prstGeom prst="roundRect">
            <a:avLst>
              <a:gd name="adj" fmla="val 23529"/>
            </a:avLst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" name="Text 38"/>
          <p:cNvSpPr/>
          <p:nvPr/>
        </p:nvSpPr>
        <p:spPr>
          <a:xfrm>
            <a:off x="667440" y="663120"/>
            <a:ext cx="2002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DSA-3  |  PBL REVIEW 3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7" name="Text 39"/>
          <p:cNvSpPr/>
          <p:nvPr/>
        </p:nvSpPr>
        <p:spPr>
          <a:xfrm>
            <a:off x="594360" y="1325880"/>
            <a:ext cx="6903360" cy="205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Automated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 Bank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Generation System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8" name="Text 40"/>
          <p:cNvSpPr/>
          <p:nvPr/>
        </p:nvSpPr>
        <p:spPr>
          <a:xfrm>
            <a:off x="621720" y="3675960"/>
            <a:ext cx="62175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5CCDC"/>
                </a:solidFill>
                <a:effectLst/>
                <a:uFillTx/>
                <a:latin typeface="Aptos"/>
              </a:rPr>
              <a:t>From educational documents to an organized, searchable and reusable assessment engine.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9" name="Shape 41"/>
          <p:cNvSpPr/>
          <p:nvPr/>
        </p:nvSpPr>
        <p:spPr>
          <a:xfrm>
            <a:off x="8595360" y="1417320"/>
            <a:ext cx="2651400" cy="3017160"/>
          </a:xfrm>
          <a:prstGeom prst="roundRect">
            <a:avLst>
              <a:gd name="adj" fmla="val 4138"/>
            </a:avLst>
          </a:prstGeom>
          <a:solidFill>
            <a:srgbClr val="FFFFFF">
              <a:alpha val="93000"/>
            </a:srgbClr>
          </a:solidFill>
          <a:ln w="15240">
            <a:solidFill>
              <a:srgbClr val="FFFFFF">
                <a:alpha val="2800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0" name="Text 42"/>
          <p:cNvSpPr/>
          <p:nvPr/>
        </p:nvSpPr>
        <p:spPr>
          <a:xfrm>
            <a:off x="9217080" y="1755720"/>
            <a:ext cx="14169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</a:t>
            </a:r>
            <a:endParaRPr lang="en-US" sz="76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1" name="Shape 43"/>
          <p:cNvSpPr/>
          <p:nvPr/>
        </p:nvSpPr>
        <p:spPr>
          <a:xfrm>
            <a:off x="9326880" y="3090600"/>
            <a:ext cx="1188720" cy="360"/>
          </a:xfrm>
          <a:prstGeom prst="line">
            <a:avLst/>
          </a:prstGeom>
          <a:ln w="63500">
            <a:solidFill>
              <a:srgbClr val="27D3C2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2" name="Text 44"/>
          <p:cNvSpPr/>
          <p:nvPr/>
        </p:nvSpPr>
        <p:spPr>
          <a:xfrm>
            <a:off x="8888040" y="3456360"/>
            <a:ext cx="205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FFFFFF"/>
                </a:solidFill>
                <a:effectLst/>
                <a:uFillTx/>
                <a:latin typeface="Aptos"/>
              </a:rPr>
              <a:t>TEXTQUEST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3" name="Text 45"/>
          <p:cNvSpPr/>
          <p:nvPr/>
        </p:nvSpPr>
        <p:spPr>
          <a:xfrm>
            <a:off x="8823960" y="390456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DDE4F5"/>
                </a:solidFill>
                <a:effectLst/>
                <a:uFillTx/>
                <a:latin typeface="Aptos"/>
              </a:rPr>
              <a:t>ADVANCED ALGORITHM QUESTION BANK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Text 46"/>
          <p:cNvSpPr/>
          <p:nvPr/>
        </p:nvSpPr>
        <p:spPr>
          <a:xfrm>
            <a:off x="621720" y="47548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27D3C2"/>
                </a:solidFill>
                <a:effectLst/>
                <a:uFillTx/>
                <a:latin typeface="Aptos"/>
              </a:rPr>
              <a:t>SECTION A5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5" name="Text 47"/>
          <p:cNvSpPr/>
          <p:nvPr/>
        </p:nvSpPr>
        <p:spPr>
          <a:xfrm>
            <a:off x="621720" y="510228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DBE8"/>
                </a:solidFill>
                <a:effectLst/>
                <a:uFillTx/>
                <a:latin typeface="Aptos"/>
              </a:rPr>
              <a:t>Sai Ganesh Reddy  •  Jaswanth Reddy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DBE8"/>
                </a:solidFill>
                <a:effectLst/>
                <a:uFillTx/>
                <a:latin typeface="Aptos"/>
              </a:rPr>
              <a:t>Krishna Biradar  •  Pradeep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sldNum" idx="6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14C175-21E2-4B06-BB6D-12B2B318D1F8}" type="slidenum">
              <a: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384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5B4BFF"/>
                </a:solidFill>
                <a:effectLst/>
                <a:uFillTx/>
                <a:latin typeface="Aptos"/>
              </a:rPr>
              <a:t>SYSTEM WORKFLOW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7131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A clear path from content to assessment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67000" y="12618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Each stage transforms raw documents into a usable question bank.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1737360" y="2176200"/>
            <a:ext cx="310680" cy="273960"/>
          </a:xfrm>
          <a:prstGeom prst="chevron">
            <a:avLst>
              <a:gd name="adj" fmla="val 50000"/>
            </a:avLst>
          </a:prstGeom>
          <a:solidFill>
            <a:srgbClr val="C7CEDD"/>
          </a:solidFill>
          <a:ln w="12700">
            <a:solidFill>
              <a:srgbClr val="C7CED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594360" y="1874520"/>
            <a:ext cx="1234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1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704160" y="1984320"/>
            <a:ext cx="420120" cy="42012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3" name="Text 6"/>
          <p:cNvSpPr/>
          <p:nvPr/>
        </p:nvSpPr>
        <p:spPr>
          <a:xfrm>
            <a:off x="704160" y="205740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4" name="Text 7"/>
          <p:cNvSpPr/>
          <p:nvPr/>
        </p:nvSpPr>
        <p:spPr>
          <a:xfrm>
            <a:off x="704160" y="250560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Educational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Documents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3200400" y="2176200"/>
            <a:ext cx="310680" cy="273960"/>
          </a:xfrm>
          <a:prstGeom prst="chevron">
            <a:avLst>
              <a:gd name="adj" fmla="val 50000"/>
            </a:avLst>
          </a:prstGeom>
          <a:solidFill>
            <a:srgbClr val="C7CEDD"/>
          </a:solidFill>
          <a:ln w="12700">
            <a:solidFill>
              <a:srgbClr val="C7CED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2057400" y="1874520"/>
            <a:ext cx="1234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1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2167200" y="1984320"/>
            <a:ext cx="420120" cy="42012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2167200" y="205740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2167200" y="250560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Document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Loading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4663440" y="2176200"/>
            <a:ext cx="310680" cy="273960"/>
          </a:xfrm>
          <a:prstGeom prst="chevron">
            <a:avLst>
              <a:gd name="adj" fmla="val 50000"/>
            </a:avLst>
          </a:prstGeom>
          <a:solidFill>
            <a:srgbClr val="C7CEDD"/>
          </a:solidFill>
          <a:ln w="12700">
            <a:solidFill>
              <a:srgbClr val="C7CED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3520440" y="1874520"/>
            <a:ext cx="1234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1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3630240" y="1984320"/>
            <a:ext cx="420120" cy="42012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3630240" y="205740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3630240" y="250560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Text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Processing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5" name="Shape 18"/>
          <p:cNvSpPr/>
          <p:nvPr/>
        </p:nvSpPr>
        <p:spPr>
          <a:xfrm rot="5400000">
            <a:off x="5587200" y="3173040"/>
            <a:ext cx="310680" cy="273960"/>
          </a:xfrm>
          <a:prstGeom prst="chevron">
            <a:avLst>
              <a:gd name="adj" fmla="val 50000"/>
            </a:avLst>
          </a:prstGeom>
          <a:solidFill>
            <a:srgbClr val="C7CEDD"/>
          </a:solidFill>
          <a:ln w="12700">
            <a:solidFill>
              <a:srgbClr val="C7CED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6" name="Shape 19"/>
          <p:cNvSpPr/>
          <p:nvPr/>
        </p:nvSpPr>
        <p:spPr>
          <a:xfrm>
            <a:off x="4983480" y="1874520"/>
            <a:ext cx="1234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1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7" name="Shape 20"/>
          <p:cNvSpPr/>
          <p:nvPr/>
        </p:nvSpPr>
        <p:spPr>
          <a:xfrm>
            <a:off x="5093280" y="1984320"/>
            <a:ext cx="420120" cy="420120"/>
          </a:xfrm>
          <a:prstGeom prst="ellipse">
            <a:avLst/>
          </a:prstGeom>
          <a:solidFill>
            <a:srgbClr val="FF5CA8"/>
          </a:solidFill>
          <a:ln w="12700">
            <a:solidFill>
              <a:srgbClr val="FF5CA8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5093280" y="205740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9" name="Text 22"/>
          <p:cNvSpPr/>
          <p:nvPr/>
        </p:nvSpPr>
        <p:spPr>
          <a:xfrm>
            <a:off x="5093280" y="250560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Topic &amp; Keyword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Identification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0" name="Shape 23"/>
          <p:cNvSpPr/>
          <p:nvPr/>
        </p:nvSpPr>
        <p:spPr>
          <a:xfrm>
            <a:off x="6126480" y="4096440"/>
            <a:ext cx="310680" cy="273960"/>
          </a:xfrm>
          <a:prstGeom prst="chevron">
            <a:avLst>
              <a:gd name="adj" fmla="val 50000"/>
            </a:avLst>
          </a:prstGeom>
          <a:solidFill>
            <a:srgbClr val="C7CEDD"/>
          </a:solidFill>
          <a:ln w="12700">
            <a:solidFill>
              <a:srgbClr val="C7CED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1" name="Shape 24"/>
          <p:cNvSpPr/>
          <p:nvPr/>
        </p:nvSpPr>
        <p:spPr>
          <a:xfrm>
            <a:off x="4983480" y="3794760"/>
            <a:ext cx="1234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1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2" name="Shape 25"/>
          <p:cNvSpPr/>
          <p:nvPr/>
        </p:nvSpPr>
        <p:spPr>
          <a:xfrm>
            <a:off x="5093280" y="3904560"/>
            <a:ext cx="420120" cy="4201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5093280" y="397764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4" name="Text 27"/>
          <p:cNvSpPr/>
          <p:nvPr/>
        </p:nvSpPr>
        <p:spPr>
          <a:xfrm>
            <a:off x="5093280" y="442584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Question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Generation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5" name="Shape 28"/>
          <p:cNvSpPr/>
          <p:nvPr/>
        </p:nvSpPr>
        <p:spPr>
          <a:xfrm>
            <a:off x="7589520" y="4096440"/>
            <a:ext cx="310680" cy="273960"/>
          </a:xfrm>
          <a:prstGeom prst="chevron">
            <a:avLst>
              <a:gd name="adj" fmla="val 50000"/>
            </a:avLst>
          </a:prstGeom>
          <a:solidFill>
            <a:srgbClr val="C7CEDD"/>
          </a:solidFill>
          <a:ln w="12700">
            <a:solidFill>
              <a:srgbClr val="C7CED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6" name="Shape 29"/>
          <p:cNvSpPr/>
          <p:nvPr/>
        </p:nvSpPr>
        <p:spPr>
          <a:xfrm>
            <a:off x="6446520" y="3794760"/>
            <a:ext cx="1234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1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7" name="Shape 30"/>
          <p:cNvSpPr/>
          <p:nvPr/>
        </p:nvSpPr>
        <p:spPr>
          <a:xfrm>
            <a:off x="6556320" y="3904560"/>
            <a:ext cx="420120" cy="4201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8" name="Text 31"/>
          <p:cNvSpPr/>
          <p:nvPr/>
        </p:nvSpPr>
        <p:spPr>
          <a:xfrm>
            <a:off x="6556320" y="397764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9" name="Text 32"/>
          <p:cNvSpPr/>
          <p:nvPr/>
        </p:nvSpPr>
        <p:spPr>
          <a:xfrm>
            <a:off x="6556320" y="442584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Difficulty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Classification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0" name="Shape 33"/>
          <p:cNvSpPr/>
          <p:nvPr/>
        </p:nvSpPr>
        <p:spPr>
          <a:xfrm>
            <a:off x="9052560" y="4096440"/>
            <a:ext cx="310680" cy="273960"/>
          </a:xfrm>
          <a:prstGeom prst="chevron">
            <a:avLst>
              <a:gd name="adj" fmla="val 50000"/>
            </a:avLst>
          </a:prstGeom>
          <a:solidFill>
            <a:srgbClr val="C7CEDD"/>
          </a:solidFill>
          <a:ln w="12700">
            <a:solidFill>
              <a:srgbClr val="C7CED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1" name="Shape 34"/>
          <p:cNvSpPr/>
          <p:nvPr/>
        </p:nvSpPr>
        <p:spPr>
          <a:xfrm>
            <a:off x="7909560" y="3794760"/>
            <a:ext cx="1234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1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2" name="Shape 35"/>
          <p:cNvSpPr/>
          <p:nvPr/>
        </p:nvSpPr>
        <p:spPr>
          <a:xfrm>
            <a:off x="8019360" y="3904560"/>
            <a:ext cx="420120" cy="420120"/>
          </a:xfrm>
          <a:prstGeom prst="ellipse">
            <a:avLst/>
          </a:prstGeom>
          <a:solidFill>
            <a:srgbClr val="27D3C2"/>
          </a:solidFill>
          <a:ln w="12700">
            <a:solidFill>
              <a:srgbClr val="27D3C2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3" name="Text 36"/>
          <p:cNvSpPr/>
          <p:nvPr/>
        </p:nvSpPr>
        <p:spPr>
          <a:xfrm>
            <a:off x="8019360" y="397764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4" name="Text 37"/>
          <p:cNvSpPr/>
          <p:nvPr/>
        </p:nvSpPr>
        <p:spPr>
          <a:xfrm>
            <a:off x="8019360" y="442584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Question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Bank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5" name="Shape 38"/>
          <p:cNvSpPr/>
          <p:nvPr/>
        </p:nvSpPr>
        <p:spPr>
          <a:xfrm>
            <a:off x="9372600" y="2834640"/>
            <a:ext cx="1234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1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6" name="Shape 39"/>
          <p:cNvSpPr/>
          <p:nvPr/>
        </p:nvSpPr>
        <p:spPr>
          <a:xfrm>
            <a:off x="9482400" y="2944440"/>
            <a:ext cx="420120" cy="42012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7" name="Text 40"/>
          <p:cNvSpPr/>
          <p:nvPr/>
        </p:nvSpPr>
        <p:spPr>
          <a:xfrm>
            <a:off x="9482400" y="301752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8" name="Text 41"/>
          <p:cNvSpPr/>
          <p:nvPr/>
        </p:nvSpPr>
        <p:spPr>
          <a:xfrm>
            <a:off x="9482400" y="346572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Search • Filter 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Question Paper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9" name="Shape 42"/>
          <p:cNvSpPr/>
          <p:nvPr/>
        </p:nvSpPr>
        <p:spPr>
          <a:xfrm>
            <a:off x="6217920" y="2450520"/>
            <a:ext cx="4297680" cy="360"/>
          </a:xfrm>
          <a:prstGeom prst="line">
            <a:avLst/>
          </a:prstGeom>
          <a:ln w="25400">
            <a:solidFill>
              <a:srgbClr val="5B4BFF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0" name="Text 43"/>
          <p:cNvSpPr/>
          <p:nvPr/>
        </p:nvSpPr>
        <p:spPr>
          <a:xfrm>
            <a:off x="6949440" y="217620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9">
                <a:solidFill>
                  <a:srgbClr val="5B4BFF"/>
                </a:solidFill>
                <a:effectLst/>
                <a:uFillTx/>
                <a:latin typeface="Aptos"/>
              </a:rPr>
              <a:t>OUTPUT LOOP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1" name="Shape 44"/>
          <p:cNvSpPr/>
          <p:nvPr/>
        </p:nvSpPr>
        <p:spPr>
          <a:xfrm>
            <a:off x="685800" y="5532120"/>
            <a:ext cx="1142640" cy="310680"/>
          </a:xfrm>
          <a:prstGeom prst="roundRect">
            <a:avLst>
              <a:gd name="adj" fmla="val 23529"/>
            </a:avLst>
          </a:prstGeom>
          <a:solidFill>
            <a:srgbClr val="5B4BFF"/>
          </a:solidFill>
          <a:ln w="12700">
            <a:solidFill>
              <a:srgbClr val="5B4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2" name="Text 45"/>
          <p:cNvSpPr/>
          <p:nvPr/>
        </p:nvSpPr>
        <p:spPr>
          <a:xfrm>
            <a:off x="758880" y="5600880"/>
            <a:ext cx="9964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STRUCTURED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3" name="Shape 46"/>
          <p:cNvSpPr/>
          <p:nvPr/>
        </p:nvSpPr>
        <p:spPr>
          <a:xfrm>
            <a:off x="1993320" y="5532120"/>
            <a:ext cx="1142640" cy="310680"/>
          </a:xfrm>
          <a:prstGeom prst="roundRect">
            <a:avLst>
              <a:gd name="adj" fmla="val 23529"/>
            </a:avLst>
          </a:prstGeom>
          <a:solidFill>
            <a:srgbClr val="2F7BFF"/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4" name="Text 47"/>
          <p:cNvSpPr/>
          <p:nvPr/>
        </p:nvSpPr>
        <p:spPr>
          <a:xfrm>
            <a:off x="2066400" y="5600880"/>
            <a:ext cx="9964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REUSABLE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5" name="Shape 48"/>
          <p:cNvSpPr/>
          <p:nvPr/>
        </p:nvSpPr>
        <p:spPr>
          <a:xfrm>
            <a:off x="3300840" y="5532120"/>
            <a:ext cx="1234080" cy="310680"/>
          </a:xfrm>
          <a:prstGeom prst="roundRect">
            <a:avLst>
              <a:gd name="adj" fmla="val 23529"/>
            </a:avLst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6" name="Text 49"/>
          <p:cNvSpPr/>
          <p:nvPr/>
        </p:nvSpPr>
        <p:spPr>
          <a:xfrm>
            <a:off x="3374280" y="5600880"/>
            <a:ext cx="1087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SEARCHABLE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7" name="Text 50"/>
          <p:cNvSpPr/>
          <p:nvPr/>
        </p:nvSpPr>
        <p:spPr>
          <a:xfrm>
            <a:off x="4983480" y="5504760"/>
            <a:ext cx="6126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The result feeds directly into retrieval and automatic paper creation.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sldNum" idx="7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942F276-0291-40A5-B0BE-9300E0BF6477}" type="slidenum">
              <a: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548640" y="384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27D3C2"/>
                </a:solidFill>
                <a:effectLst/>
                <a:uFillTx/>
                <a:latin typeface="Aptos"/>
              </a:rPr>
              <a:t>REVIEW 2 → REVIEW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548640" y="7131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From proposed concept to working prototype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567000" y="12618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B3C8"/>
                </a:solidFill>
                <a:effectLst/>
                <a:uFillTx/>
                <a:latin typeface="Aptos"/>
              </a:rPr>
              <a:t>A measurable shift from planning to implementation.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594360" y="1828800"/>
            <a:ext cx="4937400" cy="3611520"/>
          </a:xfrm>
          <a:prstGeom prst="roundRect">
            <a:avLst>
              <a:gd name="adj" fmla="val 2025"/>
            </a:avLst>
          </a:prstGeom>
          <a:solidFill>
            <a:srgbClr val="182038"/>
          </a:solidFill>
          <a:ln w="10160">
            <a:solidFill>
              <a:srgbClr val="2A3552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6629400" y="1828800"/>
            <a:ext cx="4937400" cy="3611520"/>
          </a:xfrm>
          <a:prstGeom prst="roundRect">
            <a:avLst>
              <a:gd name="adj" fmla="val 2025"/>
            </a:avLst>
          </a:prstGeom>
          <a:solidFill>
            <a:srgbClr val="182038"/>
          </a:solidFill>
          <a:ln w="10160">
            <a:solidFill>
              <a:srgbClr val="2A3552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868680" y="2084760"/>
            <a:ext cx="2057040" cy="310680"/>
          </a:xfrm>
          <a:prstGeom prst="roundRect">
            <a:avLst>
              <a:gd name="adj" fmla="val 23529"/>
            </a:avLst>
          </a:prstGeom>
          <a:solidFill>
            <a:srgbClr val="39425B"/>
          </a:solidFill>
          <a:ln w="12700">
            <a:solidFill>
              <a:srgbClr val="39425B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941760" y="2153520"/>
            <a:ext cx="1910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DDE3F1"/>
                </a:solidFill>
                <a:effectLst/>
                <a:uFillTx/>
                <a:latin typeface="Aptos"/>
              </a:rPr>
              <a:t>REVIEW 2  •  PROPOSED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896040" y="2761560"/>
            <a:ext cx="4160160" cy="214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360" tIns="360" rIns="360" bIns="360" anchor="ctr">
            <a:normAutofit/>
          </a:bodyPr>
          <a:p>
            <a:pPr marL="190500" indent="-190500" defTabSz="914400">
              <a:lnSpc>
                <a:spcPct val="100000"/>
              </a:lnSpc>
              <a:buClr>
                <a:srgbClr val="C6CEDD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C6CEDD"/>
                </a:solidFill>
                <a:effectLst/>
                <a:uFillTx/>
                <a:latin typeface="Aptos"/>
              </a:rPr>
              <a:t>Literature review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90500" indent="-190500" defTabSz="914400">
              <a:lnSpc>
                <a:spcPct val="100000"/>
              </a:lnSpc>
              <a:buClr>
                <a:srgbClr val="C6CEDD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C6CEDD"/>
                </a:solidFill>
                <a:effectLst/>
                <a:uFillTx/>
                <a:latin typeface="Aptos"/>
              </a:rPr>
              <a:t>Research gaps identified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90500" indent="-190500" defTabSz="914400">
              <a:lnSpc>
                <a:spcPct val="100000"/>
              </a:lnSpc>
              <a:buClr>
                <a:srgbClr val="C6CEDD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C6CEDD"/>
                </a:solidFill>
                <a:effectLst/>
                <a:uFillTx/>
                <a:latin typeface="Aptos"/>
              </a:rPr>
              <a:t>Automated system proposed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90500" indent="-190500" defTabSz="914400">
              <a:lnSpc>
                <a:spcPct val="100000"/>
              </a:lnSpc>
              <a:buClr>
                <a:srgbClr val="C6CEDD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C6CEDD"/>
                </a:solidFill>
                <a:effectLst/>
                <a:uFillTx/>
                <a:latin typeface="Aptos"/>
              </a:rPr>
              <a:t>Generation, organization and retrieval defined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6903720" y="2084760"/>
            <a:ext cx="2422800" cy="310680"/>
          </a:xfrm>
          <a:prstGeom prst="roundRect">
            <a:avLst>
              <a:gd name="adj" fmla="val 23529"/>
            </a:avLst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6976800" y="2153520"/>
            <a:ext cx="2276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101527"/>
                </a:solidFill>
                <a:effectLst/>
                <a:uFillTx/>
                <a:latin typeface="Aptos"/>
              </a:rPr>
              <a:t>REVIEW 3  •  IMPLEMENTED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6931080" y="2679120"/>
            <a:ext cx="422424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360" tIns="360" rIns="360" bIns="360" anchor="ctr">
            <a:normAutofit/>
          </a:bodyPr>
          <a:p>
            <a:pPr marL="184150" indent="-18415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Java console prototype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84150" indent="-18415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15 documents • 911 words indexed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84150" indent="-18415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 major topics identified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84150" indent="-18415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Generation, search, filtering and paper creation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84150" indent="-18415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Algorithm Lab implemented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5715000" y="3154680"/>
            <a:ext cx="685440" cy="914040"/>
          </a:xfrm>
          <a:prstGeom prst="chevron">
            <a:avLst>
              <a:gd name="adj" fmla="val 50000"/>
            </a:avLst>
          </a:prstGeom>
          <a:solidFill>
            <a:srgbClr val="FF8A3D"/>
          </a:solidFill>
          <a:ln w="12700">
            <a:solidFill>
              <a:srgbClr val="FF8A3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5440680" y="4919400"/>
            <a:ext cx="13255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8A3D"/>
                </a:solidFill>
                <a:effectLst/>
                <a:uFillTx/>
                <a:latin typeface="Aptos"/>
              </a:rPr>
              <a:t>WORKING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8A3D"/>
                </a:solidFill>
                <a:effectLst/>
                <a:uFillTx/>
                <a:latin typeface="Aptos"/>
              </a:rPr>
              <a:t>PROTOTYPE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sldNum" idx="8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8321A5F-D20F-4B90-B9C5-8153884547FE}" type="slidenum">
              <a: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548640" y="384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5B4BFF"/>
                </a:solidFill>
                <a:effectLst/>
                <a:uFillTx/>
                <a:latin typeface="Aptos"/>
              </a:rPr>
              <a:t>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548640" y="7131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Eight connected components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567000" y="12618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 modular design keeps loading, generation, retrieval and analysis distinct.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594360" y="1755720"/>
            <a:ext cx="233136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749880" y="1920240"/>
            <a:ext cx="420120" cy="42012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749880" y="199332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280160" y="2011680"/>
            <a:ext cx="1416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Document Manager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3136320" y="1755720"/>
            <a:ext cx="233136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3291840" y="1920240"/>
            <a:ext cx="420120" cy="42012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3291840" y="199332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3822120" y="2011680"/>
            <a:ext cx="1416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Question Generator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594360" y="2715840"/>
            <a:ext cx="233136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749880" y="2880360"/>
            <a:ext cx="420120" cy="42012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749880" y="295344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1280160" y="2971800"/>
            <a:ext cx="1416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Question Bank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3136320" y="2715840"/>
            <a:ext cx="233136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3291840" y="2880360"/>
            <a:ext cx="420120" cy="420120"/>
          </a:xfrm>
          <a:prstGeom prst="ellipse">
            <a:avLst/>
          </a:prstGeom>
          <a:solidFill>
            <a:srgbClr val="FF5CA8"/>
          </a:solidFill>
          <a:ln w="12700">
            <a:solidFill>
              <a:srgbClr val="FF5CA8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3291840" y="295344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3822120" y="2971800"/>
            <a:ext cx="1416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Search Questions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2" name="Shape 19"/>
          <p:cNvSpPr/>
          <p:nvPr/>
        </p:nvSpPr>
        <p:spPr>
          <a:xfrm>
            <a:off x="594360" y="3675960"/>
            <a:ext cx="233136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749880" y="3840480"/>
            <a:ext cx="420120" cy="4201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749880" y="391356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5" name="Text 22"/>
          <p:cNvSpPr/>
          <p:nvPr/>
        </p:nvSpPr>
        <p:spPr>
          <a:xfrm>
            <a:off x="1280160" y="3931920"/>
            <a:ext cx="1416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Filter Questions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6" name="Shape 23"/>
          <p:cNvSpPr/>
          <p:nvPr/>
        </p:nvSpPr>
        <p:spPr>
          <a:xfrm>
            <a:off x="3136320" y="3675960"/>
            <a:ext cx="233136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7" name="Shape 24"/>
          <p:cNvSpPr/>
          <p:nvPr/>
        </p:nvSpPr>
        <p:spPr>
          <a:xfrm>
            <a:off x="3291840" y="3840480"/>
            <a:ext cx="420120" cy="4201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3291840" y="391356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9" name="Text 26"/>
          <p:cNvSpPr/>
          <p:nvPr/>
        </p:nvSpPr>
        <p:spPr>
          <a:xfrm>
            <a:off x="3822120" y="3931920"/>
            <a:ext cx="1416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Question Paper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0" name="Shape 27"/>
          <p:cNvSpPr/>
          <p:nvPr/>
        </p:nvSpPr>
        <p:spPr>
          <a:xfrm>
            <a:off x="594360" y="4636080"/>
            <a:ext cx="233136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1" name="Shape 28"/>
          <p:cNvSpPr/>
          <p:nvPr/>
        </p:nvSpPr>
        <p:spPr>
          <a:xfrm>
            <a:off x="749880" y="4800600"/>
            <a:ext cx="420120" cy="420120"/>
          </a:xfrm>
          <a:prstGeom prst="ellipse">
            <a:avLst/>
          </a:prstGeom>
          <a:solidFill>
            <a:srgbClr val="27D3C2"/>
          </a:solidFill>
          <a:ln w="12700">
            <a:solidFill>
              <a:srgbClr val="27D3C2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2" name="Text 29"/>
          <p:cNvSpPr/>
          <p:nvPr/>
        </p:nvSpPr>
        <p:spPr>
          <a:xfrm>
            <a:off x="749880" y="487368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3" name="Text 30"/>
          <p:cNvSpPr/>
          <p:nvPr/>
        </p:nvSpPr>
        <p:spPr>
          <a:xfrm>
            <a:off x="1280160" y="4892040"/>
            <a:ext cx="1416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Document Analysis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4" name="Shape 31"/>
          <p:cNvSpPr/>
          <p:nvPr/>
        </p:nvSpPr>
        <p:spPr>
          <a:xfrm>
            <a:off x="3136320" y="4636080"/>
            <a:ext cx="233136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5" name="Shape 32"/>
          <p:cNvSpPr/>
          <p:nvPr/>
        </p:nvSpPr>
        <p:spPr>
          <a:xfrm>
            <a:off x="3291840" y="4800600"/>
            <a:ext cx="420120" cy="42012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6" name="Text 33"/>
          <p:cNvSpPr/>
          <p:nvPr/>
        </p:nvSpPr>
        <p:spPr>
          <a:xfrm>
            <a:off x="3291840" y="487368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7" name="Text 34"/>
          <p:cNvSpPr/>
          <p:nvPr/>
        </p:nvSpPr>
        <p:spPr>
          <a:xfrm>
            <a:off x="3822120" y="4892040"/>
            <a:ext cx="1416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Algorithm Lab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8" name="Shape 35"/>
          <p:cNvSpPr/>
          <p:nvPr/>
        </p:nvSpPr>
        <p:spPr>
          <a:xfrm>
            <a:off x="5897880" y="1764720"/>
            <a:ext cx="5623200" cy="4187520"/>
          </a:xfrm>
          <a:prstGeom prst="roundRect">
            <a:avLst>
              <a:gd name="adj" fmla="val 1310"/>
            </a:avLst>
          </a:prstGeom>
          <a:solidFill>
            <a:srgbClr val="182033"/>
          </a:solidFill>
          <a:ln w="12700">
            <a:solidFill>
              <a:srgbClr val="182033"/>
            </a:solidFill>
            <a:round/>
          </a:ln>
          <a:effectLst>
            <a:outerShdw blurRad="63360" dist="50402" dir="2700000" algn="bl" rotWithShape="0">
              <a:srgbClr val="101527">
                <a:alpha val="1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9" name="Shape 36"/>
          <p:cNvSpPr/>
          <p:nvPr/>
        </p:nvSpPr>
        <p:spPr>
          <a:xfrm>
            <a:off x="5897880" y="1764720"/>
            <a:ext cx="5623200" cy="310680"/>
          </a:xfrm>
          <a:prstGeom prst="rect">
            <a:avLst/>
          </a:prstGeom>
          <a:solidFill>
            <a:srgbClr val="232C42"/>
          </a:solidFill>
          <a:ln w="12700">
            <a:solidFill>
              <a:srgbClr val="232C4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0" name="Shape 37"/>
          <p:cNvSpPr/>
          <p:nvPr/>
        </p:nvSpPr>
        <p:spPr>
          <a:xfrm>
            <a:off x="6016680" y="1865520"/>
            <a:ext cx="72720" cy="72720"/>
          </a:xfrm>
          <a:prstGeom prst="ellipse">
            <a:avLst/>
          </a:prstGeom>
          <a:solidFill>
            <a:srgbClr val="FF5A66"/>
          </a:solidFill>
          <a:ln w="12700">
            <a:solidFill>
              <a:srgbClr val="FF5A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1" name="Shape 38"/>
          <p:cNvSpPr/>
          <p:nvPr/>
        </p:nvSpPr>
        <p:spPr>
          <a:xfrm>
            <a:off x="6181200" y="1865520"/>
            <a:ext cx="72720" cy="72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2" name="Shape 39"/>
          <p:cNvSpPr/>
          <p:nvPr/>
        </p:nvSpPr>
        <p:spPr>
          <a:xfrm>
            <a:off x="6346080" y="1865520"/>
            <a:ext cx="72720" cy="727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3" name="Text 40"/>
          <p:cNvSpPr/>
          <p:nvPr/>
        </p:nvSpPr>
        <p:spPr>
          <a:xfrm>
            <a:off x="6537960" y="1847160"/>
            <a:ext cx="43887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0D5"/>
                </a:solidFill>
                <a:effectLst/>
                <a:uFillTx/>
                <a:latin typeface="Aptos"/>
              </a:rPr>
              <a:t>TEXTQUEST • DOCUMENT MANAGER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74" name="Image 0" descr="TEXTQUEST • DOCUMENT MANAGER"/>
          <p:cNvPicPr/>
          <p:nvPr/>
        </p:nvPicPr>
        <p:blipFill>
          <a:blip r:embed="rId1"/>
          <a:stretch>
            <a:fillRect/>
          </a:stretch>
        </p:blipFill>
        <p:spPr>
          <a:xfrm>
            <a:off x="5925240" y="2075760"/>
            <a:ext cx="5568480" cy="38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41"/>
          <p:cNvSpPr/>
          <p:nvPr/>
        </p:nvSpPr>
        <p:spPr>
          <a:xfrm>
            <a:off x="6080760" y="6080760"/>
            <a:ext cx="5211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4BFF"/>
                </a:solidFill>
                <a:effectLst/>
                <a:uFillTx/>
                <a:latin typeface="Aptos"/>
              </a:rPr>
              <a:t>15 documents  •  911 words  •  6 topics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sldNum" idx="9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39CB013-578F-423C-8FD8-1F8EFD7859D9}" type="slidenum">
              <a: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548640" y="384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5B4BFF"/>
                </a:solidFill>
                <a:effectLst/>
                <a:uFillTx/>
                <a:latin typeface="Aptos"/>
              </a:rPr>
              <a:t>UNDER THE HOOD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548640" y="7131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DSA algorithms powering the system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567000" y="12618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Core algorithm modules support search, analysis and experimentation.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594360" y="1737360"/>
            <a:ext cx="3154320" cy="4343040"/>
          </a:xfrm>
          <a:prstGeom prst="roundRect">
            <a:avLst>
              <a:gd name="adj" fmla="val 2319"/>
            </a:avLst>
          </a:prstGeom>
          <a:solidFill>
            <a:srgbClr val="EEEBFF"/>
          </a:solidFill>
          <a:ln w="10160">
            <a:solidFill>
              <a:srgbClr val="EEEBF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822960" y="1993320"/>
            <a:ext cx="2011320" cy="310680"/>
          </a:xfrm>
          <a:prstGeom prst="roundRect">
            <a:avLst>
              <a:gd name="adj" fmla="val 23529"/>
            </a:avLst>
          </a:prstGeom>
          <a:solidFill>
            <a:srgbClr val="5B4BFF"/>
          </a:solidFill>
          <a:ln w="12700">
            <a:solidFill>
              <a:srgbClr val="5B4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896040" y="2062080"/>
            <a:ext cx="1865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STRING / TEXT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850320" y="2697480"/>
            <a:ext cx="310680" cy="31068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850320" y="2779920"/>
            <a:ext cx="310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1307520" y="265176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KMP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1307520" y="296280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Pattern searching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850320" y="3429000"/>
            <a:ext cx="310680" cy="31068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850320" y="3511440"/>
            <a:ext cx="310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1307520" y="338328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Z Algorithm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1307520" y="36943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Pattern analysis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850320" y="4160520"/>
            <a:ext cx="310680" cy="31068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850320" y="4242960"/>
            <a:ext cx="310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1307520" y="411480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Rabin–Karp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1307520" y="442584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String matching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850320" y="4892040"/>
            <a:ext cx="310680" cy="31068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850320" y="4974480"/>
            <a:ext cx="310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1307520" y="484632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Suffix Array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1307520" y="51573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Text indexing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4251960" y="1737360"/>
            <a:ext cx="3154320" cy="4343040"/>
          </a:xfrm>
          <a:prstGeom prst="roundRect">
            <a:avLst>
              <a:gd name="adj" fmla="val 2319"/>
            </a:avLst>
          </a:prstGeom>
          <a:solidFill>
            <a:srgbClr val="E5F0FF"/>
          </a:solidFill>
          <a:ln w="10160">
            <a:solidFill>
              <a:srgbClr val="E5F0F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4480560" y="1993320"/>
            <a:ext cx="2011320" cy="310680"/>
          </a:xfrm>
          <a:prstGeom prst="roundRect">
            <a:avLst>
              <a:gd name="adj" fmla="val 23529"/>
            </a:avLst>
          </a:prstGeom>
          <a:solidFill>
            <a:srgbClr val="2F7BFF"/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1" name="Text 24"/>
          <p:cNvSpPr/>
          <p:nvPr/>
        </p:nvSpPr>
        <p:spPr>
          <a:xfrm>
            <a:off x="4553640" y="2062080"/>
            <a:ext cx="1865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DYNAMIC PROGRAMMING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2" name="Shape 25"/>
          <p:cNvSpPr/>
          <p:nvPr/>
        </p:nvSpPr>
        <p:spPr>
          <a:xfrm>
            <a:off x="4507920" y="2697480"/>
            <a:ext cx="310680" cy="31068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2F7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3" name="Text 26"/>
          <p:cNvSpPr/>
          <p:nvPr/>
        </p:nvSpPr>
        <p:spPr>
          <a:xfrm>
            <a:off x="4507920" y="2779920"/>
            <a:ext cx="310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4" name="Text 27"/>
          <p:cNvSpPr/>
          <p:nvPr/>
        </p:nvSpPr>
        <p:spPr>
          <a:xfrm>
            <a:off x="4965120" y="265176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Edit Distance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4965120" y="296280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Similarity &amp; fuzzy matching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6" name="Shape 29"/>
          <p:cNvSpPr/>
          <p:nvPr/>
        </p:nvSpPr>
        <p:spPr>
          <a:xfrm>
            <a:off x="4507920" y="3429000"/>
            <a:ext cx="310680" cy="31068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2F7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7" name="Text 30"/>
          <p:cNvSpPr/>
          <p:nvPr/>
        </p:nvSpPr>
        <p:spPr>
          <a:xfrm>
            <a:off x="4507920" y="3511440"/>
            <a:ext cx="310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8" name="Text 31"/>
          <p:cNvSpPr/>
          <p:nvPr/>
        </p:nvSpPr>
        <p:spPr>
          <a:xfrm>
            <a:off x="4965120" y="338328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Sequence Alignment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9" name="Text 32"/>
          <p:cNvSpPr/>
          <p:nvPr/>
        </p:nvSpPr>
        <p:spPr>
          <a:xfrm>
            <a:off x="4965120" y="36943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Structured comparison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sldNum" idx="10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F386267-B567-4521-92F6-A6F72092B320}" type="slidenum">
              <a: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548640" y="384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27D3C2"/>
                </a:solidFill>
                <a:effectLst/>
                <a:uFillTx/>
                <a:latin typeface="Aptos"/>
              </a:rPr>
              <a:t>GENERATION ENGINE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548640" y="7131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 generation &amp; difficulty classification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567000" y="12618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B3C8"/>
                </a:solidFill>
                <a:effectLst/>
                <a:uFillTx/>
                <a:latin typeface="Aptos"/>
              </a:rPr>
              <a:t>A controlled six-step pipeline with duplicate protection.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2112120" y="2212920"/>
            <a:ext cx="273960" cy="292320"/>
          </a:xfrm>
          <a:prstGeom prst="chevron">
            <a:avLst>
              <a:gd name="adj" fmla="val 50000"/>
            </a:avLst>
          </a:prstGeom>
          <a:solidFill>
            <a:srgbClr val="4C5877"/>
          </a:solidFill>
          <a:ln w="12700">
            <a:solidFill>
              <a:srgbClr val="4C5877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594360" y="18561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19213A"/>
          </a:solidFill>
          <a:ln w="10160">
            <a:solidFill>
              <a:srgbClr val="2D385A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704160" y="2002680"/>
            <a:ext cx="420120" cy="42012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704160" y="207576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749880" y="2514600"/>
            <a:ext cx="124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Select topic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4" name="Shape 8"/>
          <p:cNvSpPr/>
          <p:nvPr/>
        </p:nvSpPr>
        <p:spPr>
          <a:xfrm>
            <a:off x="3968640" y="2212920"/>
            <a:ext cx="273960" cy="292320"/>
          </a:xfrm>
          <a:prstGeom prst="chevron">
            <a:avLst>
              <a:gd name="adj" fmla="val 50000"/>
            </a:avLst>
          </a:prstGeom>
          <a:solidFill>
            <a:srgbClr val="4C5877"/>
          </a:solidFill>
          <a:ln w="12700">
            <a:solidFill>
              <a:srgbClr val="4C5877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2450520" y="18561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19213A"/>
          </a:solidFill>
          <a:ln w="10160">
            <a:solidFill>
              <a:srgbClr val="2D385A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6" name="Shape 10"/>
          <p:cNvSpPr/>
          <p:nvPr/>
        </p:nvSpPr>
        <p:spPr>
          <a:xfrm>
            <a:off x="2560320" y="2002680"/>
            <a:ext cx="420120" cy="42012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7" name="Text 11"/>
          <p:cNvSpPr/>
          <p:nvPr/>
        </p:nvSpPr>
        <p:spPr>
          <a:xfrm>
            <a:off x="2560320" y="207576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2606040" y="2514600"/>
            <a:ext cx="124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Set count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9" name="Shape 13"/>
          <p:cNvSpPr/>
          <p:nvPr/>
        </p:nvSpPr>
        <p:spPr>
          <a:xfrm>
            <a:off x="5824800" y="2212920"/>
            <a:ext cx="273960" cy="292320"/>
          </a:xfrm>
          <a:prstGeom prst="chevron">
            <a:avLst>
              <a:gd name="adj" fmla="val 50000"/>
            </a:avLst>
          </a:prstGeom>
          <a:solidFill>
            <a:srgbClr val="4C5877"/>
          </a:solidFill>
          <a:ln w="12700">
            <a:solidFill>
              <a:srgbClr val="4C5877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0" name="Shape 14"/>
          <p:cNvSpPr/>
          <p:nvPr/>
        </p:nvSpPr>
        <p:spPr>
          <a:xfrm>
            <a:off x="4306680" y="18561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19213A"/>
          </a:solidFill>
          <a:ln w="10160">
            <a:solidFill>
              <a:srgbClr val="2D385A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4416480" y="2002680"/>
            <a:ext cx="420120" cy="42012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4416480" y="207576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3" name="Text 17"/>
          <p:cNvSpPr/>
          <p:nvPr/>
        </p:nvSpPr>
        <p:spPr>
          <a:xfrm>
            <a:off x="4462200" y="2514600"/>
            <a:ext cx="124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Choose difficulty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4" name="Shape 18"/>
          <p:cNvSpPr/>
          <p:nvPr/>
        </p:nvSpPr>
        <p:spPr>
          <a:xfrm>
            <a:off x="7680960" y="2212920"/>
            <a:ext cx="273960" cy="292320"/>
          </a:xfrm>
          <a:prstGeom prst="chevron">
            <a:avLst>
              <a:gd name="adj" fmla="val 50000"/>
            </a:avLst>
          </a:prstGeom>
          <a:solidFill>
            <a:srgbClr val="4C5877"/>
          </a:solidFill>
          <a:ln w="12700">
            <a:solidFill>
              <a:srgbClr val="4C5877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5" name="Shape 19"/>
          <p:cNvSpPr/>
          <p:nvPr/>
        </p:nvSpPr>
        <p:spPr>
          <a:xfrm>
            <a:off x="6163200" y="18561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19213A"/>
          </a:solidFill>
          <a:ln w="10160">
            <a:solidFill>
              <a:srgbClr val="2D385A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6" name="Shape 20"/>
          <p:cNvSpPr/>
          <p:nvPr/>
        </p:nvSpPr>
        <p:spPr>
          <a:xfrm>
            <a:off x="6272640" y="2002680"/>
            <a:ext cx="420120" cy="420120"/>
          </a:xfrm>
          <a:prstGeom prst="ellipse">
            <a:avLst/>
          </a:prstGeom>
          <a:solidFill>
            <a:srgbClr val="FF5CA8"/>
          </a:solidFill>
          <a:ln w="12700">
            <a:solidFill>
              <a:srgbClr val="FF5CA8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7" name="Text 21"/>
          <p:cNvSpPr/>
          <p:nvPr/>
        </p:nvSpPr>
        <p:spPr>
          <a:xfrm>
            <a:off x="6272640" y="207576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6318360" y="2514600"/>
            <a:ext cx="124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9537120" y="2212920"/>
            <a:ext cx="273960" cy="292320"/>
          </a:xfrm>
          <a:prstGeom prst="chevron">
            <a:avLst>
              <a:gd name="adj" fmla="val 50000"/>
            </a:avLst>
          </a:prstGeom>
          <a:solidFill>
            <a:srgbClr val="4C5877"/>
          </a:solidFill>
          <a:ln w="12700">
            <a:solidFill>
              <a:srgbClr val="4C5877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0" name="Shape 24"/>
          <p:cNvSpPr/>
          <p:nvPr/>
        </p:nvSpPr>
        <p:spPr>
          <a:xfrm>
            <a:off x="8019360" y="18561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19213A"/>
          </a:solidFill>
          <a:ln w="10160">
            <a:solidFill>
              <a:srgbClr val="2D385A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1" name="Shape 25"/>
          <p:cNvSpPr/>
          <p:nvPr/>
        </p:nvSpPr>
        <p:spPr>
          <a:xfrm>
            <a:off x="8129160" y="2002680"/>
            <a:ext cx="420120" cy="420120"/>
          </a:xfrm>
          <a:prstGeom prst="ellipse">
            <a:avLst/>
          </a:prstGeom>
          <a:solidFill>
            <a:srgbClr val="FF5A66"/>
          </a:solidFill>
          <a:ln w="12700">
            <a:solidFill>
              <a:srgbClr val="FF5A66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2" name="Text 26"/>
          <p:cNvSpPr/>
          <p:nvPr/>
        </p:nvSpPr>
        <p:spPr>
          <a:xfrm>
            <a:off x="8129160" y="207576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3" name="Text 27"/>
          <p:cNvSpPr/>
          <p:nvPr/>
        </p:nvSpPr>
        <p:spPr>
          <a:xfrm>
            <a:off x="8174880" y="2514600"/>
            <a:ext cx="124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Reject duplicates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4" name="Shape 28"/>
          <p:cNvSpPr/>
          <p:nvPr/>
        </p:nvSpPr>
        <p:spPr>
          <a:xfrm>
            <a:off x="9875520" y="18561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19213A"/>
          </a:solidFill>
          <a:ln w="10160">
            <a:solidFill>
              <a:srgbClr val="2D385A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5" name="Shape 29"/>
          <p:cNvSpPr/>
          <p:nvPr/>
        </p:nvSpPr>
        <p:spPr>
          <a:xfrm>
            <a:off x="9985320" y="2002680"/>
            <a:ext cx="420120" cy="4201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6" name="Text 30"/>
          <p:cNvSpPr/>
          <p:nvPr/>
        </p:nvSpPr>
        <p:spPr>
          <a:xfrm>
            <a:off x="9985320" y="207576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7" name="Text 31"/>
          <p:cNvSpPr/>
          <p:nvPr/>
        </p:nvSpPr>
        <p:spPr>
          <a:xfrm>
            <a:off x="10031040" y="2514600"/>
            <a:ext cx="124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Save to bank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8" name="Shape 32"/>
          <p:cNvSpPr/>
          <p:nvPr/>
        </p:nvSpPr>
        <p:spPr>
          <a:xfrm>
            <a:off x="594360" y="3429000"/>
            <a:ext cx="3977280" cy="1965600"/>
          </a:xfrm>
          <a:prstGeom prst="roundRect">
            <a:avLst>
              <a:gd name="adj" fmla="val 3721"/>
            </a:avLst>
          </a:prstGeom>
          <a:solidFill>
            <a:srgbClr val="19213A"/>
          </a:solidFill>
          <a:ln w="10160">
            <a:solidFill>
              <a:srgbClr val="2D385A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9" name="Text 33"/>
          <p:cNvSpPr/>
          <p:nvPr/>
        </p:nvSpPr>
        <p:spPr>
          <a:xfrm>
            <a:off x="868680" y="370332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39">
                <a:solidFill>
                  <a:srgbClr val="27D3C2"/>
                </a:solidFill>
                <a:effectLst/>
                <a:uFillTx/>
                <a:latin typeface="Aptos"/>
              </a:rPr>
              <a:t>DIFFICULTY LEVELS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0" name="Shape 34"/>
          <p:cNvSpPr/>
          <p:nvPr/>
        </p:nvSpPr>
        <p:spPr>
          <a:xfrm>
            <a:off x="868680" y="4224600"/>
            <a:ext cx="1371240" cy="310680"/>
          </a:xfrm>
          <a:prstGeom prst="roundRect">
            <a:avLst>
              <a:gd name="adj" fmla="val 23529"/>
            </a:avLst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1" name="Text 35"/>
          <p:cNvSpPr/>
          <p:nvPr/>
        </p:nvSpPr>
        <p:spPr>
          <a:xfrm>
            <a:off x="941760" y="4293000"/>
            <a:ext cx="1225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EASY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2" name="Shape 36"/>
          <p:cNvSpPr/>
          <p:nvPr/>
        </p:nvSpPr>
        <p:spPr>
          <a:xfrm>
            <a:off x="2496240" y="4224600"/>
            <a:ext cx="1371240" cy="310680"/>
          </a:xfrm>
          <a:prstGeom prst="roundRect">
            <a:avLst>
              <a:gd name="adj" fmla="val 23529"/>
            </a:avLst>
          </a:prstGeom>
          <a:solidFill>
            <a:srgbClr val="2F7BFF"/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3" name="Text 37"/>
          <p:cNvSpPr/>
          <p:nvPr/>
        </p:nvSpPr>
        <p:spPr>
          <a:xfrm>
            <a:off x="2569320" y="4293000"/>
            <a:ext cx="1225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MEDIUM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4" name="Shape 38"/>
          <p:cNvSpPr/>
          <p:nvPr/>
        </p:nvSpPr>
        <p:spPr>
          <a:xfrm>
            <a:off x="868680" y="4791600"/>
            <a:ext cx="1371240" cy="310680"/>
          </a:xfrm>
          <a:prstGeom prst="roundRect">
            <a:avLst>
              <a:gd name="adj" fmla="val 23529"/>
            </a:avLst>
          </a:prstGeom>
          <a:solidFill>
            <a:srgbClr val="FF5A66"/>
          </a:solidFill>
          <a:ln w="12700">
            <a:solidFill>
              <a:srgbClr val="FF5A66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5" name="Text 39"/>
          <p:cNvSpPr/>
          <p:nvPr/>
        </p:nvSpPr>
        <p:spPr>
          <a:xfrm>
            <a:off x="941760" y="4860000"/>
            <a:ext cx="1225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HARD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6" name="Shape 40"/>
          <p:cNvSpPr/>
          <p:nvPr/>
        </p:nvSpPr>
        <p:spPr>
          <a:xfrm>
            <a:off x="2496240" y="4791600"/>
            <a:ext cx="1371240" cy="31068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7" name="Text 41"/>
          <p:cNvSpPr/>
          <p:nvPr/>
        </p:nvSpPr>
        <p:spPr>
          <a:xfrm>
            <a:off x="2569320" y="4860000"/>
            <a:ext cx="1225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FFFFFF"/>
                </a:solidFill>
                <a:effectLst/>
                <a:uFillTx/>
                <a:latin typeface="Aptos"/>
              </a:rPr>
              <a:t>MIXED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8" name="Shape 42"/>
          <p:cNvSpPr/>
          <p:nvPr/>
        </p:nvSpPr>
        <p:spPr>
          <a:xfrm>
            <a:off x="4983480" y="3429000"/>
            <a:ext cx="6583320" cy="1965600"/>
          </a:xfrm>
          <a:prstGeom prst="roundRect">
            <a:avLst>
              <a:gd name="adj" fmla="val 2791"/>
            </a:avLst>
          </a:prstGeom>
          <a:solidFill>
            <a:srgbClr val="182033"/>
          </a:solidFill>
          <a:ln w="12700">
            <a:solidFill>
              <a:srgbClr val="182033"/>
            </a:solidFill>
            <a:round/>
          </a:ln>
          <a:effectLst>
            <a:outerShdw blurRad="63360" dist="50402" dir="2700000" algn="bl" rotWithShape="0">
              <a:srgbClr val="101527">
                <a:alpha val="1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9" name="Shape 43"/>
          <p:cNvSpPr/>
          <p:nvPr/>
        </p:nvSpPr>
        <p:spPr>
          <a:xfrm>
            <a:off x="4983480" y="3429000"/>
            <a:ext cx="6583320" cy="310680"/>
          </a:xfrm>
          <a:prstGeom prst="rect">
            <a:avLst/>
          </a:prstGeom>
          <a:solidFill>
            <a:srgbClr val="232C42"/>
          </a:solidFill>
          <a:ln w="12700">
            <a:solidFill>
              <a:srgbClr val="232C4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0" name="Shape 44"/>
          <p:cNvSpPr/>
          <p:nvPr/>
        </p:nvSpPr>
        <p:spPr>
          <a:xfrm>
            <a:off x="5102280" y="3529440"/>
            <a:ext cx="72720" cy="72720"/>
          </a:xfrm>
          <a:prstGeom prst="ellipse">
            <a:avLst/>
          </a:prstGeom>
          <a:solidFill>
            <a:srgbClr val="FF5A66"/>
          </a:solidFill>
          <a:ln w="12700">
            <a:solidFill>
              <a:srgbClr val="FF5A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1" name="Shape 45"/>
          <p:cNvSpPr/>
          <p:nvPr/>
        </p:nvSpPr>
        <p:spPr>
          <a:xfrm>
            <a:off x="5266800" y="3529440"/>
            <a:ext cx="72720" cy="72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2" name="Shape 46"/>
          <p:cNvSpPr/>
          <p:nvPr/>
        </p:nvSpPr>
        <p:spPr>
          <a:xfrm>
            <a:off x="5431680" y="3529440"/>
            <a:ext cx="72720" cy="727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3" name="Text 47"/>
          <p:cNvSpPr/>
          <p:nvPr/>
        </p:nvSpPr>
        <p:spPr>
          <a:xfrm>
            <a:off x="5623560" y="3511440"/>
            <a:ext cx="534888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0D5"/>
                </a:solidFill>
                <a:effectLst/>
                <a:uFillTx/>
                <a:latin typeface="Aptos"/>
              </a:rPr>
              <a:t>QUESTION GENERATOR • TOPIC + COUNT + DIFFICULTY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74" name="Image 0" descr="QUESTION GENERATOR • TOPIC + COUNT + DIFFICULTY"/>
          <p:cNvPicPr/>
          <p:nvPr/>
        </p:nvPicPr>
        <p:blipFill>
          <a:blip r:embed="rId1"/>
          <a:stretch>
            <a:fillRect/>
          </a:stretch>
        </p:blipFill>
        <p:spPr>
          <a:xfrm>
            <a:off x="5010840" y="3740040"/>
            <a:ext cx="6528600" cy="162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PlaceHolder 1"/>
          <p:cNvSpPr>
            <a:spLocks noGrp="1"/>
          </p:cNvSpPr>
          <p:nvPr>
            <p:ph type="sldNum" idx="11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ED36A70-BC17-48A0-B322-E663E54AA05B}" type="slidenum">
              <a: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 0"/>
          <p:cNvSpPr/>
          <p:nvPr/>
        </p:nvSpPr>
        <p:spPr>
          <a:xfrm>
            <a:off x="548640" y="384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5B4BFF"/>
                </a:solidFill>
                <a:effectLst/>
                <a:uFillTx/>
                <a:latin typeface="Aptos"/>
              </a:rPr>
              <a:t>RETRIEVAL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548640" y="7131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Question bank — search &amp;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567000" y="12618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Find the right question by keyword, topic, difficulty, algorithm or source.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9" name="Shape 3"/>
          <p:cNvSpPr/>
          <p:nvPr/>
        </p:nvSpPr>
        <p:spPr>
          <a:xfrm>
            <a:off x="594360" y="173736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795600" y="1965960"/>
            <a:ext cx="420120" cy="42012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795600" y="203904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1344240" y="198432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BANK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795600" y="250560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B4BFF"/>
                </a:solidFill>
                <a:effectLst/>
                <a:uFillTx/>
                <a:latin typeface="Aptos"/>
              </a:rPr>
              <a:t>Organized repository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4" name="Text 8"/>
          <p:cNvSpPr/>
          <p:nvPr/>
        </p:nvSpPr>
        <p:spPr>
          <a:xfrm>
            <a:off x="795600" y="27889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Topic • Difficulty • Algorithm • Source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5" name="Shape 9"/>
          <p:cNvSpPr/>
          <p:nvPr/>
        </p:nvSpPr>
        <p:spPr>
          <a:xfrm>
            <a:off x="4325040" y="173736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6" name="Shape 10"/>
          <p:cNvSpPr/>
          <p:nvPr/>
        </p:nvSpPr>
        <p:spPr>
          <a:xfrm>
            <a:off x="4526280" y="1965960"/>
            <a:ext cx="420120" cy="42012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4526280" y="203904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5074920" y="198432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9" name="Text 13"/>
          <p:cNvSpPr/>
          <p:nvPr/>
        </p:nvSpPr>
        <p:spPr>
          <a:xfrm>
            <a:off x="4526280" y="250560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F7BFF"/>
                </a:solidFill>
                <a:effectLst/>
                <a:uFillTx/>
                <a:latin typeface="Aptos"/>
              </a:rPr>
              <a:t>Keyword retrieval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0" name="Text 14"/>
          <p:cNvSpPr/>
          <p:nvPr/>
        </p:nvSpPr>
        <p:spPr>
          <a:xfrm>
            <a:off x="4526280" y="27889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Fast matching across generated questions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1" name="Shape 15"/>
          <p:cNvSpPr/>
          <p:nvPr/>
        </p:nvSpPr>
        <p:spPr>
          <a:xfrm>
            <a:off x="8055720" y="173736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0E5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2" name="Shape 16"/>
          <p:cNvSpPr/>
          <p:nvPr/>
        </p:nvSpPr>
        <p:spPr>
          <a:xfrm>
            <a:off x="8256960" y="1965960"/>
            <a:ext cx="420120" cy="420120"/>
          </a:xfrm>
          <a:prstGeom prst="ellipse">
            <a:avLst/>
          </a:prstGeom>
          <a:solidFill>
            <a:srgbClr val="FF5CA8"/>
          </a:solidFill>
          <a:ln w="12700">
            <a:solidFill>
              <a:srgbClr val="FF5CA8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8256960" y="203904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4" name="Text 18"/>
          <p:cNvSpPr/>
          <p:nvPr/>
        </p:nvSpPr>
        <p:spPr>
          <a:xfrm>
            <a:off x="8805600" y="198432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FILTER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5" name="Text 19"/>
          <p:cNvSpPr/>
          <p:nvPr/>
        </p:nvSpPr>
        <p:spPr>
          <a:xfrm>
            <a:off x="8256960" y="250560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5CA8"/>
                </a:solidFill>
                <a:effectLst/>
                <a:uFillTx/>
                <a:latin typeface="Aptos"/>
              </a:rPr>
              <a:t>Focused results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8256960" y="27889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Refine by topic and difficulty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7" name="Shape 21"/>
          <p:cNvSpPr/>
          <p:nvPr/>
        </p:nvSpPr>
        <p:spPr>
          <a:xfrm>
            <a:off x="594360" y="3474720"/>
            <a:ext cx="3885840" cy="2395440"/>
          </a:xfrm>
          <a:prstGeom prst="roundRect">
            <a:avLst>
              <a:gd name="adj" fmla="val 2290"/>
            </a:avLst>
          </a:prstGeom>
          <a:solidFill>
            <a:srgbClr val="182033"/>
          </a:solidFill>
          <a:ln w="12700">
            <a:solidFill>
              <a:srgbClr val="182033"/>
            </a:solidFill>
            <a:round/>
          </a:ln>
          <a:effectLst>
            <a:outerShdw blurRad="63360" dist="50402" dir="2700000" algn="bl" rotWithShape="0">
              <a:srgbClr val="101527">
                <a:alpha val="1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8" name="Shape 22"/>
          <p:cNvSpPr/>
          <p:nvPr/>
        </p:nvSpPr>
        <p:spPr>
          <a:xfrm>
            <a:off x="594360" y="3474720"/>
            <a:ext cx="3885840" cy="310680"/>
          </a:xfrm>
          <a:prstGeom prst="rect">
            <a:avLst/>
          </a:prstGeom>
          <a:solidFill>
            <a:srgbClr val="232C42"/>
          </a:solidFill>
          <a:ln w="12700">
            <a:solidFill>
              <a:srgbClr val="232C4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9" name="Shape 23"/>
          <p:cNvSpPr/>
          <p:nvPr/>
        </p:nvSpPr>
        <p:spPr>
          <a:xfrm>
            <a:off x="713160" y="3575160"/>
            <a:ext cx="72720" cy="72720"/>
          </a:xfrm>
          <a:prstGeom prst="ellipse">
            <a:avLst/>
          </a:prstGeom>
          <a:solidFill>
            <a:srgbClr val="FF5A66"/>
          </a:solidFill>
          <a:ln w="12700">
            <a:solidFill>
              <a:srgbClr val="FF5A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0" name="Shape 24"/>
          <p:cNvSpPr/>
          <p:nvPr/>
        </p:nvSpPr>
        <p:spPr>
          <a:xfrm>
            <a:off x="877680" y="3575160"/>
            <a:ext cx="72720" cy="72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1" name="Shape 25"/>
          <p:cNvSpPr/>
          <p:nvPr/>
        </p:nvSpPr>
        <p:spPr>
          <a:xfrm>
            <a:off x="1042560" y="3575160"/>
            <a:ext cx="72720" cy="727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2" name="Text 26"/>
          <p:cNvSpPr/>
          <p:nvPr/>
        </p:nvSpPr>
        <p:spPr>
          <a:xfrm>
            <a:off x="1234440" y="3557160"/>
            <a:ext cx="26514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0D5"/>
                </a:solidFill>
                <a:effectLst/>
                <a:uFillTx/>
                <a:latin typeface="Aptos"/>
              </a:rPr>
              <a:t>SEARCH MENU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03" name="Image 0" descr="SEARCH MENU"/>
          <p:cNvPicPr/>
          <p:nvPr/>
        </p:nvPicPr>
        <p:blipFill>
          <a:blip r:embed="rId1"/>
          <a:stretch>
            <a:fillRect/>
          </a:stretch>
        </p:blipFill>
        <p:spPr>
          <a:xfrm>
            <a:off x="621720" y="3785760"/>
            <a:ext cx="383112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Shape 27"/>
          <p:cNvSpPr/>
          <p:nvPr/>
        </p:nvSpPr>
        <p:spPr>
          <a:xfrm>
            <a:off x="4709160" y="3474720"/>
            <a:ext cx="6857640" cy="2395440"/>
          </a:xfrm>
          <a:prstGeom prst="roundRect">
            <a:avLst>
              <a:gd name="adj" fmla="val 2290"/>
            </a:avLst>
          </a:prstGeom>
          <a:solidFill>
            <a:srgbClr val="182033"/>
          </a:solidFill>
          <a:ln w="12700">
            <a:solidFill>
              <a:srgbClr val="182033"/>
            </a:solidFill>
            <a:round/>
          </a:ln>
          <a:effectLst>
            <a:outerShdw blurRad="63360" dist="50402" dir="2700000" algn="bl" rotWithShape="0">
              <a:srgbClr val="101527">
                <a:alpha val="1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5" name="Shape 28"/>
          <p:cNvSpPr/>
          <p:nvPr/>
        </p:nvSpPr>
        <p:spPr>
          <a:xfrm>
            <a:off x="4709160" y="3474720"/>
            <a:ext cx="6857640" cy="310680"/>
          </a:xfrm>
          <a:prstGeom prst="rect">
            <a:avLst/>
          </a:prstGeom>
          <a:solidFill>
            <a:srgbClr val="232C42"/>
          </a:solidFill>
          <a:ln w="12700">
            <a:solidFill>
              <a:srgbClr val="232C4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6" name="Shape 29"/>
          <p:cNvSpPr/>
          <p:nvPr/>
        </p:nvSpPr>
        <p:spPr>
          <a:xfrm>
            <a:off x="4827960" y="3575160"/>
            <a:ext cx="72720" cy="72720"/>
          </a:xfrm>
          <a:prstGeom prst="ellipse">
            <a:avLst/>
          </a:prstGeom>
          <a:solidFill>
            <a:srgbClr val="FF5A66"/>
          </a:solidFill>
          <a:ln w="12700">
            <a:solidFill>
              <a:srgbClr val="FF5A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7" name="Shape 30"/>
          <p:cNvSpPr/>
          <p:nvPr/>
        </p:nvSpPr>
        <p:spPr>
          <a:xfrm>
            <a:off x="4992480" y="3575160"/>
            <a:ext cx="72720" cy="72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8" name="Shape 31"/>
          <p:cNvSpPr/>
          <p:nvPr/>
        </p:nvSpPr>
        <p:spPr>
          <a:xfrm>
            <a:off x="5157360" y="3575160"/>
            <a:ext cx="72720" cy="727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9" name="Text 32"/>
          <p:cNvSpPr/>
          <p:nvPr/>
        </p:nvSpPr>
        <p:spPr>
          <a:xfrm>
            <a:off x="5349240" y="3557160"/>
            <a:ext cx="56232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0D5"/>
                </a:solidFill>
                <a:effectLst/>
                <a:uFillTx/>
                <a:latin typeface="Aptos"/>
              </a:rPr>
              <a:t>MATCHING QUESTIONS • KEYWORD: ALGORITHM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10" name="Image 1" descr="MATCHING QUESTIONS • KEYWORD: ALGORITHM"/>
          <p:cNvPicPr/>
          <p:nvPr/>
        </p:nvPicPr>
        <p:blipFill>
          <a:blip r:embed="rId2"/>
          <a:stretch>
            <a:fillRect/>
          </a:stretch>
        </p:blipFill>
        <p:spPr>
          <a:xfrm>
            <a:off x="4736520" y="3785760"/>
            <a:ext cx="680292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PlaceHolder 1"/>
          <p:cNvSpPr>
            <a:spLocks noGrp="1"/>
          </p:cNvSpPr>
          <p:nvPr>
            <p:ph type="sldNum" idx="12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6369FA-3AEA-4992-A600-FF963D116BFB}" type="slidenum">
              <a: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548640" y="384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5B4BFF"/>
                </a:solidFill>
                <a:effectLst/>
                <a:uFillTx/>
                <a:latin typeface="Aptos"/>
              </a:rPr>
              <a:t>ASSESSMENT OUTPUT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548640" y="7131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Automatic question paper generation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567000" y="12618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 simple selection flow converts the question bank into an assessment-ready paper.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2395800" y="2039040"/>
            <a:ext cx="273960" cy="292320"/>
          </a:xfrm>
          <a:prstGeom prst="chevron">
            <a:avLst>
              <a:gd name="adj" fmla="val 50000"/>
            </a:avLst>
          </a:prstGeom>
          <a:solidFill>
            <a:srgbClr val="C9D0DF"/>
          </a:solidFill>
          <a:ln w="12700">
            <a:solidFill>
              <a:srgbClr val="C9D0D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640080" y="1737360"/>
            <a:ext cx="17827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FE4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7" name="Shape 5"/>
          <p:cNvSpPr/>
          <p:nvPr/>
        </p:nvSpPr>
        <p:spPr>
          <a:xfrm>
            <a:off x="786240" y="1984320"/>
            <a:ext cx="420120" cy="420120"/>
          </a:xfrm>
          <a:prstGeom prst="ellipse">
            <a:avLst/>
          </a:prstGeom>
          <a:solidFill>
            <a:srgbClr val="5B4BFF"/>
          </a:solidFill>
          <a:ln w="12700">
            <a:solidFill>
              <a:srgbClr val="5B4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786240" y="205740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1298520" y="208476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Choose topic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4544640" y="2039040"/>
            <a:ext cx="273960" cy="292320"/>
          </a:xfrm>
          <a:prstGeom prst="chevron">
            <a:avLst>
              <a:gd name="adj" fmla="val 50000"/>
            </a:avLst>
          </a:prstGeom>
          <a:solidFill>
            <a:srgbClr val="C9D0DF"/>
          </a:solidFill>
          <a:ln w="12700">
            <a:solidFill>
              <a:srgbClr val="C9D0D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1" name="Shape 9"/>
          <p:cNvSpPr/>
          <p:nvPr/>
        </p:nvSpPr>
        <p:spPr>
          <a:xfrm>
            <a:off x="2788920" y="1737360"/>
            <a:ext cx="17827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FE4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2" name="Shape 10"/>
          <p:cNvSpPr/>
          <p:nvPr/>
        </p:nvSpPr>
        <p:spPr>
          <a:xfrm>
            <a:off x="2935080" y="1984320"/>
            <a:ext cx="420120" cy="42012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2F7BFF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2935080" y="205740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3447360" y="208476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Choose difficulty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5" name="Shape 13"/>
          <p:cNvSpPr/>
          <p:nvPr/>
        </p:nvSpPr>
        <p:spPr>
          <a:xfrm>
            <a:off x="6693480" y="2039040"/>
            <a:ext cx="273960" cy="292320"/>
          </a:xfrm>
          <a:prstGeom prst="chevron">
            <a:avLst>
              <a:gd name="adj" fmla="val 50000"/>
            </a:avLst>
          </a:prstGeom>
          <a:solidFill>
            <a:srgbClr val="C9D0DF"/>
          </a:solidFill>
          <a:ln w="12700">
            <a:solidFill>
              <a:srgbClr val="C9D0D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6" name="Shape 14"/>
          <p:cNvSpPr/>
          <p:nvPr/>
        </p:nvSpPr>
        <p:spPr>
          <a:xfrm>
            <a:off x="4937760" y="1737360"/>
            <a:ext cx="17827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FE4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7" name="Shape 15"/>
          <p:cNvSpPr/>
          <p:nvPr/>
        </p:nvSpPr>
        <p:spPr>
          <a:xfrm>
            <a:off x="5083920" y="1984320"/>
            <a:ext cx="420120" cy="420120"/>
          </a:xfrm>
          <a:prstGeom prst="ellipse">
            <a:avLst/>
          </a:prstGeom>
          <a:solidFill>
            <a:srgbClr val="FF5CA8"/>
          </a:solidFill>
          <a:ln w="12700">
            <a:solidFill>
              <a:srgbClr val="FF5CA8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8" name="Text 16"/>
          <p:cNvSpPr/>
          <p:nvPr/>
        </p:nvSpPr>
        <p:spPr>
          <a:xfrm>
            <a:off x="5083920" y="205740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5596200" y="208476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Set question count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0" name="Shape 18"/>
          <p:cNvSpPr/>
          <p:nvPr/>
        </p:nvSpPr>
        <p:spPr>
          <a:xfrm>
            <a:off x="7086600" y="1737360"/>
            <a:ext cx="1782720" cy="959760"/>
          </a:xfrm>
          <a:prstGeom prst="roundRect">
            <a:avLst>
              <a:gd name="adj" fmla="val 7619"/>
            </a:avLst>
          </a:prstGeom>
          <a:solidFill>
            <a:srgbClr val="E4F8F0"/>
          </a:solidFill>
          <a:ln w="10160">
            <a:solidFill>
              <a:srgbClr val="DFE4EF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1" name="Shape 19"/>
          <p:cNvSpPr/>
          <p:nvPr/>
        </p:nvSpPr>
        <p:spPr>
          <a:xfrm>
            <a:off x="7232760" y="1984320"/>
            <a:ext cx="420120" cy="4201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2" name="Text 20"/>
          <p:cNvSpPr/>
          <p:nvPr/>
        </p:nvSpPr>
        <p:spPr>
          <a:xfrm>
            <a:off x="7232760" y="2057400"/>
            <a:ext cx="42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3" name="Text 21"/>
          <p:cNvSpPr/>
          <p:nvPr/>
        </p:nvSpPr>
        <p:spPr>
          <a:xfrm>
            <a:off x="7745040" y="208476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033"/>
                </a:solidFill>
                <a:effectLst/>
                <a:uFillTx/>
                <a:latin typeface="Aptos"/>
              </a:rPr>
              <a:t>Generate paper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4" name="Shape 22"/>
          <p:cNvSpPr/>
          <p:nvPr/>
        </p:nvSpPr>
        <p:spPr>
          <a:xfrm>
            <a:off x="640080" y="3154680"/>
            <a:ext cx="3977280" cy="2468520"/>
          </a:xfrm>
          <a:prstGeom prst="roundRect">
            <a:avLst>
              <a:gd name="adj" fmla="val 2963"/>
            </a:avLst>
          </a:prstGeom>
          <a:solidFill>
            <a:srgbClr val="101527"/>
          </a:solidFill>
          <a:ln w="10160">
            <a:solidFill>
              <a:srgbClr val="101527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5" name="Text 23"/>
          <p:cNvSpPr/>
          <p:nvPr/>
        </p:nvSpPr>
        <p:spPr>
          <a:xfrm>
            <a:off x="914400" y="34747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119">
                <a:solidFill>
                  <a:srgbClr val="27D3C2"/>
                </a:solidFill>
                <a:effectLst/>
                <a:uFillTx/>
                <a:latin typeface="Aptos"/>
              </a:rPr>
              <a:t>QUESTION SELECTION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6" name="Text 24"/>
          <p:cNvSpPr/>
          <p:nvPr/>
        </p:nvSpPr>
        <p:spPr>
          <a:xfrm>
            <a:off x="914400" y="4005000"/>
            <a:ext cx="324576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360" tIns="360" rIns="360" bIns="360" anchor="ctr">
            <a:normAutofit/>
          </a:bodyPr>
          <a:p>
            <a:pPr marL="177800" indent="-17780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Specify the required number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Select topic and difficulty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Draw from the saved question bank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Produce a ready-to-use paper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7" name="Shape 25"/>
          <p:cNvSpPr/>
          <p:nvPr/>
        </p:nvSpPr>
        <p:spPr>
          <a:xfrm>
            <a:off x="4983480" y="3154680"/>
            <a:ext cx="6583320" cy="2468520"/>
          </a:xfrm>
          <a:prstGeom prst="roundRect">
            <a:avLst>
              <a:gd name="adj" fmla="val 2222"/>
            </a:avLst>
          </a:prstGeom>
          <a:solidFill>
            <a:srgbClr val="182033"/>
          </a:solidFill>
          <a:ln w="12700">
            <a:solidFill>
              <a:srgbClr val="182033"/>
            </a:solidFill>
            <a:round/>
          </a:ln>
          <a:effectLst>
            <a:outerShdw blurRad="63360" dist="50402" dir="2700000" algn="bl" rotWithShape="0">
              <a:srgbClr val="101527">
                <a:alpha val="1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8" name="Shape 26"/>
          <p:cNvSpPr/>
          <p:nvPr/>
        </p:nvSpPr>
        <p:spPr>
          <a:xfrm>
            <a:off x="4983480" y="3154680"/>
            <a:ext cx="6583320" cy="310680"/>
          </a:xfrm>
          <a:prstGeom prst="rect">
            <a:avLst/>
          </a:prstGeom>
          <a:solidFill>
            <a:srgbClr val="232C42"/>
          </a:solidFill>
          <a:ln w="12700">
            <a:solidFill>
              <a:srgbClr val="232C4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9" name="Shape 27"/>
          <p:cNvSpPr/>
          <p:nvPr/>
        </p:nvSpPr>
        <p:spPr>
          <a:xfrm>
            <a:off x="5102280" y="3255120"/>
            <a:ext cx="72720" cy="72720"/>
          </a:xfrm>
          <a:prstGeom prst="ellipse">
            <a:avLst/>
          </a:prstGeom>
          <a:solidFill>
            <a:srgbClr val="FF5A66"/>
          </a:solidFill>
          <a:ln w="12700">
            <a:solidFill>
              <a:srgbClr val="FF5A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0" name="Shape 28"/>
          <p:cNvSpPr/>
          <p:nvPr/>
        </p:nvSpPr>
        <p:spPr>
          <a:xfrm>
            <a:off x="5266800" y="3255120"/>
            <a:ext cx="72720" cy="72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1" name="Shape 29"/>
          <p:cNvSpPr/>
          <p:nvPr/>
        </p:nvSpPr>
        <p:spPr>
          <a:xfrm>
            <a:off x="5431680" y="3255120"/>
            <a:ext cx="72720" cy="727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2" name="Text 30"/>
          <p:cNvSpPr/>
          <p:nvPr/>
        </p:nvSpPr>
        <p:spPr>
          <a:xfrm>
            <a:off x="5623560" y="3237120"/>
            <a:ext cx="534888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0D5"/>
                </a:solidFill>
                <a:effectLst/>
                <a:uFillTx/>
                <a:latin typeface="Aptos"/>
              </a:rPr>
              <a:t>FILTERED QUESTION SELECTION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43" name="Image 0" descr="FILTERED QUESTION SELECTION"/>
          <p:cNvPicPr/>
          <p:nvPr/>
        </p:nvPicPr>
        <p:blipFill>
          <a:blip r:embed="rId1"/>
          <a:stretch>
            <a:fillRect/>
          </a:stretch>
        </p:blipFill>
        <p:spPr>
          <a:xfrm>
            <a:off x="5010840" y="3465720"/>
            <a:ext cx="6528600" cy="213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PlaceHolder 1"/>
          <p:cNvSpPr>
            <a:spLocks noGrp="1"/>
          </p:cNvSpPr>
          <p:nvPr>
            <p:ph type="sldNum" idx="13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203BCFD-3406-4B40-8B39-28776564D559}" type="slidenum">
              <a:rPr lang="en-US" sz="750" b="0" u="none" strike="noStrike">
                <a:solidFill>
                  <a:srgbClr val="6D7485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0"/>
          <p:cNvSpPr/>
          <p:nvPr/>
        </p:nvSpPr>
        <p:spPr>
          <a:xfrm>
            <a:off x="548640" y="384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27D3C2"/>
                </a:solidFill>
                <a:effectLst/>
                <a:uFillTx/>
                <a:latin typeface="Aptos"/>
              </a:rPr>
              <a:t>VALIDATION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6" name="Text 1"/>
          <p:cNvSpPr/>
          <p:nvPr/>
        </p:nvSpPr>
        <p:spPr>
          <a:xfrm>
            <a:off x="548640" y="7131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Implementation evidence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567000" y="12618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B3C8"/>
                </a:solidFill>
                <a:effectLst/>
                <a:uFillTx/>
                <a:latin typeface="Aptos"/>
              </a:rPr>
              <a:t>Prototype results demonstrate end-to-end execution.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594360" y="1691640"/>
            <a:ext cx="2422800" cy="1234080"/>
          </a:xfrm>
          <a:prstGeom prst="roundRect">
            <a:avLst>
              <a:gd name="adj" fmla="val 5926"/>
            </a:avLst>
          </a:prstGeom>
          <a:solidFill>
            <a:srgbClr val="19213A"/>
          </a:solidFill>
          <a:ln w="10160">
            <a:solidFill>
              <a:srgbClr val="2E3958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1124640" y="188352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8A3D"/>
                </a:solidFill>
                <a:effectLst/>
                <a:uFillTx/>
                <a:latin typeface="Aptos"/>
              </a:rPr>
              <a:t>15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1078920" y="241416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Documents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1" name="Shape 6"/>
          <p:cNvSpPr/>
          <p:nvPr/>
        </p:nvSpPr>
        <p:spPr>
          <a:xfrm>
            <a:off x="3337560" y="1691640"/>
            <a:ext cx="2422800" cy="1234080"/>
          </a:xfrm>
          <a:prstGeom prst="roundRect">
            <a:avLst>
              <a:gd name="adj" fmla="val 5926"/>
            </a:avLst>
          </a:prstGeom>
          <a:solidFill>
            <a:srgbClr val="19213A"/>
          </a:solidFill>
          <a:ln w="10160">
            <a:solidFill>
              <a:srgbClr val="2E3958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3867840" y="188352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7D3C2"/>
                </a:solidFill>
                <a:effectLst/>
                <a:uFillTx/>
                <a:latin typeface="Aptos"/>
              </a:rPr>
              <a:t>911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3" name="Text 8"/>
          <p:cNvSpPr/>
          <p:nvPr/>
        </p:nvSpPr>
        <p:spPr>
          <a:xfrm>
            <a:off x="3822120" y="241416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Words indexed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6080760" y="1691640"/>
            <a:ext cx="2422800" cy="1234080"/>
          </a:xfrm>
          <a:prstGeom prst="roundRect">
            <a:avLst>
              <a:gd name="adj" fmla="val 5926"/>
            </a:avLst>
          </a:prstGeom>
          <a:solidFill>
            <a:srgbClr val="19213A"/>
          </a:solidFill>
          <a:ln w="10160">
            <a:solidFill>
              <a:srgbClr val="2E3958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5" name="Text 10"/>
          <p:cNvSpPr/>
          <p:nvPr/>
        </p:nvSpPr>
        <p:spPr>
          <a:xfrm>
            <a:off x="6611040" y="188352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5CA8"/>
                </a:solidFill>
                <a:effectLst/>
                <a:uFillTx/>
                <a:latin typeface="Aptos"/>
              </a:rPr>
              <a:t>6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6" name="Text 11"/>
          <p:cNvSpPr/>
          <p:nvPr/>
        </p:nvSpPr>
        <p:spPr>
          <a:xfrm>
            <a:off x="6565320" y="241416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Major topics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7" name="Shape 12"/>
          <p:cNvSpPr/>
          <p:nvPr/>
        </p:nvSpPr>
        <p:spPr>
          <a:xfrm>
            <a:off x="8823960" y="1691640"/>
            <a:ext cx="2422800" cy="1234080"/>
          </a:xfrm>
          <a:prstGeom prst="roundRect">
            <a:avLst>
              <a:gd name="adj" fmla="val 5926"/>
            </a:avLst>
          </a:prstGeom>
          <a:solidFill>
            <a:srgbClr val="19213A"/>
          </a:solidFill>
          <a:ln w="10160">
            <a:solidFill>
              <a:srgbClr val="2E3958"/>
            </a:solidFill>
            <a:round/>
          </a:ln>
          <a:effectLst>
            <a:outerShdw blurRad="38160" dist="50402" dir="2700000" algn="bl" rotWithShape="0">
              <a:srgbClr val="172033">
                <a:alpha val="1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8" name="Text 13"/>
          <p:cNvSpPr/>
          <p:nvPr/>
        </p:nvSpPr>
        <p:spPr>
          <a:xfrm>
            <a:off x="9354240" y="188352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2C48D"/>
                </a:solidFill>
                <a:effectLst/>
                <a:uFillTx/>
                <a:latin typeface="Aptos"/>
              </a:rPr>
              <a:t>5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9" name="Text 14"/>
          <p:cNvSpPr/>
          <p:nvPr/>
        </p:nvSpPr>
        <p:spPr>
          <a:xfrm>
            <a:off x="9308520" y="241416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Demo questions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0" name="Shape 15"/>
          <p:cNvSpPr/>
          <p:nvPr/>
        </p:nvSpPr>
        <p:spPr>
          <a:xfrm>
            <a:off x="594360" y="3337560"/>
            <a:ext cx="5166000" cy="2422800"/>
          </a:xfrm>
          <a:prstGeom prst="roundRect">
            <a:avLst>
              <a:gd name="adj" fmla="val 2264"/>
            </a:avLst>
          </a:prstGeom>
          <a:solidFill>
            <a:srgbClr val="182033"/>
          </a:solidFill>
          <a:ln w="12700">
            <a:solidFill>
              <a:srgbClr val="182033"/>
            </a:solidFill>
            <a:round/>
          </a:ln>
          <a:effectLst>
            <a:outerShdw blurRad="63360" dist="50402" dir="2700000" algn="bl" rotWithShape="0">
              <a:srgbClr val="101527">
                <a:alpha val="1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1" name="Shape 16"/>
          <p:cNvSpPr/>
          <p:nvPr/>
        </p:nvSpPr>
        <p:spPr>
          <a:xfrm>
            <a:off x="594360" y="3337560"/>
            <a:ext cx="5166000" cy="310680"/>
          </a:xfrm>
          <a:prstGeom prst="rect">
            <a:avLst/>
          </a:prstGeom>
          <a:solidFill>
            <a:srgbClr val="232C42"/>
          </a:solidFill>
          <a:ln w="12700">
            <a:solidFill>
              <a:srgbClr val="232C4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2" name="Shape 17"/>
          <p:cNvSpPr/>
          <p:nvPr/>
        </p:nvSpPr>
        <p:spPr>
          <a:xfrm>
            <a:off x="713160" y="3438000"/>
            <a:ext cx="72720" cy="72720"/>
          </a:xfrm>
          <a:prstGeom prst="ellipse">
            <a:avLst/>
          </a:prstGeom>
          <a:solidFill>
            <a:srgbClr val="FF5A66"/>
          </a:solidFill>
          <a:ln w="12700">
            <a:solidFill>
              <a:srgbClr val="FF5A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3" name="Shape 18"/>
          <p:cNvSpPr/>
          <p:nvPr/>
        </p:nvSpPr>
        <p:spPr>
          <a:xfrm>
            <a:off x="877680" y="3438000"/>
            <a:ext cx="72720" cy="72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4" name="Shape 19"/>
          <p:cNvSpPr/>
          <p:nvPr/>
        </p:nvSpPr>
        <p:spPr>
          <a:xfrm>
            <a:off x="1042560" y="3438000"/>
            <a:ext cx="72720" cy="727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5" name="Text 20"/>
          <p:cNvSpPr/>
          <p:nvPr/>
        </p:nvSpPr>
        <p:spPr>
          <a:xfrm>
            <a:off x="1234440" y="3420000"/>
            <a:ext cx="39315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0D5"/>
                </a:solidFill>
                <a:effectLst/>
                <a:uFillTx/>
                <a:latin typeface="Aptos"/>
              </a:rPr>
              <a:t>SUCCESSFUL DOCUMENT LOADING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66" name="Image 0" descr="SUCCESSFUL DOCUMENT LOADING"/>
          <p:cNvPicPr/>
          <p:nvPr/>
        </p:nvPicPr>
        <p:blipFill>
          <a:blip r:embed="rId1"/>
          <a:stretch>
            <a:fillRect/>
          </a:stretch>
        </p:blipFill>
        <p:spPr>
          <a:xfrm>
            <a:off x="621720" y="3648600"/>
            <a:ext cx="5111280" cy="20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Shape 21"/>
          <p:cNvSpPr/>
          <p:nvPr/>
        </p:nvSpPr>
        <p:spPr>
          <a:xfrm>
            <a:off x="6080760" y="3337560"/>
            <a:ext cx="5486040" cy="2422800"/>
          </a:xfrm>
          <a:prstGeom prst="roundRect">
            <a:avLst>
              <a:gd name="adj" fmla="val 2264"/>
            </a:avLst>
          </a:prstGeom>
          <a:solidFill>
            <a:srgbClr val="182033"/>
          </a:solidFill>
          <a:ln w="12700">
            <a:solidFill>
              <a:srgbClr val="182033"/>
            </a:solidFill>
            <a:round/>
          </a:ln>
          <a:effectLst>
            <a:outerShdw blurRad="63360" dist="50402" dir="2700000" algn="bl" rotWithShape="0">
              <a:srgbClr val="101527">
                <a:alpha val="1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8" name="Shape 22"/>
          <p:cNvSpPr/>
          <p:nvPr/>
        </p:nvSpPr>
        <p:spPr>
          <a:xfrm>
            <a:off x="6080760" y="3337560"/>
            <a:ext cx="5486040" cy="310680"/>
          </a:xfrm>
          <a:prstGeom prst="rect">
            <a:avLst/>
          </a:prstGeom>
          <a:solidFill>
            <a:srgbClr val="232C42"/>
          </a:solidFill>
          <a:ln w="12700">
            <a:solidFill>
              <a:srgbClr val="232C4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9" name="Shape 23"/>
          <p:cNvSpPr/>
          <p:nvPr/>
        </p:nvSpPr>
        <p:spPr>
          <a:xfrm>
            <a:off x="6199560" y="3438000"/>
            <a:ext cx="72720" cy="72720"/>
          </a:xfrm>
          <a:prstGeom prst="ellipse">
            <a:avLst/>
          </a:prstGeom>
          <a:solidFill>
            <a:srgbClr val="FF5A66"/>
          </a:solidFill>
          <a:ln w="12700">
            <a:solidFill>
              <a:srgbClr val="FF5A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0" name="Shape 24"/>
          <p:cNvSpPr/>
          <p:nvPr/>
        </p:nvSpPr>
        <p:spPr>
          <a:xfrm>
            <a:off x="6364080" y="3438000"/>
            <a:ext cx="72720" cy="72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1" name="Shape 25"/>
          <p:cNvSpPr/>
          <p:nvPr/>
        </p:nvSpPr>
        <p:spPr>
          <a:xfrm>
            <a:off x="6528960" y="3438000"/>
            <a:ext cx="72720" cy="72720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6840" rIns="90000" bIns="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2" name="Text 26"/>
          <p:cNvSpPr/>
          <p:nvPr/>
        </p:nvSpPr>
        <p:spPr>
          <a:xfrm>
            <a:off x="6720840" y="3420000"/>
            <a:ext cx="42516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0D5"/>
                </a:solidFill>
                <a:effectLst/>
                <a:uFillTx/>
                <a:latin typeface="Aptos"/>
              </a:rPr>
              <a:t>GENERATED QUESTION OUTPUT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73" name="Image 1" descr="GENERATED QUESTION OUTPUT"/>
          <p:cNvPicPr/>
          <p:nvPr/>
        </p:nvPicPr>
        <p:blipFill>
          <a:blip r:embed="rId2"/>
          <a:stretch>
            <a:fillRect/>
          </a:stretch>
        </p:blipFill>
        <p:spPr>
          <a:xfrm>
            <a:off x="6108120" y="3648600"/>
            <a:ext cx="5431320" cy="20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Shape 27"/>
          <p:cNvSpPr/>
          <p:nvPr/>
        </p:nvSpPr>
        <p:spPr>
          <a:xfrm>
            <a:off x="4791600" y="6016680"/>
            <a:ext cx="2605680" cy="310680"/>
          </a:xfrm>
          <a:prstGeom prst="roundRect">
            <a:avLst>
              <a:gd name="adj" fmla="val 23529"/>
            </a:avLst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5" name="Text 28"/>
          <p:cNvSpPr/>
          <p:nvPr/>
        </p:nvSpPr>
        <p:spPr>
          <a:xfrm>
            <a:off x="4864680" y="6085440"/>
            <a:ext cx="2459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71">
                <a:solidFill>
                  <a:srgbClr val="101527"/>
                </a:solidFill>
                <a:effectLst/>
                <a:uFillTx/>
                <a:latin typeface="Aptos"/>
              </a:rPr>
              <a:t>WORKING PROTOTYPE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sldNum" idx="14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798437E-884C-4ECE-9C25-4282C99890BA}" type="slidenum">
              <a: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0" y="118800"/>
            <a:ext cx="3702960" cy="6235920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8" name="Text 1"/>
          <p:cNvSpPr/>
          <p:nvPr/>
        </p:nvSpPr>
        <p:spPr>
          <a:xfrm>
            <a:off x="594360" y="658440"/>
            <a:ext cx="255996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NEXT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CHAPTER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9" name="Text 2"/>
          <p:cNvSpPr/>
          <p:nvPr/>
        </p:nvSpPr>
        <p:spPr>
          <a:xfrm>
            <a:off x="621720" y="2103120"/>
            <a:ext cx="248688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5E2FF"/>
                </a:solidFill>
                <a:effectLst/>
                <a:uFillTx/>
                <a:latin typeface="Aptos"/>
              </a:rPr>
              <a:t>From a console prototype to an intelligent assessment platform.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0" name="Text 3"/>
          <p:cNvSpPr/>
          <p:nvPr/>
        </p:nvSpPr>
        <p:spPr>
          <a:xfrm>
            <a:off x="621720" y="52668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spc="201">
                <a:solidFill>
                  <a:srgbClr val="27D3C2"/>
                </a:solidFill>
                <a:effectLst/>
                <a:uFillTx/>
                <a:latin typeface="Aptos"/>
              </a:rPr>
              <a:t>TEXTQUEST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1" name="Text 4"/>
          <p:cNvSpPr/>
          <p:nvPr/>
        </p:nvSpPr>
        <p:spPr>
          <a:xfrm>
            <a:off x="4251960" y="621720"/>
            <a:ext cx="7040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27D3C2"/>
                </a:solidFill>
                <a:effectLst/>
                <a:uFillTx/>
                <a:latin typeface="Aptos"/>
              </a:rPr>
              <a:t>LIMITATIONS, FUTURE SCOPE &amp; CONCLUSION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2" name="Text 5"/>
          <p:cNvSpPr/>
          <p:nvPr/>
        </p:nvSpPr>
        <p:spPr>
          <a:xfrm>
            <a:off x="4251960" y="117036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8A3D"/>
                </a:solidFill>
                <a:effectLst/>
                <a:uFillTx/>
                <a:latin typeface="Aptos"/>
              </a:rPr>
              <a:t>CURRENT LIMITATIONS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3" name="Text 6"/>
          <p:cNvSpPr/>
          <p:nvPr/>
        </p:nvSpPr>
        <p:spPr>
          <a:xfrm>
            <a:off x="4279320" y="1600200"/>
            <a:ext cx="653760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360" tIns="360" rIns="360" bIns="360" anchor="ctr">
            <a:normAutofit/>
          </a:bodyPr>
          <a:p>
            <a:pPr marL="177800" indent="-177800" defTabSz="914400">
              <a:lnSpc>
                <a:spcPct val="100000"/>
              </a:lnSpc>
              <a:buClr>
                <a:srgbClr val="D8DEEC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D8DEEC"/>
                </a:solidFill>
                <a:effectLst/>
                <a:uFillTx/>
                <a:latin typeface="Aptos"/>
              </a:rPr>
              <a:t>Console-based interface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D8DEEC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D8DEEC"/>
                </a:solidFill>
                <a:effectLst/>
                <a:uFillTx/>
                <a:latin typeface="Aptos"/>
              </a:rPr>
              <a:t>Depends on supplied corpus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D8DEEC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D8DEEC"/>
                </a:solidFill>
                <a:effectLst/>
                <a:uFillTx/>
                <a:latin typeface="Aptos"/>
              </a:rPr>
              <a:t>Question quality can improve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D8DEEC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D8DEEC"/>
                </a:solidFill>
                <a:effectLst/>
                <a:uFillTx/>
                <a:latin typeface="Aptos"/>
              </a:rPr>
              <a:t>Difficulty estimation can improve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4" name="Text 7"/>
          <p:cNvSpPr/>
          <p:nvPr/>
        </p:nvSpPr>
        <p:spPr>
          <a:xfrm>
            <a:off x="4251960" y="29718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5CA8"/>
                </a:solidFill>
                <a:effectLst/>
                <a:uFillTx/>
                <a:latin typeface="Aptos"/>
              </a:rPr>
              <a:t>FUTURE SCOPE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5" name="Text 8"/>
          <p:cNvSpPr/>
          <p:nvPr/>
        </p:nvSpPr>
        <p:spPr>
          <a:xfrm>
            <a:off x="4279320" y="3401640"/>
            <a:ext cx="653760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360" tIns="360" rIns="360" bIns="360" anchor="ctr">
            <a:normAutofit/>
          </a:bodyPr>
          <a:p>
            <a:pPr marL="177800" indent="-177800" defTabSz="914400">
              <a:lnSpc>
                <a:spcPct val="100000"/>
              </a:lnSpc>
              <a:buClr>
                <a:srgbClr val="D8DEEC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D8DEEC"/>
                </a:solidFill>
                <a:effectLst/>
                <a:uFillTx/>
                <a:latin typeface="Aptos"/>
              </a:rPr>
              <a:t>Web-based interface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D8DEEC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D8DEEC"/>
                </a:solidFill>
                <a:effectLst/>
                <a:uFillTx/>
                <a:latin typeface="Aptos"/>
              </a:rPr>
              <a:t>Larger, diverse datasets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D8DEEC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D8DEEC"/>
                </a:solidFill>
                <a:effectLst/>
                <a:uFillTx/>
                <a:latin typeface="Aptos"/>
              </a:rPr>
              <a:t>Stronger NLP generation and classification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D8DEEC"/>
              </a:buClr>
              <a:buFont typeface="Symbol" panose="05050102010706020507" charset="2"/>
              <a:buChar char=""/>
            </a:pPr>
            <a:r>
              <a:rPr lang="en-US" sz="1400" b="0" u="none" strike="noStrike">
                <a:solidFill>
                  <a:srgbClr val="D8DEEC"/>
                </a:solidFill>
                <a:effectLst/>
                <a:uFillTx/>
                <a:latin typeface="Aptos"/>
              </a:rPr>
              <a:t>Multi-format question paper export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6" name="Shape 9"/>
          <p:cNvSpPr/>
          <p:nvPr/>
        </p:nvSpPr>
        <p:spPr>
          <a:xfrm>
            <a:off x="4251960" y="5029200"/>
            <a:ext cx="7269120" cy="914040"/>
          </a:xfrm>
          <a:prstGeom prst="roundRect">
            <a:avLst>
              <a:gd name="adj" fmla="val 8000"/>
            </a:avLst>
          </a:prstGeom>
          <a:solidFill>
            <a:srgbClr val="19213A"/>
          </a:solidFill>
          <a:ln w="12700">
            <a:solidFill>
              <a:srgbClr val="2D385A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7" name="Text 10"/>
          <p:cNvSpPr/>
          <p:nvPr/>
        </p:nvSpPr>
        <p:spPr>
          <a:xfrm>
            <a:off x="4572000" y="5285160"/>
            <a:ext cx="6629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i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“From educational content to a structured, searchable question bank.”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8" name="PlaceHolder 1"/>
          <p:cNvSpPr>
            <a:spLocks noGrp="1"/>
          </p:cNvSpPr>
          <p:nvPr>
            <p:ph type="sldNum" idx="15"/>
          </p:nvPr>
        </p:nvSpPr>
        <p:spPr>
          <a:xfrm>
            <a:off x="11704320" y="6492240"/>
            <a:ext cx="1641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FE41E80-62D9-45D4-AF70-DD86A181AF7E}" type="slidenum">
              <a:rPr lang="en-US" sz="750" b="0" u="none" strike="noStrike">
                <a:solidFill>
                  <a:srgbClr val="96A0B8"/>
                </a:solidFill>
                <a:effectLst/>
                <a:uFillTx/>
                <a:latin typeface="Aptos"/>
                <a:ea typeface="Aptos"/>
              </a:rPr>
            </a:fld>
            <a:endParaRPr lang="en-US" sz="75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3420</Words>
  <Application>WPS Presentation</Application>
  <PresentationFormat/>
  <Paragraphs>367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Times New Roman</vt:lpstr>
      <vt:lpstr>Symbol</vt:lpstr>
      <vt:lpstr>Microsoft YaHei</vt:lpstr>
      <vt:lpstr>Arial Unicode MS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DSA-3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Jashwanth Reddy</cp:lastModifiedBy>
  <cp:revision>1</cp:revision>
  <dcterms:created xsi:type="dcterms:W3CDTF">2026-09-16T03:19:18Z</dcterms:created>
  <dcterms:modified xsi:type="dcterms:W3CDTF">2026-09-16T03:19:18Z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  <property fmtid="{D5CDD505-2E9C-101B-9397-08002B2CF9AE}" pid="5" name="KSOProductBuildVer">
    <vt:lpwstr>1033-12.1.0.28485</vt:lpwstr>
  </property>
  <property fmtid="{D5CDD505-2E9C-101B-9397-08002B2CF9AE}" pid="6" name="ICV">
    <vt:lpwstr>E85868BC046F44998B2DCC9A3CB56A8D_12</vt:lpwstr>
  </property>
</Properties>
</file>