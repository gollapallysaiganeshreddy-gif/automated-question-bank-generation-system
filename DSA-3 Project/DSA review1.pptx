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E40"/>
        </a:solidFill>
        <a:effectLst/>
      </p:bgPr>
    </p:bg>
    <p:spTree>
      <p:nvGrpSpPr>
        <p:cNvPr id="1" name=""/>
        <p:cNvGrpSpPr/>
        <p:nvPr/>
      </p:nvGrpSpPr>
      <p:grpSpPr>
        <a:xfrm>
          <a:off x="0" y="0"/>
          <a:ext cx="0" cy="0"/>
          <a:chOff x="0" y="0"/>
          <a:chExt cx="0" cy="0"/>
        </a:xfrm>
      </p:grpSpPr>
      <p:sp>
        <p:nvSpPr>
          <p:cNvPr id="2" name="Text 0"/>
          <p:cNvSpPr/>
          <p:nvPr/>
        </p:nvSpPr>
        <p:spPr>
          <a:xfrm>
            <a:off x="640080" y="1188720"/>
            <a:ext cx="10881360" cy="1371600"/>
          </a:xfrm>
          <a:prstGeom prst="rect">
            <a:avLst/>
          </a:prstGeom>
          <a:noFill/>
        </p:spPr>
        <p:txBody>
          <a:bodyPr wrap="square" rtlCol="0" anchor="ctr"/>
          <a:lstStyle/>
          <a:p>
            <a:pPr marL="0" indent="0">
              <a:lnSpc>
                <a:spcPct val="110000"/>
              </a:lnSpc>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Automated Question Bank Generation System</a:t>
            </a:r>
            <a:endParaRPr lang="en-US" sz="3600" dirty="0"/>
          </a:p>
        </p:txBody>
      </p:sp>
      <p:sp>
        <p:nvSpPr>
          <p:cNvPr id="3" name="Text 1"/>
          <p:cNvSpPr/>
          <p:nvPr/>
        </p:nvSpPr>
        <p:spPr>
          <a:xfrm>
            <a:off x="640080" y="2606040"/>
            <a:ext cx="10881360" cy="457200"/>
          </a:xfrm>
          <a:prstGeom prst="rect">
            <a:avLst/>
          </a:prstGeom>
          <a:noFill/>
        </p:spPr>
        <p:txBody>
          <a:bodyPr wrap="square" rtlCol="0" anchor="ctr"/>
          <a:lstStyle/>
          <a:p>
            <a:pPr marL="0" indent="0">
              <a:buNone/>
            </a:pPr>
            <a:r>
              <a:rPr lang="en-US" sz="2400" b="1" i="1" dirty="0">
                <a:solidFill>
                  <a:srgbClr val="E8604B"/>
                </a:solidFill>
                <a:latin typeface="Calibri" panose="020F0502020204030204" pitchFamily="34" charset="0"/>
                <a:ea typeface="Calibri" panose="020F0502020204030204" pitchFamily="34" charset="-122"/>
                <a:cs typeface="Calibri" panose="020F0502020204030204" pitchFamily="34" charset="-120"/>
              </a:rPr>
              <a:t>DSA-3 </a:t>
            </a:r>
            <a:r>
              <a:rPr lang="en-IN" altLang="en-US" sz="2400" b="1" i="1" dirty="0">
                <a:solidFill>
                  <a:srgbClr val="E8604B"/>
                </a:solidFill>
                <a:latin typeface="Calibri" panose="020F0502020204030204" pitchFamily="34" charset="0"/>
                <a:ea typeface="Calibri" panose="020F0502020204030204" pitchFamily="34" charset="-122"/>
                <a:cs typeface="Calibri" panose="020F0502020204030204" pitchFamily="34" charset="-120"/>
              </a:rPr>
              <a:t>Review 1</a:t>
            </a:r>
            <a:endParaRPr lang="en-IN" altLang="en-US" sz="2400" b="1" i="1" dirty="0">
              <a:solidFill>
                <a:srgbClr val="E8604B"/>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658368" y="3127248"/>
            <a:ext cx="1005840" cy="27432"/>
          </a:xfrm>
          <a:prstGeom prst="rect">
            <a:avLst/>
          </a:prstGeom>
          <a:solidFill>
            <a:srgbClr val="E8604B"/>
          </a:solidFill>
        </p:spPr>
      </p:sp>
      <p:sp>
        <p:nvSpPr>
          <p:cNvPr id="5" name="Text 3"/>
          <p:cNvSpPr/>
          <p:nvPr/>
        </p:nvSpPr>
        <p:spPr>
          <a:xfrm>
            <a:off x="640080" y="3749040"/>
            <a:ext cx="7315200" cy="320040"/>
          </a:xfrm>
          <a:prstGeom prst="rect">
            <a:avLst/>
          </a:prstGeom>
          <a:noFill/>
        </p:spPr>
        <p:txBody>
          <a:bodyPr wrap="square"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Team Members:</a:t>
            </a:r>
            <a:endParaRPr lang="en-US" sz="2000" dirty="0"/>
          </a:p>
        </p:txBody>
      </p:sp>
      <p:sp>
        <p:nvSpPr>
          <p:cNvPr id="6" name="Text 4"/>
          <p:cNvSpPr/>
          <p:nvPr/>
        </p:nvSpPr>
        <p:spPr>
          <a:xfrm>
            <a:off x="640080" y="3867150"/>
            <a:ext cx="3856990" cy="1555115"/>
          </a:xfrm>
          <a:prstGeom prst="rect">
            <a:avLst/>
          </a:prstGeom>
          <a:noFill/>
        </p:spPr>
        <p:txBody>
          <a:bodyPr wrap="square" rtlCol="0" anchor="ctr"/>
          <a:lstStyle/>
          <a:p>
            <a:pPr marL="0" indent="0">
              <a:buNone/>
            </a:pPr>
            <a:r>
              <a:rPr lang="en-IN" altLang="en-US" sz="1600" dirty="0">
                <a:solidFill>
                  <a:schemeClr val="bg1"/>
                </a:solidFill>
              </a:rPr>
              <a:t>2510030386 - Sai Ganesh Reddy</a:t>
            </a:r>
            <a:endParaRPr lang="en-IN" altLang="en-US" sz="1600" dirty="0">
              <a:solidFill>
                <a:schemeClr val="bg1"/>
              </a:solidFill>
            </a:endParaRPr>
          </a:p>
          <a:p>
            <a:pPr marL="0" indent="0">
              <a:buNone/>
            </a:pPr>
            <a:r>
              <a:rPr lang="en-IN" altLang="en-US" sz="1600" dirty="0">
                <a:solidFill>
                  <a:schemeClr val="bg1"/>
                </a:solidFill>
              </a:rPr>
              <a:t>2510030378 - Jaswanth Reddy</a:t>
            </a:r>
            <a:endParaRPr lang="en-IN" altLang="en-US" sz="1600" dirty="0">
              <a:solidFill>
                <a:schemeClr val="bg1"/>
              </a:solidFill>
            </a:endParaRPr>
          </a:p>
          <a:p>
            <a:pPr marL="0" indent="0">
              <a:buNone/>
            </a:pPr>
            <a:r>
              <a:rPr lang="en-IN" altLang="en-US" sz="1600" dirty="0">
                <a:solidFill>
                  <a:schemeClr val="bg1"/>
                </a:solidFill>
              </a:rPr>
              <a:t>2510030053 - Krishna Biradar</a:t>
            </a:r>
            <a:endParaRPr lang="en-IN" altLang="en-US" sz="1600" dirty="0">
              <a:solidFill>
                <a:schemeClr val="bg1"/>
              </a:solidFill>
            </a:endParaRPr>
          </a:p>
          <a:p>
            <a:pPr marL="0" indent="0">
              <a:buNone/>
            </a:pPr>
            <a:r>
              <a:rPr lang="en-IN" altLang="en-US" sz="1600" dirty="0">
                <a:solidFill>
                  <a:schemeClr val="bg1"/>
                </a:solidFill>
              </a:rPr>
              <a:t>2510030333 - Pradeep</a:t>
            </a:r>
            <a:endParaRPr lang="en-IN" altLang="en-US" sz="1600" dirty="0">
              <a:solidFill>
                <a:schemeClr val="bg1"/>
              </a:solidFill>
            </a:endParaRPr>
          </a:p>
        </p:txBody>
      </p:sp>
      <p:sp>
        <p:nvSpPr>
          <p:cNvPr id="7" name="Text 5"/>
          <p:cNvSpPr/>
          <p:nvPr/>
        </p:nvSpPr>
        <p:spPr>
          <a:xfrm>
            <a:off x="3291840" y="4160520"/>
            <a:ext cx="3474720" cy="292608"/>
          </a:xfrm>
          <a:prstGeom prst="rect">
            <a:avLst/>
          </a:prstGeom>
          <a:noFill/>
        </p:spPr>
        <p:txBody>
          <a:bodyPr wrap="square" rtlCol="0" anchor="ctr"/>
          <a:lstStyle/>
          <a:p>
            <a:pPr marL="0" indent="0">
              <a:buNone/>
            </a:pPr>
            <a:endParaRPr lang="en-US" sz="1200" dirty="0"/>
          </a:p>
        </p:txBody>
      </p:sp>
      <p:sp>
        <p:nvSpPr>
          <p:cNvPr id="8" name="Text 6"/>
          <p:cNvSpPr/>
          <p:nvPr/>
        </p:nvSpPr>
        <p:spPr>
          <a:xfrm>
            <a:off x="6949440" y="4160520"/>
            <a:ext cx="2743200" cy="292608"/>
          </a:xfrm>
          <a:prstGeom prst="rect">
            <a:avLst/>
          </a:prstGeom>
          <a:noFill/>
        </p:spPr>
        <p:txBody>
          <a:bodyPr wrap="square" rtlCol="0" anchor="ctr"/>
          <a:lstStyle/>
          <a:p>
            <a:pPr marL="0" indent="0">
              <a:buNone/>
            </a:pPr>
            <a:endParaRPr lang="en-US" sz="1200" dirty="0"/>
          </a:p>
        </p:txBody>
      </p:sp>
      <p:sp>
        <p:nvSpPr>
          <p:cNvPr id="10" name="Text 8"/>
          <p:cNvSpPr/>
          <p:nvPr/>
        </p:nvSpPr>
        <p:spPr>
          <a:xfrm>
            <a:off x="613410" y="4456430"/>
            <a:ext cx="2495550" cy="563880"/>
          </a:xfrm>
          <a:prstGeom prst="rect">
            <a:avLst/>
          </a:prstGeom>
          <a:noFill/>
        </p:spPr>
        <p:txBody>
          <a:bodyPr wrap="square" rtlCol="0" anchor="ctr"/>
          <a:lstStyle/>
          <a:p>
            <a:pPr marL="0" indent="0">
              <a:buNone/>
            </a:pPr>
            <a:endParaRPr lang="en-US" sz="1350" dirty="0"/>
          </a:p>
        </p:txBody>
      </p:sp>
      <p:sp>
        <p:nvSpPr>
          <p:cNvPr id="11" name="Text 9"/>
          <p:cNvSpPr/>
          <p:nvPr/>
        </p:nvSpPr>
        <p:spPr>
          <a:xfrm>
            <a:off x="3291840" y="4617720"/>
            <a:ext cx="3474720" cy="402336"/>
          </a:xfrm>
          <a:prstGeom prst="rect">
            <a:avLst/>
          </a:prstGeom>
          <a:noFill/>
        </p:spPr>
        <p:txBody>
          <a:bodyPr wrap="square" rtlCol="0" anchor="ctr"/>
          <a:lstStyle/>
          <a:p>
            <a:pPr marL="0" indent="0">
              <a:buNone/>
            </a:pPr>
            <a:endParaRPr lang="en-US" sz="1350" dirty="0"/>
          </a:p>
        </p:txBody>
      </p:sp>
      <p:sp>
        <p:nvSpPr>
          <p:cNvPr id="12" name="Text 10"/>
          <p:cNvSpPr/>
          <p:nvPr/>
        </p:nvSpPr>
        <p:spPr>
          <a:xfrm>
            <a:off x="6949440" y="4617720"/>
            <a:ext cx="2743200" cy="402336"/>
          </a:xfrm>
          <a:prstGeom prst="rect">
            <a:avLst/>
          </a:prstGeom>
          <a:noFill/>
        </p:spPr>
        <p:txBody>
          <a:bodyPr wrap="square" rtlCol="0" anchor="ctr"/>
          <a:lstStyle/>
          <a:p>
            <a:pPr marL="0" indent="0">
              <a:buNone/>
            </a:pPr>
            <a:endParaRPr lang="en-US" sz="1350" dirty="0"/>
          </a:p>
        </p:txBody>
      </p:sp>
      <p:sp>
        <p:nvSpPr>
          <p:cNvPr id="13" name="Text 11"/>
          <p:cNvSpPr/>
          <p:nvPr/>
        </p:nvSpPr>
        <p:spPr>
          <a:xfrm>
            <a:off x="640080" y="5020056"/>
            <a:ext cx="2468880" cy="402336"/>
          </a:xfrm>
          <a:prstGeom prst="rect">
            <a:avLst/>
          </a:prstGeom>
          <a:noFill/>
        </p:spPr>
        <p:txBody>
          <a:bodyPr wrap="square" rtlCol="0" anchor="ctr"/>
          <a:lstStyle/>
          <a:p>
            <a:pPr marL="0" indent="0">
              <a:buNone/>
            </a:pPr>
            <a:endParaRPr lang="en-US" sz="1350" dirty="0"/>
          </a:p>
        </p:txBody>
      </p:sp>
      <p:sp>
        <p:nvSpPr>
          <p:cNvPr id="14" name="Text 12"/>
          <p:cNvSpPr/>
          <p:nvPr/>
        </p:nvSpPr>
        <p:spPr>
          <a:xfrm>
            <a:off x="3291840" y="5020056"/>
            <a:ext cx="3474720" cy="402336"/>
          </a:xfrm>
          <a:prstGeom prst="rect">
            <a:avLst/>
          </a:prstGeom>
          <a:noFill/>
        </p:spPr>
        <p:txBody>
          <a:bodyPr wrap="square" rtlCol="0" anchor="ctr"/>
          <a:lstStyle/>
          <a:p>
            <a:pPr marL="0" indent="0">
              <a:buNone/>
            </a:pPr>
            <a:endParaRPr lang="en-US" sz="1350" dirty="0"/>
          </a:p>
        </p:txBody>
      </p:sp>
      <p:sp>
        <p:nvSpPr>
          <p:cNvPr id="15" name="Text 13"/>
          <p:cNvSpPr/>
          <p:nvPr/>
        </p:nvSpPr>
        <p:spPr>
          <a:xfrm>
            <a:off x="6949440" y="5020056"/>
            <a:ext cx="2743200" cy="402336"/>
          </a:xfrm>
          <a:prstGeom prst="rect">
            <a:avLst/>
          </a:prstGeom>
          <a:noFill/>
        </p:spPr>
        <p:txBody>
          <a:bodyPr wrap="square" rtlCol="0" anchor="ctr"/>
          <a:lstStyle/>
          <a:p>
            <a:pPr marL="0" indent="0">
              <a:buNone/>
            </a:pPr>
            <a:endParaRPr lang="en-US" sz="1350" dirty="0"/>
          </a:p>
        </p:txBody>
      </p:sp>
      <p:sp>
        <p:nvSpPr>
          <p:cNvPr id="16" name="Text 14"/>
          <p:cNvSpPr/>
          <p:nvPr/>
        </p:nvSpPr>
        <p:spPr>
          <a:xfrm>
            <a:off x="640080" y="5422392"/>
            <a:ext cx="2468880" cy="402336"/>
          </a:xfrm>
          <a:prstGeom prst="rect">
            <a:avLst/>
          </a:prstGeom>
          <a:noFill/>
        </p:spPr>
        <p:txBody>
          <a:bodyPr wrap="square" rtlCol="0" anchor="ctr"/>
          <a:lstStyle/>
          <a:p>
            <a:pPr marL="0" indent="0">
              <a:buNone/>
            </a:pPr>
            <a:endParaRPr lang="en-US" sz="1350" dirty="0"/>
          </a:p>
        </p:txBody>
      </p:sp>
      <p:sp>
        <p:nvSpPr>
          <p:cNvPr id="17" name="Text 15"/>
          <p:cNvSpPr/>
          <p:nvPr/>
        </p:nvSpPr>
        <p:spPr>
          <a:xfrm>
            <a:off x="3291840" y="5422392"/>
            <a:ext cx="3474720" cy="402336"/>
          </a:xfrm>
          <a:prstGeom prst="rect">
            <a:avLst/>
          </a:prstGeom>
          <a:noFill/>
        </p:spPr>
        <p:txBody>
          <a:bodyPr wrap="square" rtlCol="0" anchor="ctr"/>
          <a:lstStyle/>
          <a:p>
            <a:pPr marL="0" indent="0">
              <a:buNone/>
            </a:pPr>
            <a:endParaRPr lang="en-US" sz="1350" dirty="0"/>
          </a:p>
        </p:txBody>
      </p:sp>
      <p:sp>
        <p:nvSpPr>
          <p:cNvPr id="18" name="Text 16"/>
          <p:cNvSpPr/>
          <p:nvPr/>
        </p:nvSpPr>
        <p:spPr>
          <a:xfrm>
            <a:off x="6949440" y="5422392"/>
            <a:ext cx="2743200" cy="402336"/>
          </a:xfrm>
          <a:prstGeom prst="rect">
            <a:avLst/>
          </a:prstGeom>
          <a:noFill/>
        </p:spPr>
        <p:txBody>
          <a:bodyPr wrap="square" rtlCol="0" anchor="ctr"/>
          <a:lstStyle/>
          <a:p>
            <a:pPr marL="0" indent="0">
              <a:buNone/>
            </a:pPr>
            <a:endParaRPr lang="en-US" sz="1350" dirty="0"/>
          </a:p>
        </p:txBody>
      </p:sp>
      <p:sp>
        <p:nvSpPr>
          <p:cNvPr id="19" name="Text 17"/>
          <p:cNvSpPr/>
          <p:nvPr/>
        </p:nvSpPr>
        <p:spPr>
          <a:xfrm>
            <a:off x="640080" y="5824728"/>
            <a:ext cx="2468880" cy="402336"/>
          </a:xfrm>
          <a:prstGeom prst="rect">
            <a:avLst/>
          </a:prstGeom>
          <a:noFill/>
        </p:spPr>
        <p:txBody>
          <a:bodyPr wrap="square" rtlCol="0" anchor="ctr"/>
          <a:lstStyle/>
          <a:p>
            <a:pPr marL="0" indent="0">
              <a:buNone/>
            </a:pPr>
            <a:endParaRPr lang="en-US" sz="1350" dirty="0"/>
          </a:p>
        </p:txBody>
      </p:sp>
      <p:sp>
        <p:nvSpPr>
          <p:cNvPr id="20" name="Text 18"/>
          <p:cNvSpPr/>
          <p:nvPr/>
        </p:nvSpPr>
        <p:spPr>
          <a:xfrm>
            <a:off x="3291840" y="5824728"/>
            <a:ext cx="3474720" cy="402336"/>
          </a:xfrm>
          <a:prstGeom prst="rect">
            <a:avLst/>
          </a:prstGeom>
          <a:noFill/>
        </p:spPr>
        <p:txBody>
          <a:bodyPr wrap="square" rtlCol="0" anchor="ctr"/>
          <a:lstStyle/>
          <a:p>
            <a:pPr marL="0" indent="0">
              <a:buNone/>
            </a:pPr>
            <a:endParaRPr lang="en-US" sz="1350" dirty="0"/>
          </a:p>
        </p:txBody>
      </p:sp>
      <p:sp>
        <p:nvSpPr>
          <p:cNvPr id="22" name="Text Box 21"/>
          <p:cNvSpPr txBox="1"/>
          <p:nvPr/>
        </p:nvSpPr>
        <p:spPr>
          <a:xfrm>
            <a:off x="658495" y="3326765"/>
            <a:ext cx="4064000" cy="368300"/>
          </a:xfrm>
          <a:prstGeom prst="rect">
            <a:avLst/>
          </a:prstGeom>
          <a:noFill/>
        </p:spPr>
        <p:txBody>
          <a:bodyPr wrap="square" rtlCol="0">
            <a:spAutoFit/>
          </a:bodyPr>
          <a:p>
            <a:r>
              <a:rPr lang="en-IN" altLang="en-US" b="1">
                <a:solidFill>
                  <a:schemeClr val="bg1"/>
                </a:solidFill>
              </a:rPr>
              <a:t>Section:</a:t>
            </a:r>
            <a:r>
              <a:rPr lang="en-IN" altLang="en-US">
                <a:solidFill>
                  <a:schemeClr val="bg1"/>
                </a:solidFill>
              </a:rPr>
              <a:t> A5</a:t>
            </a:r>
            <a:endParaRPr lang="en-IN"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300" b="1" kern="0" spc="300" dirty="0">
                <a:solidFill>
                  <a:srgbClr val="E8604B"/>
                </a:solidFill>
                <a:latin typeface="Calibri" panose="020F0502020204030204" pitchFamily="34" charset="0"/>
                <a:ea typeface="Calibri" panose="020F0502020204030204" pitchFamily="34" charset="-122"/>
                <a:cs typeface="Calibri" panose="020F0502020204030204" pitchFamily="34" charset="-120"/>
              </a:rPr>
              <a:t>ABOUT THE PROJECT</a:t>
            </a:r>
            <a:endParaRPr lang="en-US" sz="1300" dirty="0"/>
          </a:p>
        </p:txBody>
      </p:sp>
      <p:sp>
        <p:nvSpPr>
          <p:cNvPr id="3" name="Text 1"/>
          <p:cNvSpPr/>
          <p:nvPr/>
        </p:nvSpPr>
        <p:spPr>
          <a:xfrm>
            <a:off x="548640" y="822960"/>
            <a:ext cx="6400800" cy="640080"/>
          </a:xfrm>
          <a:prstGeom prst="rect">
            <a:avLst/>
          </a:prstGeom>
          <a:noFill/>
        </p:spPr>
        <p:txBody>
          <a:bodyPr wrap="square" rtlCol="0" anchor="ctr"/>
          <a:lstStyle/>
          <a:p>
            <a:pPr marL="0" indent="0">
              <a:buNone/>
            </a:pPr>
            <a:r>
              <a:rPr lang="en-US" sz="3000" b="1" dirty="0">
                <a:solidFill>
                  <a:srgbClr val="1F2E40"/>
                </a:solidFill>
                <a:latin typeface="Cambria" panose="02040503050406030204" pitchFamily="34" charset="0"/>
                <a:ea typeface="Cambria" panose="02040503050406030204" pitchFamily="34" charset="-122"/>
                <a:cs typeface="Cambria" panose="02040503050406030204" pitchFamily="34" charset="-120"/>
              </a:rPr>
              <a:t>Introduction</a:t>
            </a:r>
            <a:endParaRPr lang="en-US" sz="3000" dirty="0"/>
          </a:p>
        </p:txBody>
      </p:sp>
      <p:sp>
        <p:nvSpPr>
          <p:cNvPr id="4" name="Text 2"/>
          <p:cNvSpPr/>
          <p:nvPr/>
        </p:nvSpPr>
        <p:spPr>
          <a:xfrm>
            <a:off x="548640" y="1600200"/>
            <a:ext cx="6492240" cy="2651760"/>
          </a:xfrm>
          <a:prstGeom prst="rect">
            <a:avLst/>
          </a:prstGeom>
          <a:noFill/>
        </p:spPr>
        <p:txBody>
          <a:bodyPr wrap="square" rtlCol="0" anchor="t"/>
          <a:lstStyle/>
          <a:p>
            <a:pPr marL="0" indent="0">
              <a:lnSpc>
                <a:spcPct val="130000"/>
              </a:lnSpc>
              <a:buNone/>
            </a:pPr>
            <a:r>
              <a:rPr lang="en-US" sz="1400" dirty="0">
                <a:solidFill>
                  <a:srgbClr val="2B2B2B"/>
                </a:solidFill>
                <a:latin typeface="Calibri" panose="020F0502020204030204" pitchFamily="34" charset="0"/>
                <a:ea typeface="Calibri" panose="020F0502020204030204" pitchFamily="34" charset="-122"/>
                <a:cs typeface="Calibri" panose="020F0502020204030204" pitchFamily="34" charset="-120"/>
              </a:rPr>
              <a:t>The Automated Question Bank Generation System is designed to automatically generate structured examination questions from textbooks, lecture notes, and educational resources. The system extracts important keywords, classifies questions into relevant topics, estimates question difficulty, and stores them in a searchable repository. It reduces manual effort while helping educators create organized question banks efficiently.</a:t>
            </a:r>
            <a:endParaRPr lang="en-US" sz="1400" dirty="0"/>
          </a:p>
        </p:txBody>
      </p:sp>
      <p:sp>
        <p:nvSpPr>
          <p:cNvPr id="5" name="Shape 3"/>
          <p:cNvSpPr/>
          <p:nvPr/>
        </p:nvSpPr>
        <p:spPr>
          <a:xfrm>
            <a:off x="7863840" y="0"/>
            <a:ext cx="4297680" cy="6858000"/>
          </a:xfrm>
          <a:prstGeom prst="rect">
            <a:avLst/>
          </a:prstGeom>
          <a:solidFill>
            <a:srgbClr val="E7EBF0"/>
          </a:solidFill>
        </p:spPr>
      </p:sp>
      <p:sp>
        <p:nvSpPr>
          <p:cNvPr id="6" name="Text 4"/>
          <p:cNvSpPr/>
          <p:nvPr/>
        </p:nvSpPr>
        <p:spPr>
          <a:xfrm>
            <a:off x="8321040" y="502920"/>
            <a:ext cx="3383280" cy="320040"/>
          </a:xfrm>
          <a:prstGeom prst="rect">
            <a:avLst/>
          </a:prstGeom>
          <a:noFill/>
        </p:spPr>
        <p:txBody>
          <a:bodyPr wrap="square" rtlCol="0" anchor="ctr"/>
          <a:lstStyle/>
          <a:p>
            <a:pPr marL="0" indent="0">
              <a:buNone/>
            </a:pPr>
            <a:r>
              <a:rPr lang="en-US" sz="1300" b="1" kern="0" spc="200" dirty="0">
                <a:solidFill>
                  <a:srgbClr val="E8604B"/>
                </a:solidFill>
                <a:latin typeface="Calibri" panose="020F0502020204030204" pitchFamily="34" charset="0"/>
                <a:ea typeface="Calibri" panose="020F0502020204030204" pitchFamily="34" charset="-122"/>
                <a:cs typeface="Calibri" panose="020F0502020204030204" pitchFamily="34" charset="-120"/>
              </a:rPr>
              <a:t>CORE FEATURES</a:t>
            </a:r>
            <a:endParaRPr lang="en-US" sz="1300" dirty="0"/>
          </a:p>
        </p:txBody>
      </p:sp>
      <p:sp>
        <p:nvSpPr>
          <p:cNvPr id="7" name="Shape 5"/>
          <p:cNvSpPr/>
          <p:nvPr/>
        </p:nvSpPr>
        <p:spPr>
          <a:xfrm>
            <a:off x="8321040" y="978408"/>
            <a:ext cx="292608" cy="292608"/>
          </a:xfrm>
          <a:prstGeom prst="ellipse">
            <a:avLst/>
          </a:prstGeom>
          <a:solidFill>
            <a:srgbClr val="E8604B"/>
          </a:solidFill>
        </p:spPr>
      </p:sp>
      <p:sp>
        <p:nvSpPr>
          <p:cNvPr id="8" name="Text 6"/>
          <p:cNvSpPr/>
          <p:nvPr/>
        </p:nvSpPr>
        <p:spPr>
          <a:xfrm>
            <a:off x="8321040" y="978408"/>
            <a:ext cx="292608" cy="292608"/>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50" dirty="0"/>
          </a:p>
        </p:txBody>
      </p:sp>
      <p:sp>
        <p:nvSpPr>
          <p:cNvPr id="9" name="Text 7"/>
          <p:cNvSpPr/>
          <p:nvPr/>
        </p:nvSpPr>
        <p:spPr>
          <a:xfrm>
            <a:off x="8759952" y="932688"/>
            <a:ext cx="3246120" cy="292608"/>
          </a:xfrm>
          <a:prstGeom prst="rect">
            <a:avLst/>
          </a:prstGeom>
          <a:noFill/>
        </p:spPr>
        <p:txBody>
          <a:bodyPr wrap="square" rtlCol="0" anchor="ctr"/>
          <a:lstStyle/>
          <a:p>
            <a:pPr marL="0" indent="0">
              <a:buNone/>
            </a:pPr>
            <a:r>
              <a:rPr lang="en-US" sz="1350" b="1" dirty="0">
                <a:solidFill>
                  <a:srgbClr val="1F2E40"/>
                </a:solidFill>
                <a:latin typeface="Calibri" panose="020F0502020204030204" pitchFamily="34" charset="0"/>
                <a:ea typeface="Calibri" panose="020F0502020204030204" pitchFamily="34" charset="-122"/>
                <a:cs typeface="Calibri" panose="020F0502020204030204" pitchFamily="34" charset="-120"/>
              </a:rPr>
              <a:t>Keyword Extraction</a:t>
            </a:r>
            <a:endParaRPr lang="en-US" sz="1350" dirty="0"/>
          </a:p>
        </p:txBody>
      </p:sp>
      <p:sp>
        <p:nvSpPr>
          <p:cNvPr id="10" name="Text 8"/>
          <p:cNvSpPr/>
          <p:nvPr/>
        </p:nvSpPr>
        <p:spPr>
          <a:xfrm>
            <a:off x="8759952" y="1216152"/>
            <a:ext cx="3291840" cy="502920"/>
          </a:xfrm>
          <a:prstGeom prst="rect">
            <a:avLst/>
          </a:prstGeom>
          <a:noFill/>
        </p:spPr>
        <p:txBody>
          <a:bodyPr wrap="square" rtlCol="0" anchor="t"/>
          <a:lstStyle/>
          <a:p>
            <a:pPr marL="0" indent="0">
              <a:lnSpc>
                <a:spcPct val="115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Identifies important keywords and concepts from educational content automatically.</a:t>
            </a:r>
            <a:endParaRPr lang="en-US" sz="1050" dirty="0"/>
          </a:p>
        </p:txBody>
      </p:sp>
      <p:sp>
        <p:nvSpPr>
          <p:cNvPr id="11" name="Shape 9"/>
          <p:cNvSpPr/>
          <p:nvPr/>
        </p:nvSpPr>
        <p:spPr>
          <a:xfrm>
            <a:off x="8321040" y="1984248"/>
            <a:ext cx="292608" cy="292608"/>
          </a:xfrm>
          <a:prstGeom prst="ellipse">
            <a:avLst/>
          </a:prstGeom>
          <a:solidFill>
            <a:srgbClr val="E8604B"/>
          </a:solidFill>
        </p:spPr>
      </p:sp>
      <p:sp>
        <p:nvSpPr>
          <p:cNvPr id="12" name="Text 10"/>
          <p:cNvSpPr/>
          <p:nvPr/>
        </p:nvSpPr>
        <p:spPr>
          <a:xfrm>
            <a:off x="8321040" y="1984248"/>
            <a:ext cx="292608" cy="292608"/>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50" dirty="0"/>
          </a:p>
        </p:txBody>
      </p:sp>
      <p:sp>
        <p:nvSpPr>
          <p:cNvPr id="13" name="Text 11"/>
          <p:cNvSpPr/>
          <p:nvPr/>
        </p:nvSpPr>
        <p:spPr>
          <a:xfrm>
            <a:off x="8759952" y="1938528"/>
            <a:ext cx="3246120" cy="292608"/>
          </a:xfrm>
          <a:prstGeom prst="rect">
            <a:avLst/>
          </a:prstGeom>
          <a:noFill/>
        </p:spPr>
        <p:txBody>
          <a:bodyPr wrap="square" rtlCol="0" anchor="ctr"/>
          <a:lstStyle/>
          <a:p>
            <a:pPr marL="0" indent="0">
              <a:buNone/>
            </a:pPr>
            <a:r>
              <a:rPr lang="en-US" sz="1350" b="1" dirty="0">
                <a:solidFill>
                  <a:srgbClr val="1F2E40"/>
                </a:solidFill>
                <a:latin typeface="Calibri" panose="020F0502020204030204" pitchFamily="34" charset="0"/>
                <a:ea typeface="Calibri" panose="020F0502020204030204" pitchFamily="34" charset="-122"/>
                <a:cs typeface="Calibri" panose="020F0502020204030204" pitchFamily="34" charset="-120"/>
              </a:rPr>
              <a:t>Topic Classification</a:t>
            </a:r>
            <a:endParaRPr lang="en-US" sz="1350" dirty="0"/>
          </a:p>
        </p:txBody>
      </p:sp>
      <p:sp>
        <p:nvSpPr>
          <p:cNvPr id="14" name="Text 12"/>
          <p:cNvSpPr/>
          <p:nvPr/>
        </p:nvSpPr>
        <p:spPr>
          <a:xfrm>
            <a:off x="8759952" y="2221992"/>
            <a:ext cx="3291840" cy="502920"/>
          </a:xfrm>
          <a:prstGeom prst="rect">
            <a:avLst/>
          </a:prstGeom>
          <a:noFill/>
        </p:spPr>
        <p:txBody>
          <a:bodyPr wrap="square" rtlCol="0" anchor="t"/>
          <a:lstStyle/>
          <a:p>
            <a:pPr marL="0" indent="0">
              <a:lnSpc>
                <a:spcPct val="115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Groups extracted content into relevant subjects and chapters.</a:t>
            </a:r>
            <a:endParaRPr lang="en-US" sz="1050" dirty="0"/>
          </a:p>
        </p:txBody>
      </p:sp>
      <p:sp>
        <p:nvSpPr>
          <p:cNvPr id="15" name="Shape 13"/>
          <p:cNvSpPr/>
          <p:nvPr/>
        </p:nvSpPr>
        <p:spPr>
          <a:xfrm>
            <a:off x="8321040" y="2990088"/>
            <a:ext cx="292608" cy="292608"/>
          </a:xfrm>
          <a:prstGeom prst="ellipse">
            <a:avLst/>
          </a:prstGeom>
          <a:solidFill>
            <a:srgbClr val="E8604B"/>
          </a:solidFill>
        </p:spPr>
      </p:sp>
      <p:sp>
        <p:nvSpPr>
          <p:cNvPr id="16" name="Text 14"/>
          <p:cNvSpPr/>
          <p:nvPr/>
        </p:nvSpPr>
        <p:spPr>
          <a:xfrm>
            <a:off x="8321040" y="2990088"/>
            <a:ext cx="292608" cy="292608"/>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50" dirty="0"/>
          </a:p>
        </p:txBody>
      </p:sp>
      <p:sp>
        <p:nvSpPr>
          <p:cNvPr id="17" name="Text 15"/>
          <p:cNvSpPr/>
          <p:nvPr/>
        </p:nvSpPr>
        <p:spPr>
          <a:xfrm>
            <a:off x="8759952" y="2944368"/>
            <a:ext cx="3246120" cy="292608"/>
          </a:xfrm>
          <a:prstGeom prst="rect">
            <a:avLst/>
          </a:prstGeom>
          <a:noFill/>
        </p:spPr>
        <p:txBody>
          <a:bodyPr wrap="square" rtlCol="0" anchor="ctr"/>
          <a:lstStyle/>
          <a:p>
            <a:pPr marL="0" indent="0">
              <a:buNone/>
            </a:pPr>
            <a:r>
              <a:rPr lang="en-US" sz="1350" b="1" dirty="0">
                <a:solidFill>
                  <a:srgbClr val="1F2E40"/>
                </a:solidFill>
                <a:latin typeface="Calibri" panose="020F0502020204030204" pitchFamily="34" charset="0"/>
                <a:ea typeface="Calibri" panose="020F0502020204030204" pitchFamily="34" charset="-122"/>
                <a:cs typeface="Calibri" panose="020F0502020204030204" pitchFamily="34" charset="-120"/>
              </a:rPr>
              <a:t>Question Categorization</a:t>
            </a:r>
            <a:endParaRPr lang="en-US" sz="1350" dirty="0"/>
          </a:p>
        </p:txBody>
      </p:sp>
      <p:sp>
        <p:nvSpPr>
          <p:cNvPr id="18" name="Text 16"/>
          <p:cNvSpPr/>
          <p:nvPr/>
        </p:nvSpPr>
        <p:spPr>
          <a:xfrm>
            <a:off x="8759952" y="3227832"/>
            <a:ext cx="3291840" cy="502920"/>
          </a:xfrm>
          <a:prstGeom prst="rect">
            <a:avLst/>
          </a:prstGeom>
          <a:noFill/>
        </p:spPr>
        <p:txBody>
          <a:bodyPr wrap="square" rtlCol="0" anchor="t"/>
          <a:lstStyle/>
          <a:p>
            <a:pPr marL="0" indent="0">
              <a:lnSpc>
                <a:spcPct val="115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Organizes generated questions into meaningful categories for easy access.</a:t>
            </a:r>
            <a:endParaRPr lang="en-US" sz="1050" dirty="0"/>
          </a:p>
        </p:txBody>
      </p:sp>
      <p:sp>
        <p:nvSpPr>
          <p:cNvPr id="19" name="Shape 17"/>
          <p:cNvSpPr/>
          <p:nvPr/>
        </p:nvSpPr>
        <p:spPr>
          <a:xfrm>
            <a:off x="8321040" y="3995928"/>
            <a:ext cx="292608" cy="292608"/>
          </a:xfrm>
          <a:prstGeom prst="ellipse">
            <a:avLst/>
          </a:prstGeom>
          <a:solidFill>
            <a:srgbClr val="E8604B"/>
          </a:solidFill>
        </p:spPr>
      </p:sp>
      <p:sp>
        <p:nvSpPr>
          <p:cNvPr id="20" name="Text 18"/>
          <p:cNvSpPr/>
          <p:nvPr/>
        </p:nvSpPr>
        <p:spPr>
          <a:xfrm>
            <a:off x="8321040" y="3995928"/>
            <a:ext cx="292608" cy="292608"/>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50" dirty="0"/>
          </a:p>
        </p:txBody>
      </p:sp>
      <p:sp>
        <p:nvSpPr>
          <p:cNvPr id="21" name="Text 19"/>
          <p:cNvSpPr/>
          <p:nvPr/>
        </p:nvSpPr>
        <p:spPr>
          <a:xfrm>
            <a:off x="8759952" y="3950208"/>
            <a:ext cx="3246120" cy="292608"/>
          </a:xfrm>
          <a:prstGeom prst="rect">
            <a:avLst/>
          </a:prstGeom>
          <a:noFill/>
        </p:spPr>
        <p:txBody>
          <a:bodyPr wrap="square" rtlCol="0" anchor="ctr"/>
          <a:lstStyle/>
          <a:p>
            <a:pPr marL="0" indent="0">
              <a:buNone/>
            </a:pPr>
            <a:r>
              <a:rPr lang="en-US" sz="1350" b="1" dirty="0">
                <a:solidFill>
                  <a:srgbClr val="1F2E40"/>
                </a:solidFill>
                <a:latin typeface="Calibri" panose="020F0502020204030204" pitchFamily="34" charset="0"/>
                <a:ea typeface="Calibri" panose="020F0502020204030204" pitchFamily="34" charset="-122"/>
                <a:cs typeface="Calibri" panose="020F0502020204030204" pitchFamily="34" charset="-120"/>
              </a:rPr>
              <a:t>Difficulty Estimation</a:t>
            </a:r>
            <a:endParaRPr lang="en-US" sz="1350" dirty="0"/>
          </a:p>
        </p:txBody>
      </p:sp>
      <p:sp>
        <p:nvSpPr>
          <p:cNvPr id="22" name="Text 20"/>
          <p:cNvSpPr/>
          <p:nvPr/>
        </p:nvSpPr>
        <p:spPr>
          <a:xfrm>
            <a:off x="8759952" y="4233672"/>
            <a:ext cx="3291840" cy="502920"/>
          </a:xfrm>
          <a:prstGeom prst="rect">
            <a:avLst/>
          </a:prstGeom>
          <a:noFill/>
        </p:spPr>
        <p:txBody>
          <a:bodyPr wrap="square" rtlCol="0" anchor="t"/>
          <a:lstStyle/>
          <a:p>
            <a:pPr marL="0" indent="0">
              <a:lnSpc>
                <a:spcPct val="115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Classifies questions as Easy, Medium, or Hard based on predefined criteria.</a:t>
            </a:r>
            <a:endParaRPr lang="en-US" sz="1050" dirty="0"/>
          </a:p>
        </p:txBody>
      </p:sp>
      <p:sp>
        <p:nvSpPr>
          <p:cNvPr id="23" name="Shape 21"/>
          <p:cNvSpPr/>
          <p:nvPr/>
        </p:nvSpPr>
        <p:spPr>
          <a:xfrm>
            <a:off x="8321040" y="5001768"/>
            <a:ext cx="292608" cy="292608"/>
          </a:xfrm>
          <a:prstGeom prst="ellipse">
            <a:avLst/>
          </a:prstGeom>
          <a:solidFill>
            <a:srgbClr val="E8604B"/>
          </a:solidFill>
        </p:spPr>
      </p:sp>
      <p:sp>
        <p:nvSpPr>
          <p:cNvPr id="24" name="Text 22"/>
          <p:cNvSpPr/>
          <p:nvPr/>
        </p:nvSpPr>
        <p:spPr>
          <a:xfrm>
            <a:off x="8321040" y="5001768"/>
            <a:ext cx="292608" cy="292608"/>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50" dirty="0"/>
          </a:p>
        </p:txBody>
      </p:sp>
      <p:sp>
        <p:nvSpPr>
          <p:cNvPr id="25" name="Text 23"/>
          <p:cNvSpPr/>
          <p:nvPr/>
        </p:nvSpPr>
        <p:spPr>
          <a:xfrm>
            <a:off x="8759952" y="4956048"/>
            <a:ext cx="3246120" cy="292608"/>
          </a:xfrm>
          <a:prstGeom prst="rect">
            <a:avLst/>
          </a:prstGeom>
          <a:noFill/>
        </p:spPr>
        <p:txBody>
          <a:bodyPr wrap="square" rtlCol="0" anchor="ctr"/>
          <a:lstStyle/>
          <a:p>
            <a:pPr marL="0" indent="0">
              <a:buNone/>
            </a:pPr>
            <a:r>
              <a:rPr lang="en-US" sz="1350" b="1" dirty="0">
                <a:solidFill>
                  <a:srgbClr val="1F2E40"/>
                </a:solidFill>
                <a:latin typeface="Calibri" panose="020F0502020204030204" pitchFamily="34" charset="0"/>
                <a:ea typeface="Calibri" panose="020F0502020204030204" pitchFamily="34" charset="-122"/>
                <a:cs typeface="Calibri" panose="020F0502020204030204" pitchFamily="34" charset="-120"/>
              </a:rPr>
              <a:t>Searchable Repository</a:t>
            </a:r>
            <a:endParaRPr lang="en-US" sz="1350" dirty="0"/>
          </a:p>
        </p:txBody>
      </p:sp>
      <p:sp>
        <p:nvSpPr>
          <p:cNvPr id="26" name="Text 24"/>
          <p:cNvSpPr/>
          <p:nvPr/>
        </p:nvSpPr>
        <p:spPr>
          <a:xfrm>
            <a:off x="8759952" y="5239512"/>
            <a:ext cx="3291840" cy="502920"/>
          </a:xfrm>
          <a:prstGeom prst="rect">
            <a:avLst/>
          </a:prstGeom>
          <a:noFill/>
        </p:spPr>
        <p:txBody>
          <a:bodyPr wrap="square" rtlCol="0" anchor="t"/>
          <a:lstStyle/>
          <a:p>
            <a:pPr marL="0" indent="0">
              <a:lnSpc>
                <a:spcPct val="115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Stores all generated questions in a searchable database for quick retrieval.</a:t>
            </a:r>
            <a:endParaRPr lang="en-US" sz="1050" dirty="0"/>
          </a:p>
        </p:txBody>
      </p:sp>
      <p:sp>
        <p:nvSpPr>
          <p:cNvPr id="27" name="Text 25"/>
          <p:cNvSpPr/>
          <p:nvPr/>
        </p:nvSpPr>
        <p:spPr>
          <a:xfrm>
            <a:off x="11521440" y="6446520"/>
            <a:ext cx="457200" cy="320040"/>
          </a:xfrm>
          <a:prstGeom prst="rect">
            <a:avLst/>
          </a:prstGeom>
          <a:noFill/>
        </p:spPr>
        <p:txBody>
          <a:bodyPr wrap="square" rtlCol="0" anchor="ctr"/>
          <a:lstStyle/>
          <a:p>
            <a:pPr marL="0" indent="0" algn="r">
              <a:buNone/>
            </a:pPr>
            <a:r>
              <a:rPr lang="en-US" sz="1100" dirty="0">
                <a:solidFill>
                  <a:srgbClr val="5A6472"/>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BF0"/>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300" b="1" kern="0" spc="300" dirty="0">
                <a:solidFill>
                  <a:srgbClr val="E8604B"/>
                </a:solidFill>
                <a:latin typeface="Calibri" panose="020F0502020204030204" pitchFamily="34" charset="0"/>
                <a:ea typeface="Calibri" panose="020F0502020204030204" pitchFamily="34" charset="-122"/>
                <a:cs typeface="Calibri" panose="020F0502020204030204" pitchFamily="34" charset="-120"/>
              </a:rPr>
              <a:t>OUR TEAM</a:t>
            </a:r>
            <a:endParaRPr lang="en-US" sz="1300" dirty="0"/>
          </a:p>
        </p:txBody>
      </p:sp>
      <p:sp>
        <p:nvSpPr>
          <p:cNvPr id="3" name="Text 1"/>
          <p:cNvSpPr/>
          <p:nvPr/>
        </p:nvSpPr>
        <p:spPr>
          <a:xfrm>
            <a:off x="548640" y="822960"/>
            <a:ext cx="9144000" cy="640080"/>
          </a:xfrm>
          <a:prstGeom prst="rect">
            <a:avLst/>
          </a:prstGeom>
          <a:noFill/>
        </p:spPr>
        <p:txBody>
          <a:bodyPr wrap="square" rtlCol="0" anchor="ctr"/>
          <a:lstStyle/>
          <a:p>
            <a:pPr marL="0" indent="0">
              <a:buNone/>
            </a:pPr>
            <a:r>
              <a:rPr lang="en-US" sz="3000" b="1" dirty="0">
                <a:solidFill>
                  <a:srgbClr val="1F2E40"/>
                </a:solidFill>
                <a:latin typeface="Cambria" panose="02040503050406030204" pitchFamily="34" charset="0"/>
                <a:ea typeface="Cambria" panose="02040503050406030204" pitchFamily="34" charset="-122"/>
                <a:cs typeface="Cambria" panose="02040503050406030204" pitchFamily="34" charset="-120"/>
              </a:rPr>
              <a:t>Team Roles &amp; Responsibilities</a:t>
            </a:r>
            <a:endParaRPr lang="en-US" sz="3000" dirty="0"/>
          </a:p>
        </p:txBody>
      </p:sp>
      <p:sp>
        <p:nvSpPr>
          <p:cNvPr id="4" name="Shape 2"/>
          <p:cNvSpPr/>
          <p:nvPr/>
        </p:nvSpPr>
        <p:spPr>
          <a:xfrm>
            <a:off x="548640" y="1783080"/>
            <a:ext cx="2606040" cy="4023360"/>
          </a:xfrm>
          <a:prstGeom prst="roundRect">
            <a:avLst>
              <a:gd name="adj" fmla="val 2105"/>
            </a:avLst>
          </a:prstGeom>
          <a:solidFill>
            <a:srgbClr val="FFFFFF"/>
          </a:solidFill>
          <a:effectLst>
            <a:outerShdw blurRad="101600" dist="38100" dir="5400000" algn="bl" rotWithShape="0">
              <a:srgbClr val="8A94A0">
                <a:alpha val="25000"/>
              </a:srgbClr>
            </a:outerShdw>
          </a:effectLst>
        </p:spPr>
      </p:sp>
      <p:sp>
        <p:nvSpPr>
          <p:cNvPr id="5" name="Shape 3"/>
          <p:cNvSpPr/>
          <p:nvPr/>
        </p:nvSpPr>
        <p:spPr>
          <a:xfrm>
            <a:off x="777240" y="2057400"/>
            <a:ext cx="548640" cy="548640"/>
          </a:xfrm>
          <a:prstGeom prst="roundRect">
            <a:avLst>
              <a:gd name="adj" fmla="val 83333"/>
            </a:avLst>
          </a:prstGeom>
          <a:solidFill>
            <a:srgbClr val="E8604B"/>
          </a:solidFill>
        </p:spPr>
      </p:sp>
      <p:sp>
        <p:nvSpPr>
          <p:cNvPr id="6" name="Text 4"/>
          <p:cNvSpPr/>
          <p:nvPr/>
        </p:nvSpPr>
        <p:spPr>
          <a:xfrm>
            <a:off x="777240" y="2057400"/>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7" name="Text 5"/>
          <p:cNvSpPr/>
          <p:nvPr/>
        </p:nvSpPr>
        <p:spPr>
          <a:xfrm>
            <a:off x="777240" y="2743200"/>
            <a:ext cx="2148840" cy="365760"/>
          </a:xfrm>
          <a:prstGeom prst="rect">
            <a:avLst/>
          </a:prstGeom>
          <a:noFill/>
        </p:spPr>
        <p:txBody>
          <a:bodyPr wrap="square" rtlCol="0" anchor="ctr"/>
          <a:lstStyle/>
          <a:p>
            <a:pPr marL="0" indent="0">
              <a:buNone/>
            </a:pPr>
            <a:r>
              <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rPr>
              <a:t>Jaswanth</a:t>
            </a:r>
            <a:endPar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endParaRPr>
          </a:p>
        </p:txBody>
      </p:sp>
      <p:sp>
        <p:nvSpPr>
          <p:cNvPr id="8" name="Text 6"/>
          <p:cNvSpPr/>
          <p:nvPr/>
        </p:nvSpPr>
        <p:spPr>
          <a:xfrm>
            <a:off x="777240" y="3108960"/>
            <a:ext cx="2148840" cy="548640"/>
          </a:xfrm>
          <a:prstGeom prst="rect">
            <a:avLst/>
          </a:prstGeom>
          <a:noFill/>
        </p:spPr>
        <p:txBody>
          <a:bodyPr wrap="square" rtlCol="0" anchor="ctr"/>
          <a:lstStyle/>
          <a:p>
            <a:pPr marL="0" indent="0">
              <a:buNone/>
            </a:pPr>
            <a:r>
              <a:rPr lang="en-US" sz="1250" b="1" i="1" dirty="0">
                <a:solidFill>
                  <a:srgbClr val="E8604B"/>
                </a:solidFill>
                <a:latin typeface="Calibri" panose="020F0502020204030204" pitchFamily="34" charset="0"/>
                <a:ea typeface="Calibri" panose="020F0502020204030204" pitchFamily="34" charset="-122"/>
                <a:cs typeface="Calibri" panose="020F0502020204030204" pitchFamily="34" charset="-120"/>
              </a:rPr>
              <a:t>Backend Development</a:t>
            </a:r>
            <a:endParaRPr lang="en-US" sz="1250" dirty="0"/>
          </a:p>
        </p:txBody>
      </p:sp>
      <p:sp>
        <p:nvSpPr>
          <p:cNvPr id="9" name="Text 7"/>
          <p:cNvSpPr/>
          <p:nvPr/>
        </p:nvSpPr>
        <p:spPr>
          <a:xfrm>
            <a:off x="777240" y="3703320"/>
            <a:ext cx="2148840" cy="1920240"/>
          </a:xfrm>
          <a:prstGeom prst="rect">
            <a:avLst/>
          </a:prstGeom>
          <a:noFill/>
        </p:spPr>
        <p:txBody>
          <a:bodyPr wrap="square" rtlCol="0" anchor="t"/>
          <a:lstStyle/>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Spring Boot APIs</a:t>
            </a:r>
            <a:endParaRPr lang="en-US" sz="1250" dirty="0"/>
          </a:p>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Business Logic</a:t>
            </a:r>
            <a:endParaRPr lang="en-US" sz="1250" dirty="0"/>
          </a:p>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DSA Implementation</a:t>
            </a:r>
            <a:endParaRPr lang="en-US" sz="1250" dirty="0"/>
          </a:p>
        </p:txBody>
      </p:sp>
      <p:sp>
        <p:nvSpPr>
          <p:cNvPr id="10" name="Shape 8"/>
          <p:cNvSpPr/>
          <p:nvPr/>
        </p:nvSpPr>
        <p:spPr>
          <a:xfrm>
            <a:off x="3410712" y="1783080"/>
            <a:ext cx="2606040" cy="4023360"/>
          </a:xfrm>
          <a:prstGeom prst="roundRect">
            <a:avLst>
              <a:gd name="adj" fmla="val 2105"/>
            </a:avLst>
          </a:prstGeom>
          <a:solidFill>
            <a:srgbClr val="FFFFFF"/>
          </a:solidFill>
          <a:effectLst>
            <a:outerShdw blurRad="101600" dist="38100" dir="5400000" algn="bl" rotWithShape="0">
              <a:srgbClr val="8A94A0">
                <a:alpha val="25000"/>
              </a:srgbClr>
            </a:outerShdw>
          </a:effectLst>
        </p:spPr>
      </p:sp>
      <p:sp>
        <p:nvSpPr>
          <p:cNvPr id="11" name="Shape 9"/>
          <p:cNvSpPr/>
          <p:nvPr/>
        </p:nvSpPr>
        <p:spPr>
          <a:xfrm>
            <a:off x="3639312" y="2057400"/>
            <a:ext cx="548640" cy="548640"/>
          </a:xfrm>
          <a:prstGeom prst="roundRect">
            <a:avLst>
              <a:gd name="adj" fmla="val 83333"/>
            </a:avLst>
          </a:prstGeom>
          <a:solidFill>
            <a:srgbClr val="E8604B"/>
          </a:solidFill>
        </p:spPr>
      </p:sp>
      <p:sp>
        <p:nvSpPr>
          <p:cNvPr id="12" name="Text 10"/>
          <p:cNvSpPr/>
          <p:nvPr/>
        </p:nvSpPr>
        <p:spPr>
          <a:xfrm>
            <a:off x="3639312" y="2057400"/>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3" name="Text 11"/>
          <p:cNvSpPr/>
          <p:nvPr/>
        </p:nvSpPr>
        <p:spPr>
          <a:xfrm>
            <a:off x="3639312" y="2743200"/>
            <a:ext cx="2148840" cy="365760"/>
          </a:xfrm>
          <a:prstGeom prst="rect">
            <a:avLst/>
          </a:prstGeom>
          <a:noFill/>
        </p:spPr>
        <p:txBody>
          <a:bodyPr wrap="square" rtlCol="0" anchor="ctr"/>
          <a:lstStyle/>
          <a:p>
            <a:pPr marL="0" indent="0">
              <a:buNone/>
            </a:pPr>
            <a:r>
              <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rPr>
              <a:t>Krishna</a:t>
            </a:r>
            <a:endPar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endParaRPr>
          </a:p>
        </p:txBody>
      </p:sp>
      <p:sp>
        <p:nvSpPr>
          <p:cNvPr id="14" name="Text 12"/>
          <p:cNvSpPr/>
          <p:nvPr/>
        </p:nvSpPr>
        <p:spPr>
          <a:xfrm>
            <a:off x="3639312" y="3108960"/>
            <a:ext cx="2148840" cy="548640"/>
          </a:xfrm>
          <a:prstGeom prst="rect">
            <a:avLst/>
          </a:prstGeom>
          <a:noFill/>
        </p:spPr>
        <p:txBody>
          <a:bodyPr wrap="square" rtlCol="0" anchor="ctr"/>
          <a:lstStyle/>
          <a:p>
            <a:pPr marL="0" indent="0">
              <a:buNone/>
            </a:pPr>
            <a:r>
              <a:rPr lang="en-US" sz="1250" b="1" i="1" dirty="0">
                <a:solidFill>
                  <a:srgbClr val="E8604B"/>
                </a:solidFill>
                <a:latin typeface="Calibri" panose="020F0502020204030204" pitchFamily="34" charset="0"/>
                <a:ea typeface="Calibri" panose="020F0502020204030204" pitchFamily="34" charset="-122"/>
                <a:cs typeface="Calibri" panose="020F0502020204030204" pitchFamily="34" charset="-120"/>
              </a:rPr>
              <a:t>Frontend Development</a:t>
            </a:r>
            <a:endParaRPr lang="en-US" sz="1250" dirty="0"/>
          </a:p>
        </p:txBody>
      </p:sp>
      <p:sp>
        <p:nvSpPr>
          <p:cNvPr id="15" name="Text 13"/>
          <p:cNvSpPr/>
          <p:nvPr/>
        </p:nvSpPr>
        <p:spPr>
          <a:xfrm>
            <a:off x="3639312" y="3703320"/>
            <a:ext cx="2148840" cy="1920240"/>
          </a:xfrm>
          <a:prstGeom prst="rect">
            <a:avLst/>
          </a:prstGeom>
          <a:noFill/>
        </p:spPr>
        <p:txBody>
          <a:bodyPr wrap="square" rtlCol="0" anchor="t"/>
          <a:lstStyle/>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User Interface</a:t>
            </a:r>
            <a:endParaRPr lang="en-US" sz="1250" dirty="0"/>
          </a:p>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Dashboard Design</a:t>
            </a:r>
            <a:endParaRPr lang="en-US" sz="1250" dirty="0"/>
          </a:p>
        </p:txBody>
      </p:sp>
      <p:sp>
        <p:nvSpPr>
          <p:cNvPr id="16" name="Shape 14"/>
          <p:cNvSpPr/>
          <p:nvPr/>
        </p:nvSpPr>
        <p:spPr>
          <a:xfrm>
            <a:off x="6272784" y="1783080"/>
            <a:ext cx="2606040" cy="4023360"/>
          </a:xfrm>
          <a:prstGeom prst="roundRect">
            <a:avLst>
              <a:gd name="adj" fmla="val 2105"/>
            </a:avLst>
          </a:prstGeom>
          <a:solidFill>
            <a:srgbClr val="FFFFFF"/>
          </a:solidFill>
          <a:effectLst>
            <a:outerShdw blurRad="101600" dist="38100" dir="5400000" algn="bl" rotWithShape="0">
              <a:srgbClr val="8A94A0">
                <a:alpha val="25000"/>
              </a:srgbClr>
            </a:outerShdw>
          </a:effectLst>
        </p:spPr>
      </p:sp>
      <p:sp>
        <p:nvSpPr>
          <p:cNvPr id="17" name="Shape 15"/>
          <p:cNvSpPr/>
          <p:nvPr/>
        </p:nvSpPr>
        <p:spPr>
          <a:xfrm>
            <a:off x="6501384" y="2057400"/>
            <a:ext cx="548640" cy="548640"/>
          </a:xfrm>
          <a:prstGeom prst="roundRect">
            <a:avLst>
              <a:gd name="adj" fmla="val 83333"/>
            </a:avLst>
          </a:prstGeom>
          <a:solidFill>
            <a:srgbClr val="E8604B"/>
          </a:solidFill>
        </p:spPr>
      </p:sp>
      <p:sp>
        <p:nvSpPr>
          <p:cNvPr id="18" name="Text 16"/>
          <p:cNvSpPr/>
          <p:nvPr/>
        </p:nvSpPr>
        <p:spPr>
          <a:xfrm>
            <a:off x="6501384" y="2057400"/>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9" name="Text 17"/>
          <p:cNvSpPr/>
          <p:nvPr/>
        </p:nvSpPr>
        <p:spPr>
          <a:xfrm>
            <a:off x="6501384" y="2743200"/>
            <a:ext cx="2148840" cy="365760"/>
          </a:xfrm>
          <a:prstGeom prst="rect">
            <a:avLst/>
          </a:prstGeom>
          <a:noFill/>
        </p:spPr>
        <p:txBody>
          <a:bodyPr wrap="square" rtlCol="0" anchor="ctr"/>
          <a:lstStyle/>
          <a:p>
            <a:pPr marL="0" indent="0">
              <a:buNone/>
            </a:pPr>
            <a:r>
              <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rPr>
              <a:t>Pradeep</a:t>
            </a:r>
            <a:endPar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endParaRPr>
          </a:p>
        </p:txBody>
      </p:sp>
      <p:sp>
        <p:nvSpPr>
          <p:cNvPr id="20" name="Text 18"/>
          <p:cNvSpPr/>
          <p:nvPr/>
        </p:nvSpPr>
        <p:spPr>
          <a:xfrm>
            <a:off x="6501384" y="3108960"/>
            <a:ext cx="2148840" cy="548640"/>
          </a:xfrm>
          <a:prstGeom prst="rect">
            <a:avLst/>
          </a:prstGeom>
          <a:noFill/>
        </p:spPr>
        <p:txBody>
          <a:bodyPr wrap="square" rtlCol="0" anchor="ctr"/>
          <a:lstStyle/>
          <a:p>
            <a:pPr marL="0" indent="0">
              <a:buNone/>
            </a:pPr>
            <a:r>
              <a:rPr lang="en-US" sz="1250" b="1" i="1" dirty="0">
                <a:solidFill>
                  <a:srgbClr val="E8604B"/>
                </a:solidFill>
                <a:latin typeface="Calibri" panose="020F0502020204030204" pitchFamily="34" charset="0"/>
                <a:ea typeface="Calibri" panose="020F0502020204030204" pitchFamily="34" charset="-122"/>
                <a:cs typeface="Calibri" panose="020F0502020204030204" pitchFamily="34" charset="-120"/>
              </a:rPr>
              <a:t>Database Management</a:t>
            </a:r>
            <a:endParaRPr lang="en-US" sz="1250" dirty="0"/>
          </a:p>
        </p:txBody>
      </p:sp>
      <p:sp>
        <p:nvSpPr>
          <p:cNvPr id="21" name="Text 19"/>
          <p:cNvSpPr/>
          <p:nvPr/>
        </p:nvSpPr>
        <p:spPr>
          <a:xfrm>
            <a:off x="6501384" y="3703320"/>
            <a:ext cx="2148840" cy="1920240"/>
          </a:xfrm>
          <a:prstGeom prst="rect">
            <a:avLst/>
          </a:prstGeom>
          <a:noFill/>
        </p:spPr>
        <p:txBody>
          <a:bodyPr wrap="square" rtlCol="0" anchor="t"/>
          <a:lstStyle/>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MySQL Database</a:t>
            </a:r>
            <a:endParaRPr lang="en-US" sz="1250" dirty="0"/>
          </a:p>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Data Integration</a:t>
            </a:r>
            <a:endParaRPr lang="en-US" sz="1250" dirty="0"/>
          </a:p>
        </p:txBody>
      </p:sp>
      <p:sp>
        <p:nvSpPr>
          <p:cNvPr id="22" name="Shape 20"/>
          <p:cNvSpPr/>
          <p:nvPr/>
        </p:nvSpPr>
        <p:spPr>
          <a:xfrm>
            <a:off x="9134856" y="1783080"/>
            <a:ext cx="2606040" cy="4023360"/>
          </a:xfrm>
          <a:prstGeom prst="roundRect">
            <a:avLst>
              <a:gd name="adj" fmla="val 2105"/>
            </a:avLst>
          </a:prstGeom>
          <a:solidFill>
            <a:srgbClr val="FFFFFF"/>
          </a:solidFill>
          <a:effectLst>
            <a:outerShdw blurRad="101600" dist="38100" dir="5400000" algn="bl" rotWithShape="0">
              <a:srgbClr val="8A94A0">
                <a:alpha val="25000"/>
              </a:srgbClr>
            </a:outerShdw>
          </a:effectLst>
        </p:spPr>
      </p:sp>
      <p:sp>
        <p:nvSpPr>
          <p:cNvPr id="23" name="Shape 21"/>
          <p:cNvSpPr/>
          <p:nvPr/>
        </p:nvSpPr>
        <p:spPr>
          <a:xfrm>
            <a:off x="9363456" y="2057400"/>
            <a:ext cx="548640" cy="548640"/>
          </a:xfrm>
          <a:prstGeom prst="roundRect">
            <a:avLst>
              <a:gd name="adj" fmla="val 83333"/>
            </a:avLst>
          </a:prstGeom>
          <a:solidFill>
            <a:srgbClr val="E8604B"/>
          </a:solidFill>
        </p:spPr>
      </p:sp>
      <p:sp>
        <p:nvSpPr>
          <p:cNvPr id="24" name="Text 22"/>
          <p:cNvSpPr/>
          <p:nvPr/>
        </p:nvSpPr>
        <p:spPr>
          <a:xfrm>
            <a:off x="9363456" y="2057400"/>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5" name="Text 23"/>
          <p:cNvSpPr/>
          <p:nvPr/>
        </p:nvSpPr>
        <p:spPr>
          <a:xfrm>
            <a:off x="9363456" y="2743200"/>
            <a:ext cx="2148840" cy="365760"/>
          </a:xfrm>
          <a:prstGeom prst="rect">
            <a:avLst/>
          </a:prstGeom>
          <a:noFill/>
        </p:spPr>
        <p:txBody>
          <a:bodyPr wrap="square" rtlCol="0" anchor="ctr"/>
          <a:lstStyle/>
          <a:p>
            <a:pPr marL="0" indent="0">
              <a:buNone/>
            </a:pPr>
            <a:r>
              <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rPr>
              <a:t>Sai Ganesh</a:t>
            </a:r>
            <a:endParaRPr lang="en-IN" altLang="en-US" sz="1700" b="1" dirty="0">
              <a:solidFill>
                <a:srgbClr val="1F2E40"/>
              </a:solidFill>
              <a:latin typeface="Cambria" panose="02040503050406030204" pitchFamily="34" charset="0"/>
              <a:ea typeface="Cambria" panose="02040503050406030204" pitchFamily="34" charset="-122"/>
              <a:cs typeface="Cambria" panose="02040503050406030204" pitchFamily="34" charset="-120"/>
            </a:endParaRPr>
          </a:p>
        </p:txBody>
      </p:sp>
      <p:sp>
        <p:nvSpPr>
          <p:cNvPr id="26" name="Text 24"/>
          <p:cNvSpPr/>
          <p:nvPr/>
        </p:nvSpPr>
        <p:spPr>
          <a:xfrm>
            <a:off x="9363456" y="3108960"/>
            <a:ext cx="2148840" cy="548640"/>
          </a:xfrm>
          <a:prstGeom prst="rect">
            <a:avLst/>
          </a:prstGeom>
          <a:noFill/>
        </p:spPr>
        <p:txBody>
          <a:bodyPr wrap="square" rtlCol="0" anchor="ctr"/>
          <a:lstStyle/>
          <a:p>
            <a:pPr marL="0" indent="0">
              <a:buNone/>
            </a:pPr>
            <a:r>
              <a:rPr lang="en-US" sz="1250" b="1" i="1" dirty="0">
                <a:solidFill>
                  <a:srgbClr val="E8604B"/>
                </a:solidFill>
                <a:latin typeface="Calibri" panose="020F0502020204030204" pitchFamily="34" charset="0"/>
                <a:ea typeface="Calibri" panose="020F0502020204030204" pitchFamily="34" charset="-122"/>
                <a:cs typeface="Calibri" panose="020F0502020204030204" pitchFamily="34" charset="-120"/>
              </a:rPr>
              <a:t>Testing &amp; Documentation</a:t>
            </a:r>
            <a:endParaRPr lang="en-US" sz="1250" dirty="0"/>
          </a:p>
        </p:txBody>
      </p:sp>
      <p:sp>
        <p:nvSpPr>
          <p:cNvPr id="27" name="Text 25"/>
          <p:cNvSpPr/>
          <p:nvPr/>
        </p:nvSpPr>
        <p:spPr>
          <a:xfrm>
            <a:off x="9363456" y="3703320"/>
            <a:ext cx="2148840" cy="1920240"/>
          </a:xfrm>
          <a:prstGeom prst="rect">
            <a:avLst/>
          </a:prstGeom>
          <a:noFill/>
        </p:spPr>
        <p:txBody>
          <a:bodyPr wrap="square" rtlCol="0" anchor="t"/>
          <a:lstStyle/>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Testing</a:t>
            </a:r>
            <a:endParaRPr lang="en-US" sz="1250" dirty="0"/>
          </a:p>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Documentation</a:t>
            </a:r>
            <a:endParaRPr lang="en-US" sz="1250" dirty="0"/>
          </a:p>
          <a:p>
            <a:pPr marL="152400" indent="-152400">
              <a:spcAft>
                <a:spcPts val="600"/>
              </a:spcAft>
              <a:buSzPct val="100000"/>
              <a:buChar char="•"/>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GitHub Repository</a:t>
            </a:r>
            <a:endParaRPr lang="en-US" sz="1250" dirty="0"/>
          </a:p>
        </p:txBody>
      </p:sp>
      <p:sp>
        <p:nvSpPr>
          <p:cNvPr id="28" name="Text 26"/>
          <p:cNvSpPr/>
          <p:nvPr/>
        </p:nvSpPr>
        <p:spPr>
          <a:xfrm>
            <a:off x="11521440" y="6446520"/>
            <a:ext cx="457200" cy="320040"/>
          </a:xfrm>
          <a:prstGeom prst="rect">
            <a:avLst/>
          </a:prstGeom>
          <a:noFill/>
        </p:spPr>
        <p:txBody>
          <a:bodyPr wrap="square" rtlCol="0" anchor="ctr"/>
          <a:lstStyle/>
          <a:p>
            <a:pPr marL="0" indent="0" algn="r">
              <a:buNone/>
            </a:pPr>
            <a:r>
              <a:rPr lang="en-US" sz="1100" dirty="0">
                <a:solidFill>
                  <a:srgbClr val="5A6472"/>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F2E40"/>
          </a:solidFill>
        </p:spPr>
      </p:sp>
      <p:sp>
        <p:nvSpPr>
          <p:cNvPr id="3" name="Text 1"/>
          <p:cNvSpPr/>
          <p:nvPr/>
        </p:nvSpPr>
        <p:spPr>
          <a:xfrm>
            <a:off x="548640" y="2468880"/>
            <a:ext cx="3291840" cy="5486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EXPECTED</a:t>
            </a:r>
            <a:endParaRPr lang="en-US" sz="3400" dirty="0"/>
          </a:p>
        </p:txBody>
      </p:sp>
      <p:sp>
        <p:nvSpPr>
          <p:cNvPr id="4" name="Text 2"/>
          <p:cNvSpPr/>
          <p:nvPr/>
        </p:nvSpPr>
        <p:spPr>
          <a:xfrm>
            <a:off x="548640" y="3017520"/>
            <a:ext cx="3291840" cy="548640"/>
          </a:xfrm>
          <a:prstGeom prst="rect">
            <a:avLst/>
          </a:prstGeom>
          <a:noFill/>
        </p:spPr>
        <p:txBody>
          <a:bodyPr wrap="square" rtlCol="0" anchor="ctr"/>
          <a:lstStyle/>
          <a:p>
            <a:pPr marL="0" indent="0">
              <a:buNone/>
            </a:pPr>
            <a:r>
              <a:rPr lang="en-US" sz="3400" b="1" dirty="0">
                <a:solidFill>
                  <a:srgbClr val="E8604B"/>
                </a:solidFill>
                <a:latin typeface="Cambria" panose="02040503050406030204" pitchFamily="34" charset="0"/>
                <a:ea typeface="Cambria" panose="02040503050406030204" pitchFamily="34" charset="-122"/>
                <a:cs typeface="Cambria" panose="02040503050406030204" pitchFamily="34" charset="-120"/>
              </a:rPr>
              <a:t>OUTCOMES</a:t>
            </a:r>
            <a:endParaRPr lang="en-US" sz="3400" dirty="0"/>
          </a:p>
        </p:txBody>
      </p:sp>
      <p:sp>
        <p:nvSpPr>
          <p:cNvPr id="5" name="Shape 3"/>
          <p:cNvSpPr/>
          <p:nvPr/>
        </p:nvSpPr>
        <p:spPr>
          <a:xfrm>
            <a:off x="566928" y="3703320"/>
            <a:ext cx="640080" cy="54864"/>
          </a:xfrm>
          <a:prstGeom prst="rect">
            <a:avLst/>
          </a:prstGeom>
          <a:solidFill>
            <a:srgbClr val="E8604B"/>
          </a:solidFill>
        </p:spPr>
      </p:sp>
      <p:sp>
        <p:nvSpPr>
          <p:cNvPr id="6" name="Shape 4"/>
          <p:cNvSpPr/>
          <p:nvPr/>
        </p:nvSpPr>
        <p:spPr>
          <a:xfrm>
            <a:off x="4617720" y="667512"/>
            <a:ext cx="384048" cy="384048"/>
          </a:xfrm>
          <a:prstGeom prst="ellipse">
            <a:avLst/>
          </a:prstGeom>
          <a:solidFill>
            <a:srgbClr val="E7EBF0"/>
          </a:solidFill>
          <a:ln w="15875">
            <a:solidFill>
              <a:srgbClr val="E8604B"/>
            </a:solidFill>
            <a:prstDash val="solid"/>
          </a:ln>
        </p:spPr>
      </p:sp>
      <p:sp>
        <p:nvSpPr>
          <p:cNvPr id="7" name="Text 5"/>
          <p:cNvSpPr/>
          <p:nvPr/>
        </p:nvSpPr>
        <p:spPr>
          <a:xfrm>
            <a:off x="4617720" y="667512"/>
            <a:ext cx="384048" cy="384048"/>
          </a:xfrm>
          <a:prstGeom prst="rect">
            <a:avLst/>
          </a:prstGeom>
          <a:noFill/>
        </p:spPr>
        <p:txBody>
          <a:bodyPr wrap="square" rtlCol="0" anchor="ctr"/>
          <a:lstStyle/>
          <a:p>
            <a:pPr marL="0" indent="0" algn="ctr">
              <a:buNone/>
            </a:pPr>
            <a:r>
              <a:rPr lang="en-US" sz="1300" b="1" dirty="0">
                <a:solidFill>
                  <a:srgbClr val="E8604B"/>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8" name="Text 6"/>
          <p:cNvSpPr/>
          <p:nvPr/>
        </p:nvSpPr>
        <p:spPr>
          <a:xfrm>
            <a:off x="5166360" y="640080"/>
            <a:ext cx="6400800" cy="594360"/>
          </a:xfrm>
          <a:prstGeom prst="rect">
            <a:avLst/>
          </a:prstGeom>
          <a:noFill/>
        </p:spPr>
        <p:txBody>
          <a:bodyPr wrap="square" rtlCol="0" anchor="ctr"/>
          <a:lstStyle/>
          <a:p>
            <a:pPr marL="0" indent="0">
              <a:buNone/>
            </a:pPr>
            <a:r>
              <a:rPr lang="en-US" sz="1450" dirty="0">
                <a:solidFill>
                  <a:srgbClr val="2B2B2B"/>
                </a:solidFill>
                <a:latin typeface="Calibri" panose="020F0502020204030204" pitchFamily="34" charset="0"/>
                <a:ea typeface="Calibri" panose="020F0502020204030204" pitchFamily="34" charset="-122"/>
                <a:cs typeface="Calibri" panose="020F0502020204030204" pitchFamily="34" charset="-120"/>
              </a:rPr>
              <a:t>Automatically generate structured question banks</a:t>
            </a:r>
            <a:endParaRPr lang="en-US" sz="1450" dirty="0"/>
          </a:p>
        </p:txBody>
      </p:sp>
      <p:sp>
        <p:nvSpPr>
          <p:cNvPr id="9" name="Shape 7"/>
          <p:cNvSpPr/>
          <p:nvPr/>
        </p:nvSpPr>
        <p:spPr>
          <a:xfrm>
            <a:off x="4617720" y="1627632"/>
            <a:ext cx="384048" cy="384048"/>
          </a:xfrm>
          <a:prstGeom prst="ellipse">
            <a:avLst/>
          </a:prstGeom>
          <a:solidFill>
            <a:srgbClr val="E7EBF0"/>
          </a:solidFill>
          <a:ln w="15875">
            <a:solidFill>
              <a:srgbClr val="E8604B"/>
            </a:solidFill>
            <a:prstDash val="solid"/>
          </a:ln>
        </p:spPr>
      </p:sp>
      <p:sp>
        <p:nvSpPr>
          <p:cNvPr id="10" name="Text 8"/>
          <p:cNvSpPr/>
          <p:nvPr/>
        </p:nvSpPr>
        <p:spPr>
          <a:xfrm>
            <a:off x="4617720" y="1627632"/>
            <a:ext cx="384048" cy="384048"/>
          </a:xfrm>
          <a:prstGeom prst="rect">
            <a:avLst/>
          </a:prstGeom>
          <a:noFill/>
        </p:spPr>
        <p:txBody>
          <a:bodyPr wrap="square" rtlCol="0" anchor="ctr"/>
          <a:lstStyle/>
          <a:p>
            <a:pPr marL="0" indent="0" algn="ctr">
              <a:buNone/>
            </a:pPr>
            <a:r>
              <a:rPr lang="en-US" sz="1300" b="1" dirty="0">
                <a:solidFill>
                  <a:srgbClr val="E8604B"/>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1" name="Text 9"/>
          <p:cNvSpPr/>
          <p:nvPr/>
        </p:nvSpPr>
        <p:spPr>
          <a:xfrm>
            <a:off x="5166360" y="1600200"/>
            <a:ext cx="6400800" cy="594360"/>
          </a:xfrm>
          <a:prstGeom prst="rect">
            <a:avLst/>
          </a:prstGeom>
          <a:noFill/>
        </p:spPr>
        <p:txBody>
          <a:bodyPr wrap="square" rtlCol="0" anchor="ctr"/>
          <a:lstStyle/>
          <a:p>
            <a:pPr marL="0" indent="0">
              <a:buNone/>
            </a:pPr>
            <a:r>
              <a:rPr lang="en-US" sz="1450" dirty="0">
                <a:solidFill>
                  <a:srgbClr val="2B2B2B"/>
                </a:solidFill>
                <a:latin typeface="Calibri" panose="020F0502020204030204" pitchFamily="34" charset="0"/>
                <a:ea typeface="Calibri" panose="020F0502020204030204" pitchFamily="34" charset="-122"/>
                <a:cs typeface="Calibri" panose="020F0502020204030204" pitchFamily="34" charset="-120"/>
              </a:rPr>
              <a:t>Reduce manual effort in question preparation</a:t>
            </a:r>
            <a:endParaRPr lang="en-US" sz="1450" dirty="0"/>
          </a:p>
        </p:txBody>
      </p:sp>
      <p:sp>
        <p:nvSpPr>
          <p:cNvPr id="12" name="Shape 10"/>
          <p:cNvSpPr/>
          <p:nvPr/>
        </p:nvSpPr>
        <p:spPr>
          <a:xfrm>
            <a:off x="4617720" y="2587752"/>
            <a:ext cx="384048" cy="384048"/>
          </a:xfrm>
          <a:prstGeom prst="ellipse">
            <a:avLst/>
          </a:prstGeom>
          <a:solidFill>
            <a:srgbClr val="E7EBF0"/>
          </a:solidFill>
          <a:ln w="15875">
            <a:solidFill>
              <a:srgbClr val="E8604B"/>
            </a:solidFill>
            <a:prstDash val="solid"/>
          </a:ln>
        </p:spPr>
      </p:sp>
      <p:sp>
        <p:nvSpPr>
          <p:cNvPr id="13" name="Text 11"/>
          <p:cNvSpPr/>
          <p:nvPr/>
        </p:nvSpPr>
        <p:spPr>
          <a:xfrm>
            <a:off x="4617720" y="2587752"/>
            <a:ext cx="384048" cy="384048"/>
          </a:xfrm>
          <a:prstGeom prst="rect">
            <a:avLst/>
          </a:prstGeom>
          <a:noFill/>
        </p:spPr>
        <p:txBody>
          <a:bodyPr wrap="square" rtlCol="0" anchor="ctr"/>
          <a:lstStyle/>
          <a:p>
            <a:pPr marL="0" indent="0" algn="ctr">
              <a:buNone/>
            </a:pPr>
            <a:r>
              <a:rPr lang="en-US" sz="1300" b="1" dirty="0">
                <a:solidFill>
                  <a:srgbClr val="E8604B"/>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4" name="Text 12"/>
          <p:cNvSpPr/>
          <p:nvPr/>
        </p:nvSpPr>
        <p:spPr>
          <a:xfrm>
            <a:off x="5166360" y="2560320"/>
            <a:ext cx="6400800" cy="594360"/>
          </a:xfrm>
          <a:prstGeom prst="rect">
            <a:avLst/>
          </a:prstGeom>
          <a:noFill/>
        </p:spPr>
        <p:txBody>
          <a:bodyPr wrap="square" rtlCol="0" anchor="ctr"/>
          <a:lstStyle/>
          <a:p>
            <a:pPr marL="0" indent="0">
              <a:buNone/>
            </a:pPr>
            <a:r>
              <a:rPr lang="en-US" sz="1450" dirty="0">
                <a:solidFill>
                  <a:srgbClr val="2B2B2B"/>
                </a:solidFill>
                <a:latin typeface="Calibri" panose="020F0502020204030204" pitchFamily="34" charset="0"/>
                <a:ea typeface="Calibri" panose="020F0502020204030204" pitchFamily="34" charset="-122"/>
                <a:cs typeface="Calibri" panose="020F0502020204030204" pitchFamily="34" charset="-120"/>
              </a:rPr>
              <a:t>Categorize questions based on topics</a:t>
            </a:r>
            <a:endParaRPr lang="en-US" sz="1450" dirty="0"/>
          </a:p>
        </p:txBody>
      </p:sp>
      <p:sp>
        <p:nvSpPr>
          <p:cNvPr id="15" name="Shape 13"/>
          <p:cNvSpPr/>
          <p:nvPr/>
        </p:nvSpPr>
        <p:spPr>
          <a:xfrm>
            <a:off x="4617720" y="3547872"/>
            <a:ext cx="384048" cy="384048"/>
          </a:xfrm>
          <a:prstGeom prst="ellipse">
            <a:avLst/>
          </a:prstGeom>
          <a:solidFill>
            <a:srgbClr val="E7EBF0"/>
          </a:solidFill>
          <a:ln w="15875">
            <a:solidFill>
              <a:srgbClr val="E8604B"/>
            </a:solidFill>
            <a:prstDash val="solid"/>
          </a:ln>
        </p:spPr>
      </p:sp>
      <p:sp>
        <p:nvSpPr>
          <p:cNvPr id="16" name="Text 14"/>
          <p:cNvSpPr/>
          <p:nvPr/>
        </p:nvSpPr>
        <p:spPr>
          <a:xfrm>
            <a:off x="4617720" y="3547872"/>
            <a:ext cx="384048" cy="384048"/>
          </a:xfrm>
          <a:prstGeom prst="rect">
            <a:avLst/>
          </a:prstGeom>
          <a:noFill/>
        </p:spPr>
        <p:txBody>
          <a:bodyPr wrap="square" rtlCol="0" anchor="ctr"/>
          <a:lstStyle/>
          <a:p>
            <a:pPr marL="0" indent="0" algn="ctr">
              <a:buNone/>
            </a:pPr>
            <a:r>
              <a:rPr lang="en-US" sz="1300" b="1" dirty="0">
                <a:solidFill>
                  <a:srgbClr val="E8604B"/>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17" name="Text 15"/>
          <p:cNvSpPr/>
          <p:nvPr/>
        </p:nvSpPr>
        <p:spPr>
          <a:xfrm>
            <a:off x="5166360" y="3520440"/>
            <a:ext cx="6400800" cy="594360"/>
          </a:xfrm>
          <a:prstGeom prst="rect">
            <a:avLst/>
          </a:prstGeom>
          <a:noFill/>
        </p:spPr>
        <p:txBody>
          <a:bodyPr wrap="square" rtlCol="0" anchor="ctr"/>
          <a:lstStyle/>
          <a:p>
            <a:pPr marL="0" indent="0">
              <a:buNone/>
            </a:pPr>
            <a:r>
              <a:rPr lang="en-US" sz="1450" dirty="0">
                <a:solidFill>
                  <a:srgbClr val="2B2B2B"/>
                </a:solidFill>
                <a:latin typeface="Calibri" panose="020F0502020204030204" pitchFamily="34" charset="0"/>
                <a:ea typeface="Calibri" panose="020F0502020204030204" pitchFamily="34" charset="-122"/>
                <a:cs typeface="Calibri" panose="020F0502020204030204" pitchFamily="34" charset="-120"/>
              </a:rPr>
              <a:t>Estimate question difficulty accurately</a:t>
            </a:r>
            <a:endParaRPr lang="en-US" sz="1450" dirty="0"/>
          </a:p>
        </p:txBody>
      </p:sp>
      <p:sp>
        <p:nvSpPr>
          <p:cNvPr id="18" name="Shape 16"/>
          <p:cNvSpPr/>
          <p:nvPr/>
        </p:nvSpPr>
        <p:spPr>
          <a:xfrm>
            <a:off x="4617720" y="4507992"/>
            <a:ext cx="384048" cy="384048"/>
          </a:xfrm>
          <a:prstGeom prst="ellipse">
            <a:avLst/>
          </a:prstGeom>
          <a:solidFill>
            <a:srgbClr val="E7EBF0"/>
          </a:solidFill>
          <a:ln w="15875">
            <a:solidFill>
              <a:srgbClr val="E8604B"/>
            </a:solidFill>
            <a:prstDash val="solid"/>
          </a:ln>
        </p:spPr>
      </p:sp>
      <p:sp>
        <p:nvSpPr>
          <p:cNvPr id="19" name="Text 17"/>
          <p:cNvSpPr/>
          <p:nvPr/>
        </p:nvSpPr>
        <p:spPr>
          <a:xfrm>
            <a:off x="4617720" y="4507992"/>
            <a:ext cx="384048" cy="384048"/>
          </a:xfrm>
          <a:prstGeom prst="rect">
            <a:avLst/>
          </a:prstGeom>
          <a:noFill/>
        </p:spPr>
        <p:txBody>
          <a:bodyPr wrap="square" rtlCol="0" anchor="ctr"/>
          <a:lstStyle/>
          <a:p>
            <a:pPr marL="0" indent="0" algn="ctr">
              <a:buNone/>
            </a:pPr>
            <a:r>
              <a:rPr lang="en-US" sz="1300" b="1" dirty="0">
                <a:solidFill>
                  <a:srgbClr val="E8604B"/>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20" name="Text 18"/>
          <p:cNvSpPr/>
          <p:nvPr/>
        </p:nvSpPr>
        <p:spPr>
          <a:xfrm>
            <a:off x="5166360" y="4480560"/>
            <a:ext cx="6400800" cy="594360"/>
          </a:xfrm>
          <a:prstGeom prst="rect">
            <a:avLst/>
          </a:prstGeom>
          <a:noFill/>
        </p:spPr>
        <p:txBody>
          <a:bodyPr wrap="square" rtlCol="0" anchor="ctr"/>
          <a:lstStyle/>
          <a:p>
            <a:pPr marL="0" indent="0">
              <a:buNone/>
            </a:pPr>
            <a:r>
              <a:rPr lang="en-US" sz="1450" dirty="0">
                <a:solidFill>
                  <a:srgbClr val="2B2B2B"/>
                </a:solidFill>
                <a:latin typeface="Calibri" panose="020F0502020204030204" pitchFamily="34" charset="0"/>
                <a:ea typeface="Calibri" panose="020F0502020204030204" pitchFamily="34" charset="-122"/>
                <a:cs typeface="Calibri" panose="020F0502020204030204" pitchFamily="34" charset="-120"/>
              </a:rPr>
              <a:t>Maintain a searchable repository</a:t>
            </a:r>
            <a:endParaRPr lang="en-US" sz="1450" dirty="0"/>
          </a:p>
        </p:txBody>
      </p:sp>
      <p:sp>
        <p:nvSpPr>
          <p:cNvPr id="21" name="Shape 19"/>
          <p:cNvSpPr/>
          <p:nvPr/>
        </p:nvSpPr>
        <p:spPr>
          <a:xfrm>
            <a:off x="4617720" y="5468112"/>
            <a:ext cx="384048" cy="384048"/>
          </a:xfrm>
          <a:prstGeom prst="ellipse">
            <a:avLst/>
          </a:prstGeom>
          <a:solidFill>
            <a:srgbClr val="E7EBF0"/>
          </a:solidFill>
          <a:ln w="15875">
            <a:solidFill>
              <a:srgbClr val="E8604B"/>
            </a:solidFill>
            <a:prstDash val="solid"/>
          </a:ln>
        </p:spPr>
      </p:sp>
      <p:sp>
        <p:nvSpPr>
          <p:cNvPr id="22" name="Text 20"/>
          <p:cNvSpPr/>
          <p:nvPr/>
        </p:nvSpPr>
        <p:spPr>
          <a:xfrm>
            <a:off x="4617720" y="5468112"/>
            <a:ext cx="384048" cy="384048"/>
          </a:xfrm>
          <a:prstGeom prst="rect">
            <a:avLst/>
          </a:prstGeom>
          <a:noFill/>
        </p:spPr>
        <p:txBody>
          <a:bodyPr wrap="square" rtlCol="0" anchor="ctr"/>
          <a:lstStyle/>
          <a:p>
            <a:pPr marL="0" indent="0" algn="ctr">
              <a:buNone/>
            </a:pPr>
            <a:r>
              <a:rPr lang="en-US" sz="1300" b="1" dirty="0">
                <a:solidFill>
                  <a:srgbClr val="E8604B"/>
                </a:solidFill>
                <a:latin typeface="Calibri" panose="020F0502020204030204" pitchFamily="34" charset="0"/>
                <a:ea typeface="Calibri" panose="020F0502020204030204" pitchFamily="34" charset="-122"/>
                <a:cs typeface="Calibri" panose="020F0502020204030204" pitchFamily="34" charset="-120"/>
              </a:rPr>
              <a:t>6</a:t>
            </a:r>
            <a:endParaRPr lang="en-US" sz="1300" dirty="0"/>
          </a:p>
        </p:txBody>
      </p:sp>
      <p:sp>
        <p:nvSpPr>
          <p:cNvPr id="23" name="Text 21"/>
          <p:cNvSpPr/>
          <p:nvPr/>
        </p:nvSpPr>
        <p:spPr>
          <a:xfrm>
            <a:off x="5166360" y="5440680"/>
            <a:ext cx="6400800" cy="594360"/>
          </a:xfrm>
          <a:prstGeom prst="rect">
            <a:avLst/>
          </a:prstGeom>
          <a:noFill/>
        </p:spPr>
        <p:txBody>
          <a:bodyPr wrap="square" rtlCol="0" anchor="ctr"/>
          <a:lstStyle/>
          <a:p>
            <a:pPr marL="0" indent="0">
              <a:buNone/>
            </a:pPr>
            <a:r>
              <a:rPr lang="en-US" sz="1450" dirty="0">
                <a:solidFill>
                  <a:srgbClr val="2B2B2B"/>
                </a:solidFill>
                <a:latin typeface="Calibri" panose="020F0502020204030204" pitchFamily="34" charset="0"/>
                <a:ea typeface="Calibri" panose="020F0502020204030204" pitchFamily="34" charset="-122"/>
                <a:cs typeface="Calibri" panose="020F0502020204030204" pitchFamily="34" charset="-120"/>
              </a:rPr>
              <a:t>Improve efficiency in examination preparation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300" b="1" kern="0" spc="300" dirty="0">
                <a:solidFill>
                  <a:srgbClr val="E8604B"/>
                </a:solidFill>
                <a:latin typeface="Calibri" panose="020F0502020204030204" pitchFamily="34" charset="0"/>
                <a:ea typeface="Calibri" panose="020F0502020204030204" pitchFamily="34" charset="-122"/>
                <a:cs typeface="Calibri" panose="020F0502020204030204" pitchFamily="34" charset="-120"/>
              </a:rPr>
              <a:t>WHERE IT FITS</a:t>
            </a:r>
            <a:endParaRPr lang="en-US" sz="1300" dirty="0"/>
          </a:p>
        </p:txBody>
      </p:sp>
      <p:sp>
        <p:nvSpPr>
          <p:cNvPr id="3" name="Text 1"/>
          <p:cNvSpPr/>
          <p:nvPr/>
        </p:nvSpPr>
        <p:spPr>
          <a:xfrm>
            <a:off x="548640" y="685800"/>
            <a:ext cx="7315200" cy="594360"/>
          </a:xfrm>
          <a:prstGeom prst="rect">
            <a:avLst/>
          </a:prstGeom>
          <a:noFill/>
        </p:spPr>
        <p:txBody>
          <a:bodyPr wrap="square" rtlCol="0" anchor="ctr"/>
          <a:lstStyle/>
          <a:p>
            <a:pPr marL="0" indent="0">
              <a:buNone/>
            </a:pPr>
            <a:r>
              <a:rPr lang="en-US" sz="2800" b="1" dirty="0">
                <a:solidFill>
                  <a:srgbClr val="1F2E40"/>
                </a:solidFill>
                <a:latin typeface="Cambria" panose="02040503050406030204" pitchFamily="34" charset="0"/>
                <a:ea typeface="Cambria" panose="02040503050406030204" pitchFamily="34" charset="-122"/>
                <a:cs typeface="Cambria" panose="02040503050406030204" pitchFamily="34" charset="-120"/>
              </a:rPr>
              <a:t>Applications</a:t>
            </a:r>
            <a:endParaRPr lang="en-US" sz="2800" dirty="0"/>
          </a:p>
        </p:txBody>
      </p:sp>
      <p:sp>
        <p:nvSpPr>
          <p:cNvPr id="4" name="Shape 2"/>
          <p:cNvSpPr/>
          <p:nvPr/>
        </p:nvSpPr>
        <p:spPr>
          <a:xfrm>
            <a:off x="548640" y="1463040"/>
            <a:ext cx="3566160" cy="1874520"/>
          </a:xfrm>
          <a:prstGeom prst="roundRect">
            <a:avLst>
              <a:gd name="adj" fmla="val 2439"/>
            </a:avLst>
          </a:prstGeom>
          <a:solidFill>
            <a:srgbClr val="E7EBF0"/>
          </a:solidFill>
        </p:spPr>
      </p:sp>
      <p:sp>
        <p:nvSpPr>
          <p:cNvPr id="5" name="Shape 3"/>
          <p:cNvSpPr/>
          <p:nvPr/>
        </p:nvSpPr>
        <p:spPr>
          <a:xfrm>
            <a:off x="749808" y="1664208"/>
            <a:ext cx="402336" cy="402336"/>
          </a:xfrm>
          <a:prstGeom prst="ellipse">
            <a:avLst/>
          </a:prstGeom>
          <a:solidFill>
            <a:srgbClr val="E8604B"/>
          </a:solidFill>
        </p:spPr>
      </p:sp>
      <p:sp>
        <p:nvSpPr>
          <p:cNvPr id="6" name="Text 4"/>
          <p:cNvSpPr/>
          <p:nvPr/>
        </p:nvSpPr>
        <p:spPr>
          <a:xfrm>
            <a:off x="749808" y="1664208"/>
            <a:ext cx="402336" cy="402336"/>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7" name="Text 5"/>
          <p:cNvSpPr/>
          <p:nvPr/>
        </p:nvSpPr>
        <p:spPr>
          <a:xfrm>
            <a:off x="749808" y="2157984"/>
            <a:ext cx="3163824" cy="502920"/>
          </a:xfrm>
          <a:prstGeom prst="rect">
            <a:avLst/>
          </a:prstGeom>
          <a:noFill/>
        </p:spPr>
        <p:txBody>
          <a:bodyPr wrap="square" rtlCol="0" anchor="t"/>
          <a:lstStyle/>
          <a:p>
            <a:pPr marL="0" indent="0">
              <a:lnSpc>
                <a:spcPct val="108000"/>
              </a:lnSpc>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Universities &amp; Colleges</a:t>
            </a:r>
            <a:endParaRPr lang="en-US" sz="1300" dirty="0"/>
          </a:p>
        </p:txBody>
      </p:sp>
      <p:sp>
        <p:nvSpPr>
          <p:cNvPr id="8" name="Text 6"/>
          <p:cNvSpPr/>
          <p:nvPr/>
        </p:nvSpPr>
        <p:spPr>
          <a:xfrm>
            <a:off x="749808" y="2633472"/>
            <a:ext cx="3163824" cy="621792"/>
          </a:xfrm>
          <a:prstGeom prst="rect">
            <a:avLst/>
          </a:prstGeom>
          <a:noFill/>
        </p:spPr>
        <p:txBody>
          <a:bodyPr wrap="square" rtlCol="0" anchor="t"/>
          <a:lstStyle/>
          <a:p>
            <a:pPr marL="0" indent="0">
              <a:lnSpc>
                <a:spcPct val="120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Generate organized question banks for academic assessments.</a:t>
            </a:r>
            <a:endParaRPr lang="en-US" sz="1050" dirty="0"/>
          </a:p>
        </p:txBody>
      </p:sp>
      <p:sp>
        <p:nvSpPr>
          <p:cNvPr id="9" name="Shape 7"/>
          <p:cNvSpPr/>
          <p:nvPr/>
        </p:nvSpPr>
        <p:spPr>
          <a:xfrm>
            <a:off x="4343400" y="1463040"/>
            <a:ext cx="3566160" cy="1874520"/>
          </a:xfrm>
          <a:prstGeom prst="roundRect">
            <a:avLst>
              <a:gd name="adj" fmla="val 2439"/>
            </a:avLst>
          </a:prstGeom>
          <a:solidFill>
            <a:srgbClr val="E7EBF0"/>
          </a:solidFill>
        </p:spPr>
      </p:sp>
      <p:sp>
        <p:nvSpPr>
          <p:cNvPr id="10" name="Shape 8"/>
          <p:cNvSpPr/>
          <p:nvPr/>
        </p:nvSpPr>
        <p:spPr>
          <a:xfrm>
            <a:off x="4544568" y="1664208"/>
            <a:ext cx="402336" cy="402336"/>
          </a:xfrm>
          <a:prstGeom prst="ellipse">
            <a:avLst/>
          </a:prstGeom>
          <a:solidFill>
            <a:srgbClr val="E8604B"/>
          </a:solidFill>
        </p:spPr>
      </p:sp>
      <p:sp>
        <p:nvSpPr>
          <p:cNvPr id="11" name="Text 9"/>
          <p:cNvSpPr/>
          <p:nvPr/>
        </p:nvSpPr>
        <p:spPr>
          <a:xfrm>
            <a:off x="4544568" y="1664208"/>
            <a:ext cx="402336" cy="402336"/>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2" name="Text 10"/>
          <p:cNvSpPr/>
          <p:nvPr/>
        </p:nvSpPr>
        <p:spPr>
          <a:xfrm>
            <a:off x="4544568" y="2157984"/>
            <a:ext cx="3163824" cy="502920"/>
          </a:xfrm>
          <a:prstGeom prst="rect">
            <a:avLst/>
          </a:prstGeom>
          <a:noFill/>
        </p:spPr>
        <p:txBody>
          <a:bodyPr wrap="square" rtlCol="0" anchor="t"/>
          <a:lstStyle/>
          <a:p>
            <a:pPr marL="0" indent="0">
              <a:lnSpc>
                <a:spcPct val="108000"/>
              </a:lnSpc>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Schools</a:t>
            </a:r>
            <a:endParaRPr lang="en-US" sz="1300" dirty="0"/>
          </a:p>
        </p:txBody>
      </p:sp>
      <p:sp>
        <p:nvSpPr>
          <p:cNvPr id="13" name="Text 11"/>
          <p:cNvSpPr/>
          <p:nvPr/>
        </p:nvSpPr>
        <p:spPr>
          <a:xfrm>
            <a:off x="4544568" y="2633472"/>
            <a:ext cx="3163824" cy="621792"/>
          </a:xfrm>
          <a:prstGeom prst="rect">
            <a:avLst/>
          </a:prstGeom>
          <a:noFill/>
        </p:spPr>
        <p:txBody>
          <a:bodyPr wrap="square" rtlCol="0" anchor="t"/>
          <a:lstStyle/>
          <a:p>
            <a:pPr marL="0" indent="0">
              <a:lnSpc>
                <a:spcPct val="120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Support teachers in creating classroom tests and assignments.</a:t>
            </a:r>
            <a:endParaRPr lang="en-US" sz="1050" dirty="0"/>
          </a:p>
        </p:txBody>
      </p:sp>
      <p:sp>
        <p:nvSpPr>
          <p:cNvPr id="14" name="Shape 12"/>
          <p:cNvSpPr/>
          <p:nvPr/>
        </p:nvSpPr>
        <p:spPr>
          <a:xfrm>
            <a:off x="8138160" y="1463040"/>
            <a:ext cx="3566160" cy="1874520"/>
          </a:xfrm>
          <a:prstGeom prst="roundRect">
            <a:avLst>
              <a:gd name="adj" fmla="val 2439"/>
            </a:avLst>
          </a:prstGeom>
          <a:solidFill>
            <a:srgbClr val="E7EBF0"/>
          </a:solidFill>
        </p:spPr>
      </p:sp>
      <p:sp>
        <p:nvSpPr>
          <p:cNvPr id="15" name="Shape 13"/>
          <p:cNvSpPr/>
          <p:nvPr/>
        </p:nvSpPr>
        <p:spPr>
          <a:xfrm>
            <a:off x="8339328" y="1664208"/>
            <a:ext cx="402336" cy="402336"/>
          </a:xfrm>
          <a:prstGeom prst="ellipse">
            <a:avLst/>
          </a:prstGeom>
          <a:solidFill>
            <a:srgbClr val="E8604B"/>
          </a:solidFill>
        </p:spPr>
      </p:sp>
      <p:sp>
        <p:nvSpPr>
          <p:cNvPr id="16" name="Text 14"/>
          <p:cNvSpPr/>
          <p:nvPr/>
        </p:nvSpPr>
        <p:spPr>
          <a:xfrm>
            <a:off x="8339328" y="1664208"/>
            <a:ext cx="402336" cy="402336"/>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7" name="Text 15"/>
          <p:cNvSpPr/>
          <p:nvPr/>
        </p:nvSpPr>
        <p:spPr>
          <a:xfrm>
            <a:off x="8339328" y="2157984"/>
            <a:ext cx="3163824" cy="502920"/>
          </a:xfrm>
          <a:prstGeom prst="rect">
            <a:avLst/>
          </a:prstGeom>
          <a:noFill/>
        </p:spPr>
        <p:txBody>
          <a:bodyPr wrap="square" rtlCol="0" anchor="t"/>
          <a:lstStyle/>
          <a:p>
            <a:pPr marL="0" indent="0">
              <a:lnSpc>
                <a:spcPct val="108000"/>
              </a:lnSpc>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EdTech Platforms</a:t>
            </a:r>
            <a:endParaRPr lang="en-US" sz="1300" dirty="0"/>
          </a:p>
        </p:txBody>
      </p:sp>
      <p:sp>
        <p:nvSpPr>
          <p:cNvPr id="18" name="Text 16"/>
          <p:cNvSpPr/>
          <p:nvPr/>
        </p:nvSpPr>
        <p:spPr>
          <a:xfrm>
            <a:off x="8339328" y="2633472"/>
            <a:ext cx="3163824" cy="621792"/>
          </a:xfrm>
          <a:prstGeom prst="rect">
            <a:avLst/>
          </a:prstGeom>
          <a:noFill/>
        </p:spPr>
        <p:txBody>
          <a:bodyPr wrap="square" rtlCol="0" anchor="t"/>
          <a:lstStyle/>
          <a:p>
            <a:pPr marL="0" indent="0">
              <a:lnSpc>
                <a:spcPct val="120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Provide automated question generation for online learning platforms.</a:t>
            </a:r>
            <a:endParaRPr lang="en-US" sz="1050" dirty="0"/>
          </a:p>
        </p:txBody>
      </p:sp>
      <p:sp>
        <p:nvSpPr>
          <p:cNvPr id="19" name="Shape 17"/>
          <p:cNvSpPr/>
          <p:nvPr/>
        </p:nvSpPr>
        <p:spPr>
          <a:xfrm>
            <a:off x="548640" y="3538728"/>
            <a:ext cx="3566160" cy="1874520"/>
          </a:xfrm>
          <a:prstGeom prst="roundRect">
            <a:avLst>
              <a:gd name="adj" fmla="val 2439"/>
            </a:avLst>
          </a:prstGeom>
          <a:solidFill>
            <a:srgbClr val="E7EBF0"/>
          </a:solidFill>
        </p:spPr>
      </p:sp>
      <p:sp>
        <p:nvSpPr>
          <p:cNvPr id="20" name="Shape 18"/>
          <p:cNvSpPr/>
          <p:nvPr/>
        </p:nvSpPr>
        <p:spPr>
          <a:xfrm>
            <a:off x="749808" y="3739896"/>
            <a:ext cx="402336" cy="402336"/>
          </a:xfrm>
          <a:prstGeom prst="ellipse">
            <a:avLst/>
          </a:prstGeom>
          <a:solidFill>
            <a:srgbClr val="E8604B"/>
          </a:solidFill>
        </p:spPr>
      </p:sp>
      <p:sp>
        <p:nvSpPr>
          <p:cNvPr id="21" name="Text 19"/>
          <p:cNvSpPr/>
          <p:nvPr/>
        </p:nvSpPr>
        <p:spPr>
          <a:xfrm>
            <a:off x="749808" y="3739896"/>
            <a:ext cx="402336" cy="402336"/>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22" name="Text 20"/>
          <p:cNvSpPr/>
          <p:nvPr/>
        </p:nvSpPr>
        <p:spPr>
          <a:xfrm>
            <a:off x="749808" y="4233672"/>
            <a:ext cx="3163824" cy="502920"/>
          </a:xfrm>
          <a:prstGeom prst="rect">
            <a:avLst/>
          </a:prstGeom>
          <a:noFill/>
        </p:spPr>
        <p:txBody>
          <a:bodyPr wrap="square" rtlCol="0" anchor="t"/>
          <a:lstStyle/>
          <a:p>
            <a:pPr marL="0" indent="0">
              <a:lnSpc>
                <a:spcPct val="108000"/>
              </a:lnSpc>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Learning Management Systems (LMS)</a:t>
            </a:r>
            <a:endParaRPr lang="en-US" sz="1300" dirty="0"/>
          </a:p>
        </p:txBody>
      </p:sp>
      <p:sp>
        <p:nvSpPr>
          <p:cNvPr id="23" name="Text 21"/>
          <p:cNvSpPr/>
          <p:nvPr/>
        </p:nvSpPr>
        <p:spPr>
          <a:xfrm>
            <a:off x="749808" y="4709160"/>
            <a:ext cx="3163824" cy="621792"/>
          </a:xfrm>
          <a:prstGeom prst="rect">
            <a:avLst/>
          </a:prstGeom>
          <a:noFill/>
        </p:spPr>
        <p:txBody>
          <a:bodyPr wrap="square" rtlCol="0" anchor="t"/>
          <a:lstStyle/>
          <a:p>
            <a:pPr marL="0" indent="0">
              <a:lnSpc>
                <a:spcPct val="120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Integrate with LMS platforms for digital assessment management.</a:t>
            </a:r>
            <a:endParaRPr lang="en-US" sz="1050" dirty="0"/>
          </a:p>
        </p:txBody>
      </p:sp>
      <p:sp>
        <p:nvSpPr>
          <p:cNvPr id="24" name="Shape 22"/>
          <p:cNvSpPr/>
          <p:nvPr/>
        </p:nvSpPr>
        <p:spPr>
          <a:xfrm>
            <a:off x="4343400" y="3538728"/>
            <a:ext cx="3566160" cy="1874520"/>
          </a:xfrm>
          <a:prstGeom prst="roundRect">
            <a:avLst>
              <a:gd name="adj" fmla="val 2439"/>
            </a:avLst>
          </a:prstGeom>
          <a:solidFill>
            <a:srgbClr val="E7EBF0"/>
          </a:solidFill>
        </p:spPr>
      </p:sp>
      <p:sp>
        <p:nvSpPr>
          <p:cNvPr id="25" name="Shape 23"/>
          <p:cNvSpPr/>
          <p:nvPr/>
        </p:nvSpPr>
        <p:spPr>
          <a:xfrm>
            <a:off x="4544568" y="3739896"/>
            <a:ext cx="402336" cy="402336"/>
          </a:xfrm>
          <a:prstGeom prst="ellipse">
            <a:avLst/>
          </a:prstGeom>
          <a:solidFill>
            <a:srgbClr val="E8604B"/>
          </a:solidFill>
        </p:spPr>
      </p:sp>
      <p:sp>
        <p:nvSpPr>
          <p:cNvPr id="26" name="Text 24"/>
          <p:cNvSpPr/>
          <p:nvPr/>
        </p:nvSpPr>
        <p:spPr>
          <a:xfrm>
            <a:off x="4544568" y="3739896"/>
            <a:ext cx="402336" cy="402336"/>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27" name="Text 25"/>
          <p:cNvSpPr/>
          <p:nvPr/>
        </p:nvSpPr>
        <p:spPr>
          <a:xfrm>
            <a:off x="4544568" y="4233672"/>
            <a:ext cx="3163824" cy="502920"/>
          </a:xfrm>
          <a:prstGeom prst="rect">
            <a:avLst/>
          </a:prstGeom>
          <a:noFill/>
        </p:spPr>
        <p:txBody>
          <a:bodyPr wrap="square" rtlCol="0" anchor="t"/>
          <a:lstStyle/>
          <a:p>
            <a:pPr marL="0" indent="0">
              <a:lnSpc>
                <a:spcPct val="108000"/>
              </a:lnSpc>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Online Examination Systems</a:t>
            </a:r>
            <a:endParaRPr lang="en-US" sz="1300" dirty="0"/>
          </a:p>
        </p:txBody>
      </p:sp>
      <p:sp>
        <p:nvSpPr>
          <p:cNvPr id="28" name="Text 26"/>
          <p:cNvSpPr/>
          <p:nvPr/>
        </p:nvSpPr>
        <p:spPr>
          <a:xfrm>
            <a:off x="4544568" y="4709160"/>
            <a:ext cx="3163824" cy="621792"/>
          </a:xfrm>
          <a:prstGeom prst="rect">
            <a:avLst/>
          </a:prstGeom>
          <a:noFill/>
        </p:spPr>
        <p:txBody>
          <a:bodyPr wrap="square" rtlCol="0" anchor="t"/>
          <a:lstStyle/>
          <a:p>
            <a:pPr marL="0" indent="0">
              <a:lnSpc>
                <a:spcPct val="120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Create balanced question papers for online examinations.</a:t>
            </a:r>
            <a:endParaRPr lang="en-US" sz="1050" dirty="0"/>
          </a:p>
        </p:txBody>
      </p:sp>
      <p:sp>
        <p:nvSpPr>
          <p:cNvPr id="29" name="Shape 27"/>
          <p:cNvSpPr/>
          <p:nvPr/>
        </p:nvSpPr>
        <p:spPr>
          <a:xfrm>
            <a:off x="8138160" y="3538728"/>
            <a:ext cx="3566160" cy="1874520"/>
          </a:xfrm>
          <a:prstGeom prst="roundRect">
            <a:avLst>
              <a:gd name="adj" fmla="val 2439"/>
            </a:avLst>
          </a:prstGeom>
          <a:solidFill>
            <a:srgbClr val="E7EBF0"/>
          </a:solidFill>
        </p:spPr>
      </p:sp>
      <p:sp>
        <p:nvSpPr>
          <p:cNvPr id="30" name="Shape 28"/>
          <p:cNvSpPr/>
          <p:nvPr/>
        </p:nvSpPr>
        <p:spPr>
          <a:xfrm>
            <a:off x="8339328" y="3739896"/>
            <a:ext cx="402336" cy="402336"/>
          </a:xfrm>
          <a:prstGeom prst="ellipse">
            <a:avLst/>
          </a:prstGeom>
          <a:solidFill>
            <a:srgbClr val="E8604B"/>
          </a:solidFill>
        </p:spPr>
      </p:sp>
      <p:sp>
        <p:nvSpPr>
          <p:cNvPr id="31" name="Text 29"/>
          <p:cNvSpPr/>
          <p:nvPr/>
        </p:nvSpPr>
        <p:spPr>
          <a:xfrm>
            <a:off x="8339328" y="3739896"/>
            <a:ext cx="402336" cy="402336"/>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300" dirty="0"/>
          </a:p>
        </p:txBody>
      </p:sp>
      <p:sp>
        <p:nvSpPr>
          <p:cNvPr id="32" name="Text 30"/>
          <p:cNvSpPr/>
          <p:nvPr/>
        </p:nvSpPr>
        <p:spPr>
          <a:xfrm>
            <a:off x="8339328" y="4233672"/>
            <a:ext cx="3163824" cy="502920"/>
          </a:xfrm>
          <a:prstGeom prst="rect">
            <a:avLst/>
          </a:prstGeom>
          <a:noFill/>
        </p:spPr>
        <p:txBody>
          <a:bodyPr wrap="square" rtlCol="0" anchor="t"/>
          <a:lstStyle/>
          <a:p>
            <a:pPr marL="0" indent="0">
              <a:lnSpc>
                <a:spcPct val="108000"/>
              </a:lnSpc>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Competitive Exam Preparation</a:t>
            </a:r>
            <a:endParaRPr lang="en-US" sz="1300" dirty="0"/>
          </a:p>
        </p:txBody>
      </p:sp>
      <p:sp>
        <p:nvSpPr>
          <p:cNvPr id="33" name="Text 31"/>
          <p:cNvSpPr/>
          <p:nvPr/>
        </p:nvSpPr>
        <p:spPr>
          <a:xfrm>
            <a:off x="8339328" y="4709160"/>
            <a:ext cx="3163824" cy="621792"/>
          </a:xfrm>
          <a:prstGeom prst="rect">
            <a:avLst/>
          </a:prstGeom>
          <a:noFill/>
        </p:spPr>
        <p:txBody>
          <a:bodyPr wrap="square" rtlCol="0" anchor="t"/>
          <a:lstStyle/>
          <a:p>
            <a:pPr marL="0" indent="0">
              <a:lnSpc>
                <a:spcPct val="120000"/>
              </a:lnSpc>
              <a:buNone/>
            </a:pPr>
            <a:r>
              <a:rPr lang="en-US" sz="1050" dirty="0">
                <a:solidFill>
                  <a:srgbClr val="5A6472"/>
                </a:solidFill>
                <a:latin typeface="Calibri" panose="020F0502020204030204" pitchFamily="34" charset="0"/>
                <a:ea typeface="Calibri" panose="020F0502020204030204" pitchFamily="34" charset="-122"/>
                <a:cs typeface="Calibri" panose="020F0502020204030204" pitchFamily="34" charset="-120"/>
              </a:rPr>
              <a:t>Generate practice questions for competitive exam aspirants.</a:t>
            </a:r>
            <a:endParaRPr lang="en-US" sz="1050" dirty="0"/>
          </a:p>
        </p:txBody>
      </p:sp>
      <p:sp>
        <p:nvSpPr>
          <p:cNvPr id="34" name="Text 32"/>
          <p:cNvSpPr/>
          <p:nvPr/>
        </p:nvSpPr>
        <p:spPr>
          <a:xfrm>
            <a:off x="11521440" y="6446520"/>
            <a:ext cx="457200" cy="320040"/>
          </a:xfrm>
          <a:prstGeom prst="rect">
            <a:avLst/>
          </a:prstGeom>
          <a:noFill/>
        </p:spPr>
        <p:txBody>
          <a:bodyPr wrap="square" rtlCol="0" anchor="ctr"/>
          <a:lstStyle/>
          <a:p>
            <a:pPr marL="0" indent="0" algn="r">
              <a:buNone/>
            </a:pPr>
            <a:r>
              <a:rPr lang="en-US" sz="1100" dirty="0">
                <a:solidFill>
                  <a:srgbClr val="5A6472"/>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7EBF0"/>
        </a:solidFill>
        <a:effectLst/>
      </p:bgPr>
    </p:bg>
    <p:spTree>
      <p:nvGrpSpPr>
        <p:cNvPr id="1" name=""/>
        <p:cNvGrpSpPr/>
        <p:nvPr/>
      </p:nvGrpSpPr>
      <p:grpSpPr>
        <a:xfrm>
          <a:off x="0" y="0"/>
          <a:ext cx="0" cy="0"/>
          <a:chOff x="0" y="0"/>
          <a:chExt cx="0" cy="0"/>
        </a:xfrm>
      </p:grpSpPr>
      <p:sp>
        <p:nvSpPr>
          <p:cNvPr id="2" name="Text 0"/>
          <p:cNvSpPr/>
          <p:nvPr/>
        </p:nvSpPr>
        <p:spPr>
          <a:xfrm>
            <a:off x="548640" y="640080"/>
            <a:ext cx="5486400" cy="320040"/>
          </a:xfrm>
          <a:prstGeom prst="rect">
            <a:avLst/>
          </a:prstGeom>
          <a:noFill/>
        </p:spPr>
        <p:txBody>
          <a:bodyPr wrap="square" rtlCol="0" anchor="ctr"/>
          <a:lstStyle/>
          <a:p>
            <a:pPr marL="0" indent="0">
              <a:buNone/>
            </a:pPr>
            <a:r>
              <a:rPr lang="en-US" sz="1300" b="1" kern="0" spc="300" dirty="0">
                <a:solidFill>
                  <a:srgbClr val="E8604B"/>
                </a:solidFill>
                <a:latin typeface="Calibri" panose="020F0502020204030204" pitchFamily="34" charset="0"/>
                <a:ea typeface="Calibri" panose="020F0502020204030204" pitchFamily="34" charset="-122"/>
                <a:cs typeface="Calibri" panose="020F0502020204030204" pitchFamily="34" charset="-120"/>
              </a:rPr>
              <a:t>SOURCE CODE</a:t>
            </a:r>
            <a:endParaRPr lang="en-US" sz="1300" dirty="0"/>
          </a:p>
        </p:txBody>
      </p:sp>
      <p:sp>
        <p:nvSpPr>
          <p:cNvPr id="3" name="Text 1"/>
          <p:cNvSpPr/>
          <p:nvPr/>
        </p:nvSpPr>
        <p:spPr>
          <a:xfrm>
            <a:off x="548640" y="960120"/>
            <a:ext cx="7315200" cy="640080"/>
          </a:xfrm>
          <a:prstGeom prst="rect">
            <a:avLst/>
          </a:prstGeom>
          <a:noFill/>
        </p:spPr>
        <p:txBody>
          <a:bodyPr wrap="square" rtlCol="0" anchor="ctr"/>
          <a:lstStyle/>
          <a:p>
            <a:pPr marL="0" indent="0">
              <a:buNone/>
            </a:pPr>
            <a:r>
              <a:rPr lang="en-US" sz="3000" b="1" dirty="0">
                <a:solidFill>
                  <a:srgbClr val="1F2E40"/>
                </a:solidFill>
                <a:latin typeface="Cambria" panose="02040503050406030204" pitchFamily="34" charset="0"/>
                <a:ea typeface="Cambria" panose="02040503050406030204" pitchFamily="34" charset="-122"/>
                <a:cs typeface="Cambria" panose="02040503050406030204" pitchFamily="34" charset="-120"/>
              </a:rPr>
              <a:t>GitHub Repository</a:t>
            </a:r>
            <a:endParaRPr lang="en-US" sz="3000" dirty="0"/>
          </a:p>
        </p:txBody>
      </p:sp>
      <p:sp>
        <p:nvSpPr>
          <p:cNvPr id="4" name="Text 2"/>
          <p:cNvSpPr/>
          <p:nvPr/>
        </p:nvSpPr>
        <p:spPr>
          <a:xfrm>
            <a:off x="548640" y="1691640"/>
            <a:ext cx="6583680" cy="822960"/>
          </a:xfrm>
          <a:prstGeom prst="rect">
            <a:avLst/>
          </a:prstGeom>
          <a:noFill/>
        </p:spPr>
        <p:txBody>
          <a:bodyPr wrap="square" rtlCol="0" anchor="ctr"/>
          <a:lstStyle/>
          <a:p>
            <a:pPr marL="0" indent="0">
              <a:lnSpc>
                <a:spcPct val="130000"/>
              </a:lnSpc>
              <a:buNone/>
            </a:pPr>
            <a:r>
              <a:rPr lang="en-US" sz="1400" dirty="0">
                <a:solidFill>
                  <a:srgbClr val="2B2B2B"/>
                </a:solidFill>
                <a:latin typeface="Calibri" panose="020F0502020204030204" pitchFamily="34" charset="0"/>
                <a:ea typeface="Calibri" panose="020F0502020204030204" pitchFamily="34" charset="-122"/>
                <a:cs typeface="Calibri" panose="020F0502020204030204" pitchFamily="34" charset="-120"/>
              </a:rPr>
              <a:t>The project source code, documentation, and future updates will be maintained in a GitHub repository.</a:t>
            </a:r>
            <a:endParaRPr lang="en-US" sz="1400" dirty="0"/>
          </a:p>
        </p:txBody>
      </p:sp>
      <p:sp>
        <p:nvSpPr>
          <p:cNvPr id="5" name="Shape 3"/>
          <p:cNvSpPr/>
          <p:nvPr/>
        </p:nvSpPr>
        <p:spPr>
          <a:xfrm>
            <a:off x="548640" y="2743200"/>
            <a:ext cx="1005840" cy="1005840"/>
          </a:xfrm>
          <a:prstGeom prst="ellipse">
            <a:avLst/>
          </a:prstGeom>
          <a:solidFill>
            <a:srgbClr val="1F2E40"/>
          </a:solidFill>
        </p:spPr>
      </p:sp>
      <p:sp>
        <p:nvSpPr>
          <p:cNvPr id="6" name="Shape 4"/>
          <p:cNvSpPr/>
          <p:nvPr/>
        </p:nvSpPr>
        <p:spPr>
          <a:xfrm>
            <a:off x="896112" y="2999232"/>
            <a:ext cx="310896" cy="310896"/>
          </a:xfrm>
          <a:prstGeom prst="ellipse">
            <a:avLst/>
          </a:prstGeom>
          <a:solidFill>
            <a:srgbClr val="FFFFFF"/>
          </a:solidFill>
        </p:spPr>
      </p:sp>
      <p:sp>
        <p:nvSpPr>
          <p:cNvPr id="7" name="Shape 5"/>
          <p:cNvSpPr/>
          <p:nvPr/>
        </p:nvSpPr>
        <p:spPr>
          <a:xfrm>
            <a:off x="786384" y="3246120"/>
            <a:ext cx="530352" cy="384048"/>
          </a:xfrm>
          <a:prstGeom prst="roundRect">
            <a:avLst>
              <a:gd name="adj" fmla="val 19048"/>
            </a:avLst>
          </a:prstGeom>
          <a:solidFill>
            <a:srgbClr val="FFFFFF"/>
          </a:solidFill>
        </p:spPr>
      </p:sp>
      <p:sp>
        <p:nvSpPr>
          <p:cNvPr id="8" name="Text 6"/>
          <p:cNvSpPr/>
          <p:nvPr/>
        </p:nvSpPr>
        <p:spPr>
          <a:xfrm>
            <a:off x="1828800" y="2880360"/>
            <a:ext cx="5303520" cy="320040"/>
          </a:xfrm>
          <a:prstGeom prst="rect">
            <a:avLst/>
          </a:prstGeom>
          <a:noFill/>
        </p:spPr>
        <p:txBody>
          <a:bodyPr wrap="square" rtlCol="0" anchor="ctr"/>
          <a:lstStyle/>
          <a:p>
            <a:pPr marL="0" indent="0">
              <a:buNone/>
            </a:pPr>
            <a:r>
              <a:rPr lang="en-US" sz="1300" b="1" kern="0" spc="200" dirty="0">
                <a:solidFill>
                  <a:srgbClr val="E8604B"/>
                </a:solidFill>
                <a:latin typeface="Calibri" panose="020F0502020204030204" pitchFamily="34" charset="0"/>
                <a:ea typeface="Calibri" panose="020F0502020204030204" pitchFamily="34" charset="-122"/>
                <a:cs typeface="Calibri" panose="020F0502020204030204" pitchFamily="34" charset="-120"/>
              </a:rPr>
              <a:t>Repository</a:t>
            </a:r>
            <a:endParaRPr lang="en-US" sz="1300" dirty="0"/>
          </a:p>
        </p:txBody>
      </p:sp>
      <p:sp>
        <p:nvSpPr>
          <p:cNvPr id="9" name="Text 7"/>
          <p:cNvSpPr/>
          <p:nvPr/>
        </p:nvSpPr>
        <p:spPr>
          <a:xfrm>
            <a:off x="1828800" y="3036570"/>
            <a:ext cx="5303520" cy="685800"/>
          </a:xfrm>
          <a:prstGeom prst="rect">
            <a:avLst/>
          </a:prstGeom>
          <a:noFill/>
        </p:spPr>
        <p:txBody>
          <a:bodyPr wrap="square" rtlCol="0" anchor="ctr"/>
          <a:lstStyle/>
          <a:p>
            <a:pPr marL="0" indent="0">
              <a:lnSpc>
                <a:spcPct val="120000"/>
              </a:lnSpc>
              <a:buNone/>
            </a:pPr>
            <a:r>
              <a:rPr lang="en-US" altLang="en-US" sz="1250" dirty="0"/>
              <a:t>https://github.com/jaswanthch1342/DSA-3_Project</a:t>
            </a:r>
            <a:endParaRPr lang="en-US" altLang="en-US" sz="1250" dirty="0"/>
          </a:p>
        </p:txBody>
      </p:sp>
      <p:sp>
        <p:nvSpPr>
          <p:cNvPr id="11" name="Text 9"/>
          <p:cNvSpPr/>
          <p:nvPr/>
        </p:nvSpPr>
        <p:spPr>
          <a:xfrm>
            <a:off x="548640" y="4297680"/>
            <a:ext cx="2743200" cy="548640"/>
          </a:xfrm>
          <a:prstGeom prst="rect">
            <a:avLst/>
          </a:prstGeom>
          <a:noFill/>
        </p:spPr>
        <p:txBody>
          <a:bodyPr wrap="square" rtlCol="0" anchor="ctr"/>
          <a:lstStyle/>
          <a:p>
            <a:pPr marL="0" indent="0" algn="ctr">
              <a:buNone/>
            </a:pPr>
            <a:endParaRPr lang="en-US" sz="1400" dirty="0"/>
          </a:p>
        </p:txBody>
      </p:sp>
      <p:sp>
        <p:nvSpPr>
          <p:cNvPr id="12" name="Shape 10"/>
          <p:cNvSpPr/>
          <p:nvPr/>
        </p:nvSpPr>
        <p:spPr>
          <a:xfrm>
            <a:off x="8321040" y="1828800"/>
            <a:ext cx="3108960" cy="3108960"/>
          </a:xfrm>
          <a:prstGeom prst="roundRect">
            <a:avLst>
              <a:gd name="adj" fmla="val 1765"/>
            </a:avLst>
          </a:prstGeom>
          <a:solidFill>
            <a:srgbClr val="FFFFFF"/>
          </a:solidFill>
          <a:effectLst>
            <a:outerShdw blurRad="127000" dist="38100" dir="5400000" algn="bl" rotWithShape="0">
              <a:srgbClr val="8A94A0">
                <a:alpha val="30000"/>
              </a:srgbClr>
            </a:outerShdw>
          </a:effectLst>
        </p:spPr>
      </p:sp>
      <p:sp>
        <p:nvSpPr>
          <p:cNvPr id="13" name="Shape 11"/>
          <p:cNvSpPr/>
          <p:nvPr/>
        </p:nvSpPr>
        <p:spPr>
          <a:xfrm>
            <a:off x="8641080" y="2148840"/>
            <a:ext cx="564315" cy="564315"/>
          </a:xfrm>
          <a:prstGeom prst="rect">
            <a:avLst/>
          </a:prstGeom>
          <a:solidFill>
            <a:srgbClr val="1F2E40"/>
          </a:solidFill>
        </p:spPr>
      </p:sp>
      <p:sp>
        <p:nvSpPr>
          <p:cNvPr id="14" name="Shape 12"/>
          <p:cNvSpPr/>
          <p:nvPr/>
        </p:nvSpPr>
        <p:spPr>
          <a:xfrm>
            <a:off x="8764524" y="2272284"/>
            <a:ext cx="317427" cy="317427"/>
          </a:xfrm>
          <a:prstGeom prst="rect">
            <a:avLst/>
          </a:prstGeom>
          <a:solidFill>
            <a:srgbClr val="FFFFFF"/>
          </a:solidFill>
        </p:spPr>
      </p:sp>
      <p:sp>
        <p:nvSpPr>
          <p:cNvPr id="15" name="Shape 13"/>
          <p:cNvSpPr/>
          <p:nvPr/>
        </p:nvSpPr>
        <p:spPr>
          <a:xfrm>
            <a:off x="10545645" y="2148840"/>
            <a:ext cx="564315" cy="564315"/>
          </a:xfrm>
          <a:prstGeom prst="rect">
            <a:avLst/>
          </a:prstGeom>
          <a:solidFill>
            <a:srgbClr val="1F2E40"/>
          </a:solidFill>
        </p:spPr>
      </p:sp>
      <p:sp>
        <p:nvSpPr>
          <p:cNvPr id="16" name="Shape 14"/>
          <p:cNvSpPr/>
          <p:nvPr/>
        </p:nvSpPr>
        <p:spPr>
          <a:xfrm>
            <a:off x="10669089" y="2272284"/>
            <a:ext cx="317427" cy="317427"/>
          </a:xfrm>
          <a:prstGeom prst="rect">
            <a:avLst/>
          </a:prstGeom>
          <a:solidFill>
            <a:srgbClr val="FFFFFF"/>
          </a:solidFill>
        </p:spPr>
      </p:sp>
      <p:sp>
        <p:nvSpPr>
          <p:cNvPr id="17" name="Shape 15"/>
          <p:cNvSpPr/>
          <p:nvPr/>
        </p:nvSpPr>
        <p:spPr>
          <a:xfrm>
            <a:off x="8641080" y="4053405"/>
            <a:ext cx="564315" cy="564315"/>
          </a:xfrm>
          <a:prstGeom prst="rect">
            <a:avLst/>
          </a:prstGeom>
          <a:solidFill>
            <a:srgbClr val="1F2E40"/>
          </a:solidFill>
        </p:spPr>
      </p:sp>
      <p:sp>
        <p:nvSpPr>
          <p:cNvPr id="18" name="Shape 16"/>
          <p:cNvSpPr/>
          <p:nvPr/>
        </p:nvSpPr>
        <p:spPr>
          <a:xfrm>
            <a:off x="8764524" y="4176849"/>
            <a:ext cx="317427" cy="317427"/>
          </a:xfrm>
          <a:prstGeom prst="rect">
            <a:avLst/>
          </a:prstGeom>
          <a:solidFill>
            <a:srgbClr val="FFFFFF"/>
          </a:solidFill>
        </p:spPr>
      </p:sp>
      <p:sp>
        <p:nvSpPr>
          <p:cNvPr id="19" name="Shape 17"/>
          <p:cNvSpPr/>
          <p:nvPr/>
        </p:nvSpPr>
        <p:spPr>
          <a:xfrm>
            <a:off x="9346474" y="2214971"/>
            <a:ext cx="148133" cy="148133"/>
          </a:xfrm>
          <a:prstGeom prst="rect">
            <a:avLst/>
          </a:prstGeom>
          <a:solidFill>
            <a:srgbClr val="1F2E40"/>
          </a:solidFill>
        </p:spPr>
      </p:sp>
      <p:sp>
        <p:nvSpPr>
          <p:cNvPr id="20" name="Shape 18"/>
          <p:cNvSpPr/>
          <p:nvPr/>
        </p:nvSpPr>
        <p:spPr>
          <a:xfrm>
            <a:off x="9522823" y="2347232"/>
            <a:ext cx="148133" cy="148133"/>
          </a:xfrm>
          <a:prstGeom prst="rect">
            <a:avLst/>
          </a:prstGeom>
          <a:solidFill>
            <a:srgbClr val="1F2E40"/>
          </a:solidFill>
        </p:spPr>
      </p:sp>
      <p:sp>
        <p:nvSpPr>
          <p:cNvPr id="21" name="Shape 19"/>
          <p:cNvSpPr/>
          <p:nvPr/>
        </p:nvSpPr>
        <p:spPr>
          <a:xfrm>
            <a:off x="9258300" y="2435406"/>
            <a:ext cx="148133" cy="148133"/>
          </a:xfrm>
          <a:prstGeom prst="rect">
            <a:avLst/>
          </a:prstGeom>
          <a:solidFill>
            <a:srgbClr val="1F2E40"/>
          </a:solidFill>
        </p:spPr>
      </p:sp>
      <p:sp>
        <p:nvSpPr>
          <p:cNvPr id="22" name="Shape 20"/>
          <p:cNvSpPr/>
          <p:nvPr/>
        </p:nvSpPr>
        <p:spPr>
          <a:xfrm>
            <a:off x="9610997" y="2523581"/>
            <a:ext cx="148133" cy="148133"/>
          </a:xfrm>
          <a:prstGeom prst="rect">
            <a:avLst/>
          </a:prstGeom>
          <a:solidFill>
            <a:srgbClr val="1F2E40"/>
          </a:solidFill>
        </p:spPr>
      </p:sp>
      <p:sp>
        <p:nvSpPr>
          <p:cNvPr id="23" name="Shape 21"/>
          <p:cNvSpPr/>
          <p:nvPr/>
        </p:nvSpPr>
        <p:spPr>
          <a:xfrm>
            <a:off x="9140734" y="2677886"/>
            <a:ext cx="148133" cy="148133"/>
          </a:xfrm>
          <a:prstGeom prst="rect">
            <a:avLst/>
          </a:prstGeom>
          <a:solidFill>
            <a:srgbClr val="1F2E40"/>
          </a:solidFill>
        </p:spPr>
      </p:sp>
      <p:sp>
        <p:nvSpPr>
          <p:cNvPr id="24" name="Shape 22"/>
          <p:cNvSpPr/>
          <p:nvPr/>
        </p:nvSpPr>
        <p:spPr>
          <a:xfrm>
            <a:off x="9405257" y="2721973"/>
            <a:ext cx="148133" cy="148133"/>
          </a:xfrm>
          <a:prstGeom prst="rect">
            <a:avLst/>
          </a:prstGeom>
          <a:solidFill>
            <a:srgbClr val="1F2E40"/>
          </a:solidFill>
        </p:spPr>
      </p:sp>
      <p:sp>
        <p:nvSpPr>
          <p:cNvPr id="25" name="Shape 23"/>
          <p:cNvSpPr/>
          <p:nvPr/>
        </p:nvSpPr>
        <p:spPr>
          <a:xfrm>
            <a:off x="8905603" y="2545624"/>
            <a:ext cx="148133" cy="148133"/>
          </a:xfrm>
          <a:prstGeom prst="rect">
            <a:avLst/>
          </a:prstGeom>
          <a:solidFill>
            <a:srgbClr val="1F2E40"/>
          </a:solidFill>
        </p:spPr>
      </p:sp>
      <p:sp>
        <p:nvSpPr>
          <p:cNvPr id="26" name="Shape 24"/>
          <p:cNvSpPr/>
          <p:nvPr/>
        </p:nvSpPr>
        <p:spPr>
          <a:xfrm>
            <a:off x="9023169" y="2347232"/>
            <a:ext cx="148133" cy="148133"/>
          </a:xfrm>
          <a:prstGeom prst="rect">
            <a:avLst/>
          </a:prstGeom>
          <a:solidFill>
            <a:srgbClr val="1F2E40"/>
          </a:solidFill>
        </p:spPr>
      </p:sp>
      <p:sp>
        <p:nvSpPr>
          <p:cNvPr id="27" name="Shape 25"/>
          <p:cNvSpPr/>
          <p:nvPr/>
        </p:nvSpPr>
        <p:spPr>
          <a:xfrm>
            <a:off x="9699171" y="2788104"/>
            <a:ext cx="148133" cy="148133"/>
          </a:xfrm>
          <a:prstGeom prst="rect">
            <a:avLst/>
          </a:prstGeom>
          <a:solidFill>
            <a:srgbClr val="1F2E40"/>
          </a:solidFill>
        </p:spPr>
      </p:sp>
      <p:sp>
        <p:nvSpPr>
          <p:cNvPr id="28" name="Shape 26"/>
          <p:cNvSpPr/>
          <p:nvPr/>
        </p:nvSpPr>
        <p:spPr>
          <a:xfrm>
            <a:off x="9493431" y="2898321"/>
            <a:ext cx="148133" cy="148133"/>
          </a:xfrm>
          <a:prstGeom prst="rect">
            <a:avLst/>
          </a:prstGeom>
          <a:solidFill>
            <a:srgbClr val="1F2E40"/>
          </a:solidFill>
        </p:spPr>
      </p:sp>
      <p:sp>
        <p:nvSpPr>
          <p:cNvPr id="29" name="Text 27"/>
          <p:cNvSpPr/>
          <p:nvPr/>
        </p:nvSpPr>
        <p:spPr>
          <a:xfrm>
            <a:off x="8321040" y="5120640"/>
            <a:ext cx="3108960" cy="320040"/>
          </a:xfrm>
          <a:prstGeom prst="rect">
            <a:avLst/>
          </a:prstGeom>
          <a:noFill/>
        </p:spPr>
        <p:txBody>
          <a:bodyPr wrap="square" rtlCol="0" anchor="ctr"/>
          <a:lstStyle/>
          <a:p>
            <a:pPr marL="0" indent="0" algn="ctr">
              <a:buNone/>
            </a:pPr>
            <a:r>
              <a:rPr lang="en-US" sz="1100" i="1" dirty="0">
                <a:solidFill>
                  <a:srgbClr val="5A6472"/>
                </a:solidFill>
                <a:latin typeface="Calibri" panose="020F0502020204030204" pitchFamily="34" charset="0"/>
                <a:ea typeface="Calibri" panose="020F0502020204030204" pitchFamily="34" charset="-122"/>
                <a:cs typeface="Calibri" panose="020F0502020204030204" pitchFamily="34" charset="-120"/>
              </a:rPr>
              <a:t>QR Code Placeholder</a:t>
            </a:r>
            <a:endParaRPr lang="en-US" sz="1100" dirty="0"/>
          </a:p>
        </p:txBody>
      </p:sp>
      <p:pic>
        <p:nvPicPr>
          <p:cNvPr id="30" name="Picture 29"/>
          <p:cNvPicPr>
            <a:picLocks noChangeAspect="1"/>
          </p:cNvPicPr>
          <p:nvPr/>
        </p:nvPicPr>
        <p:blipFill>
          <a:blip r:embed="rId1"/>
          <a:stretch>
            <a:fillRect/>
          </a:stretch>
        </p:blipFill>
        <p:spPr>
          <a:xfrm>
            <a:off x="7863840" y="1557655"/>
            <a:ext cx="4193540" cy="38341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300" b="1" kern="0" spc="300" dirty="0">
                <a:solidFill>
                  <a:srgbClr val="E8604B"/>
                </a:solidFill>
                <a:latin typeface="Calibri" panose="020F0502020204030204" pitchFamily="34" charset="0"/>
                <a:ea typeface="Calibri" panose="020F0502020204030204" pitchFamily="34" charset="-122"/>
                <a:cs typeface="Calibri" panose="020F0502020204030204" pitchFamily="34" charset="-120"/>
              </a:rPr>
              <a:t>TOOLS &amp; CITATIONS</a:t>
            </a:r>
            <a:endParaRPr lang="en-US" sz="1300" dirty="0"/>
          </a:p>
        </p:txBody>
      </p:sp>
      <p:sp>
        <p:nvSpPr>
          <p:cNvPr id="3" name="Text 1"/>
          <p:cNvSpPr/>
          <p:nvPr/>
        </p:nvSpPr>
        <p:spPr>
          <a:xfrm>
            <a:off x="548640" y="822960"/>
            <a:ext cx="9144000" cy="640080"/>
          </a:xfrm>
          <a:prstGeom prst="rect">
            <a:avLst/>
          </a:prstGeom>
          <a:noFill/>
        </p:spPr>
        <p:txBody>
          <a:bodyPr wrap="square" rtlCol="0" anchor="ctr"/>
          <a:lstStyle/>
          <a:p>
            <a:pPr marL="0" indent="0">
              <a:buNone/>
            </a:pPr>
            <a:r>
              <a:rPr lang="en-US" sz="3000" b="1" dirty="0">
                <a:solidFill>
                  <a:srgbClr val="1F2E40"/>
                </a:solidFill>
                <a:latin typeface="Cambria" panose="02040503050406030204" pitchFamily="34" charset="0"/>
                <a:ea typeface="Cambria" panose="02040503050406030204" pitchFamily="34" charset="-122"/>
                <a:cs typeface="Cambria" panose="02040503050406030204" pitchFamily="34" charset="-120"/>
              </a:rPr>
              <a:t>Resources &amp; References</a:t>
            </a:r>
            <a:endParaRPr lang="en-US" sz="3000" dirty="0"/>
          </a:p>
        </p:txBody>
      </p:sp>
      <p:sp>
        <p:nvSpPr>
          <p:cNvPr id="4" name="Text 2"/>
          <p:cNvSpPr/>
          <p:nvPr/>
        </p:nvSpPr>
        <p:spPr>
          <a:xfrm>
            <a:off x="548640" y="1691640"/>
            <a:ext cx="5852160" cy="320040"/>
          </a:xfrm>
          <a:prstGeom prst="rect">
            <a:avLst/>
          </a:prstGeom>
          <a:noFill/>
        </p:spPr>
        <p:txBody>
          <a:bodyPr wrap="square" rtlCol="0" anchor="ctr"/>
          <a:lstStyle/>
          <a:p>
            <a:pPr marL="0" indent="0">
              <a:buNone/>
            </a:pPr>
            <a:r>
              <a:rPr lang="en-US" sz="1300" b="1" kern="0" spc="200" dirty="0">
                <a:solidFill>
                  <a:srgbClr val="E8604B"/>
                </a:solidFill>
                <a:latin typeface="Calibri" panose="020F0502020204030204" pitchFamily="34" charset="0"/>
                <a:ea typeface="Calibri" panose="020F0502020204030204" pitchFamily="34" charset="-122"/>
                <a:cs typeface="Calibri" panose="020F0502020204030204" pitchFamily="34" charset="-120"/>
              </a:rPr>
              <a:t>RESOURCES</a:t>
            </a:r>
            <a:endParaRPr lang="en-US" sz="1300" dirty="0"/>
          </a:p>
        </p:txBody>
      </p:sp>
      <p:sp>
        <p:nvSpPr>
          <p:cNvPr id="5" name="Shape 3"/>
          <p:cNvSpPr/>
          <p:nvPr/>
        </p:nvSpPr>
        <p:spPr>
          <a:xfrm>
            <a:off x="548640" y="2148840"/>
            <a:ext cx="5852160" cy="868680"/>
          </a:xfrm>
          <a:prstGeom prst="roundRect">
            <a:avLst>
              <a:gd name="adj" fmla="val 5263"/>
            </a:avLst>
          </a:prstGeom>
          <a:solidFill>
            <a:srgbClr val="E7EBF0"/>
          </a:solidFill>
        </p:spPr>
      </p:sp>
      <p:sp>
        <p:nvSpPr>
          <p:cNvPr id="6" name="Text 4"/>
          <p:cNvSpPr/>
          <p:nvPr/>
        </p:nvSpPr>
        <p:spPr>
          <a:xfrm>
            <a:off x="822960" y="2276856"/>
            <a:ext cx="5303520" cy="292608"/>
          </a:xfrm>
          <a:prstGeom prst="rect">
            <a:avLst/>
          </a:prstGeom>
          <a:noFill/>
        </p:spPr>
        <p:txBody>
          <a:bodyPr wrap="square" rtlCol="0" anchor="ctr"/>
          <a:lstStyle/>
          <a:p>
            <a:pPr marL="0" indent="0">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Programming Languages</a:t>
            </a:r>
            <a:endParaRPr lang="en-US" sz="1300" dirty="0"/>
          </a:p>
        </p:txBody>
      </p:sp>
      <p:sp>
        <p:nvSpPr>
          <p:cNvPr id="7" name="Text 5"/>
          <p:cNvSpPr/>
          <p:nvPr/>
        </p:nvSpPr>
        <p:spPr>
          <a:xfrm>
            <a:off x="822960" y="2587752"/>
            <a:ext cx="5303520" cy="365760"/>
          </a:xfrm>
          <a:prstGeom prst="rect">
            <a:avLst/>
          </a:prstGeom>
          <a:noFill/>
        </p:spPr>
        <p:txBody>
          <a:bodyPr wrap="square" rtlCol="0" anchor="ctr"/>
          <a:lstStyle/>
          <a:p>
            <a:pPr marL="0" indent="0">
              <a:buNone/>
            </a:pPr>
            <a:r>
              <a:rPr lang="en-US" sz="1200" dirty="0">
                <a:solidFill>
                  <a:srgbClr val="2B2B2B"/>
                </a:solidFill>
                <a:latin typeface="Calibri" panose="020F0502020204030204" pitchFamily="34" charset="0"/>
                <a:ea typeface="Calibri" panose="020F0502020204030204" pitchFamily="34" charset="-122"/>
                <a:cs typeface="Calibri" panose="020F0502020204030204" pitchFamily="34" charset="-120"/>
              </a:rPr>
              <a:t>Java, Python</a:t>
            </a:r>
            <a:endParaRPr lang="en-US" sz="1200" dirty="0"/>
          </a:p>
        </p:txBody>
      </p:sp>
      <p:sp>
        <p:nvSpPr>
          <p:cNvPr id="8" name="Shape 6"/>
          <p:cNvSpPr/>
          <p:nvPr/>
        </p:nvSpPr>
        <p:spPr>
          <a:xfrm>
            <a:off x="548640" y="3172968"/>
            <a:ext cx="5852160" cy="868680"/>
          </a:xfrm>
          <a:prstGeom prst="roundRect">
            <a:avLst>
              <a:gd name="adj" fmla="val 5263"/>
            </a:avLst>
          </a:prstGeom>
          <a:solidFill>
            <a:srgbClr val="E7EBF0"/>
          </a:solidFill>
        </p:spPr>
      </p:sp>
      <p:sp>
        <p:nvSpPr>
          <p:cNvPr id="9" name="Text 7"/>
          <p:cNvSpPr/>
          <p:nvPr/>
        </p:nvSpPr>
        <p:spPr>
          <a:xfrm>
            <a:off x="822960" y="3300984"/>
            <a:ext cx="5303520" cy="292608"/>
          </a:xfrm>
          <a:prstGeom prst="rect">
            <a:avLst/>
          </a:prstGeom>
          <a:noFill/>
        </p:spPr>
        <p:txBody>
          <a:bodyPr wrap="square" rtlCol="0" anchor="ctr"/>
          <a:lstStyle/>
          <a:p>
            <a:pPr marL="0" indent="0">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Development Tools</a:t>
            </a:r>
            <a:endParaRPr lang="en-US" sz="1300" dirty="0"/>
          </a:p>
        </p:txBody>
      </p:sp>
      <p:sp>
        <p:nvSpPr>
          <p:cNvPr id="10" name="Text 8"/>
          <p:cNvSpPr/>
          <p:nvPr/>
        </p:nvSpPr>
        <p:spPr>
          <a:xfrm>
            <a:off x="822960" y="3611880"/>
            <a:ext cx="5303520" cy="365760"/>
          </a:xfrm>
          <a:prstGeom prst="rect">
            <a:avLst/>
          </a:prstGeom>
          <a:noFill/>
        </p:spPr>
        <p:txBody>
          <a:bodyPr wrap="square" rtlCol="0" anchor="ctr"/>
          <a:lstStyle/>
          <a:p>
            <a:pPr marL="0" indent="0">
              <a:buNone/>
            </a:pPr>
            <a:r>
              <a:rPr lang="en-US" sz="1200" dirty="0">
                <a:solidFill>
                  <a:srgbClr val="2B2B2B"/>
                </a:solidFill>
                <a:latin typeface="Calibri" panose="020F0502020204030204" pitchFamily="34" charset="0"/>
                <a:ea typeface="Calibri" panose="020F0502020204030204" pitchFamily="34" charset="-122"/>
                <a:cs typeface="Calibri" panose="020F0502020204030204" pitchFamily="34" charset="-120"/>
              </a:rPr>
              <a:t>Spring Boot, MySQL, IntelliJ IDEA / VS Code</a:t>
            </a:r>
            <a:endParaRPr lang="en-US" sz="1200" dirty="0"/>
          </a:p>
        </p:txBody>
      </p:sp>
      <p:sp>
        <p:nvSpPr>
          <p:cNvPr id="11" name="Shape 9"/>
          <p:cNvSpPr/>
          <p:nvPr/>
        </p:nvSpPr>
        <p:spPr>
          <a:xfrm>
            <a:off x="548640" y="4197096"/>
            <a:ext cx="5852160" cy="868680"/>
          </a:xfrm>
          <a:prstGeom prst="roundRect">
            <a:avLst>
              <a:gd name="adj" fmla="val 5263"/>
            </a:avLst>
          </a:prstGeom>
          <a:solidFill>
            <a:srgbClr val="E7EBF0"/>
          </a:solidFill>
        </p:spPr>
      </p:sp>
      <p:sp>
        <p:nvSpPr>
          <p:cNvPr id="12" name="Text 10"/>
          <p:cNvSpPr/>
          <p:nvPr/>
        </p:nvSpPr>
        <p:spPr>
          <a:xfrm>
            <a:off x="822960" y="4325112"/>
            <a:ext cx="5303520" cy="292608"/>
          </a:xfrm>
          <a:prstGeom prst="rect">
            <a:avLst/>
          </a:prstGeom>
          <a:noFill/>
        </p:spPr>
        <p:txBody>
          <a:bodyPr wrap="square" rtlCol="0" anchor="ctr"/>
          <a:lstStyle/>
          <a:p>
            <a:pPr marL="0" indent="0">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Libraries</a:t>
            </a:r>
            <a:endParaRPr lang="en-US" sz="1300" dirty="0"/>
          </a:p>
        </p:txBody>
      </p:sp>
      <p:sp>
        <p:nvSpPr>
          <p:cNvPr id="13" name="Text 11"/>
          <p:cNvSpPr/>
          <p:nvPr/>
        </p:nvSpPr>
        <p:spPr>
          <a:xfrm>
            <a:off x="822960" y="4636008"/>
            <a:ext cx="5303520" cy="365760"/>
          </a:xfrm>
          <a:prstGeom prst="rect">
            <a:avLst/>
          </a:prstGeom>
          <a:noFill/>
        </p:spPr>
        <p:txBody>
          <a:bodyPr wrap="square" rtlCol="0" anchor="ctr"/>
          <a:lstStyle/>
          <a:p>
            <a:pPr marL="0" indent="0">
              <a:buNone/>
            </a:pPr>
            <a:r>
              <a:rPr lang="en-US" sz="1200" dirty="0">
                <a:solidFill>
                  <a:srgbClr val="2B2B2B"/>
                </a:solidFill>
                <a:latin typeface="Calibri" panose="020F0502020204030204" pitchFamily="34" charset="0"/>
                <a:ea typeface="Calibri" panose="020F0502020204030204" pitchFamily="34" charset="-122"/>
                <a:cs typeface="Calibri" panose="020F0502020204030204" pitchFamily="34" charset="-120"/>
              </a:rPr>
              <a:t>NLTK, spaCy</a:t>
            </a:r>
            <a:endParaRPr lang="en-US" sz="1200" dirty="0"/>
          </a:p>
        </p:txBody>
      </p:sp>
      <p:sp>
        <p:nvSpPr>
          <p:cNvPr id="14" name="Shape 12"/>
          <p:cNvSpPr/>
          <p:nvPr/>
        </p:nvSpPr>
        <p:spPr>
          <a:xfrm>
            <a:off x="548640" y="5221224"/>
            <a:ext cx="5852160" cy="868680"/>
          </a:xfrm>
          <a:prstGeom prst="roundRect">
            <a:avLst>
              <a:gd name="adj" fmla="val 5263"/>
            </a:avLst>
          </a:prstGeom>
          <a:solidFill>
            <a:srgbClr val="E7EBF0"/>
          </a:solidFill>
        </p:spPr>
      </p:sp>
      <p:sp>
        <p:nvSpPr>
          <p:cNvPr id="15" name="Text 13"/>
          <p:cNvSpPr/>
          <p:nvPr/>
        </p:nvSpPr>
        <p:spPr>
          <a:xfrm>
            <a:off x="822960" y="5349240"/>
            <a:ext cx="5303520" cy="292608"/>
          </a:xfrm>
          <a:prstGeom prst="rect">
            <a:avLst/>
          </a:prstGeom>
          <a:noFill/>
        </p:spPr>
        <p:txBody>
          <a:bodyPr wrap="square" rtlCol="0" anchor="ctr"/>
          <a:lstStyle/>
          <a:p>
            <a:pPr marL="0" indent="0">
              <a:buNone/>
            </a:pPr>
            <a:r>
              <a:rPr lang="en-US" sz="1300" b="1" dirty="0">
                <a:solidFill>
                  <a:srgbClr val="1F2E40"/>
                </a:solidFill>
                <a:latin typeface="Calibri" panose="020F0502020204030204" pitchFamily="34" charset="0"/>
                <a:ea typeface="Calibri" panose="020F0502020204030204" pitchFamily="34" charset="-122"/>
                <a:cs typeface="Calibri" panose="020F0502020204030204" pitchFamily="34" charset="-120"/>
              </a:rPr>
              <a:t>Version Control</a:t>
            </a:r>
            <a:endParaRPr lang="en-US" sz="1300" dirty="0"/>
          </a:p>
        </p:txBody>
      </p:sp>
      <p:sp>
        <p:nvSpPr>
          <p:cNvPr id="16" name="Text 14"/>
          <p:cNvSpPr/>
          <p:nvPr/>
        </p:nvSpPr>
        <p:spPr>
          <a:xfrm>
            <a:off x="822960" y="5660136"/>
            <a:ext cx="5303520" cy="365760"/>
          </a:xfrm>
          <a:prstGeom prst="rect">
            <a:avLst/>
          </a:prstGeom>
          <a:noFill/>
        </p:spPr>
        <p:txBody>
          <a:bodyPr wrap="square" rtlCol="0" anchor="ctr"/>
          <a:lstStyle/>
          <a:p>
            <a:pPr marL="0" indent="0">
              <a:buNone/>
            </a:pPr>
            <a:r>
              <a:rPr lang="en-US" sz="1200" dirty="0">
                <a:solidFill>
                  <a:srgbClr val="2B2B2B"/>
                </a:solidFill>
                <a:latin typeface="Calibri" panose="020F0502020204030204" pitchFamily="34" charset="0"/>
                <a:ea typeface="Calibri" panose="020F0502020204030204" pitchFamily="34" charset="-122"/>
                <a:cs typeface="Calibri" panose="020F0502020204030204" pitchFamily="34" charset="-120"/>
              </a:rPr>
              <a:t>Git, GitHub</a:t>
            </a:r>
            <a:endParaRPr lang="en-US" sz="1200" dirty="0"/>
          </a:p>
        </p:txBody>
      </p:sp>
      <p:sp>
        <p:nvSpPr>
          <p:cNvPr id="17" name="Text 15"/>
          <p:cNvSpPr/>
          <p:nvPr/>
        </p:nvSpPr>
        <p:spPr>
          <a:xfrm>
            <a:off x="6766560" y="1691640"/>
            <a:ext cx="4892040" cy="320040"/>
          </a:xfrm>
          <a:prstGeom prst="rect">
            <a:avLst/>
          </a:prstGeom>
          <a:noFill/>
        </p:spPr>
        <p:txBody>
          <a:bodyPr wrap="square" rtlCol="0" anchor="ctr"/>
          <a:lstStyle/>
          <a:p>
            <a:pPr marL="0" indent="0">
              <a:buNone/>
            </a:pPr>
            <a:r>
              <a:rPr lang="en-US" sz="1300" b="1" kern="0" spc="200" dirty="0">
                <a:solidFill>
                  <a:srgbClr val="E8604B"/>
                </a:solidFill>
                <a:latin typeface="Calibri" panose="020F0502020204030204" pitchFamily="34" charset="0"/>
                <a:ea typeface="Calibri" panose="020F0502020204030204" pitchFamily="34" charset="-122"/>
                <a:cs typeface="Calibri" panose="020F0502020204030204" pitchFamily="34" charset="-120"/>
              </a:rPr>
              <a:t>REFERENCES</a:t>
            </a:r>
            <a:endParaRPr lang="en-US" sz="1300" dirty="0"/>
          </a:p>
        </p:txBody>
      </p:sp>
      <p:sp>
        <p:nvSpPr>
          <p:cNvPr id="18" name="Text 16"/>
          <p:cNvSpPr/>
          <p:nvPr/>
        </p:nvSpPr>
        <p:spPr>
          <a:xfrm>
            <a:off x="6766560" y="2148840"/>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1.</a:t>
            </a:r>
            <a:endParaRPr lang="en-US" sz="1250" dirty="0"/>
          </a:p>
        </p:txBody>
      </p:sp>
      <p:sp>
        <p:nvSpPr>
          <p:cNvPr id="19" name="Text 17"/>
          <p:cNvSpPr/>
          <p:nvPr/>
        </p:nvSpPr>
        <p:spPr>
          <a:xfrm>
            <a:off x="7086600" y="2148840"/>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DSA-3 Project List (Department Project Document)</a:t>
            </a:r>
            <a:endParaRPr lang="en-US" sz="1250" dirty="0"/>
          </a:p>
        </p:txBody>
      </p:sp>
      <p:sp>
        <p:nvSpPr>
          <p:cNvPr id="20" name="Text 18"/>
          <p:cNvSpPr/>
          <p:nvPr/>
        </p:nvSpPr>
        <p:spPr>
          <a:xfrm>
            <a:off x="6766560" y="2679192"/>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2.</a:t>
            </a:r>
            <a:endParaRPr lang="en-US" sz="1250" dirty="0"/>
          </a:p>
        </p:txBody>
      </p:sp>
      <p:sp>
        <p:nvSpPr>
          <p:cNvPr id="21" name="Text 19"/>
          <p:cNvSpPr/>
          <p:nvPr/>
        </p:nvSpPr>
        <p:spPr>
          <a:xfrm>
            <a:off x="7086600" y="2679192"/>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Oracle Java Documentation</a:t>
            </a:r>
            <a:endParaRPr lang="en-US" sz="1250" dirty="0"/>
          </a:p>
        </p:txBody>
      </p:sp>
      <p:sp>
        <p:nvSpPr>
          <p:cNvPr id="22" name="Text 20"/>
          <p:cNvSpPr/>
          <p:nvPr/>
        </p:nvSpPr>
        <p:spPr>
          <a:xfrm>
            <a:off x="6766560" y="3209544"/>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3.</a:t>
            </a:r>
            <a:endParaRPr lang="en-US" sz="1250" dirty="0"/>
          </a:p>
        </p:txBody>
      </p:sp>
      <p:sp>
        <p:nvSpPr>
          <p:cNvPr id="23" name="Text 21"/>
          <p:cNvSpPr/>
          <p:nvPr/>
        </p:nvSpPr>
        <p:spPr>
          <a:xfrm>
            <a:off x="7086600" y="3209544"/>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Python Official Documentation</a:t>
            </a:r>
            <a:endParaRPr lang="en-US" sz="1250" dirty="0"/>
          </a:p>
        </p:txBody>
      </p:sp>
      <p:sp>
        <p:nvSpPr>
          <p:cNvPr id="24" name="Text 22"/>
          <p:cNvSpPr/>
          <p:nvPr/>
        </p:nvSpPr>
        <p:spPr>
          <a:xfrm>
            <a:off x="6766560" y="3739896"/>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4.</a:t>
            </a:r>
            <a:endParaRPr lang="en-US" sz="1250" dirty="0"/>
          </a:p>
        </p:txBody>
      </p:sp>
      <p:sp>
        <p:nvSpPr>
          <p:cNvPr id="25" name="Text 23"/>
          <p:cNvSpPr/>
          <p:nvPr/>
        </p:nvSpPr>
        <p:spPr>
          <a:xfrm>
            <a:off x="7086600" y="3739896"/>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Spring Boot Documentation</a:t>
            </a:r>
            <a:endParaRPr lang="en-US" sz="1250" dirty="0"/>
          </a:p>
        </p:txBody>
      </p:sp>
      <p:sp>
        <p:nvSpPr>
          <p:cNvPr id="26" name="Text 24"/>
          <p:cNvSpPr/>
          <p:nvPr/>
        </p:nvSpPr>
        <p:spPr>
          <a:xfrm>
            <a:off x="6766560" y="4270248"/>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5.</a:t>
            </a:r>
            <a:endParaRPr lang="en-US" sz="1250" dirty="0"/>
          </a:p>
        </p:txBody>
      </p:sp>
      <p:sp>
        <p:nvSpPr>
          <p:cNvPr id="27" name="Text 25"/>
          <p:cNvSpPr/>
          <p:nvPr/>
        </p:nvSpPr>
        <p:spPr>
          <a:xfrm>
            <a:off x="7086600" y="4270248"/>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NLTK Documentation</a:t>
            </a:r>
            <a:endParaRPr lang="en-US" sz="1250" dirty="0"/>
          </a:p>
        </p:txBody>
      </p:sp>
      <p:sp>
        <p:nvSpPr>
          <p:cNvPr id="28" name="Text 26"/>
          <p:cNvSpPr/>
          <p:nvPr/>
        </p:nvSpPr>
        <p:spPr>
          <a:xfrm>
            <a:off x="6766560" y="4800600"/>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6.</a:t>
            </a:r>
            <a:endParaRPr lang="en-US" sz="1250" dirty="0"/>
          </a:p>
        </p:txBody>
      </p:sp>
      <p:sp>
        <p:nvSpPr>
          <p:cNvPr id="29" name="Text 27"/>
          <p:cNvSpPr/>
          <p:nvPr/>
        </p:nvSpPr>
        <p:spPr>
          <a:xfrm>
            <a:off x="7086600" y="4800600"/>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spaCy Documentation</a:t>
            </a:r>
            <a:endParaRPr lang="en-US" sz="1250" dirty="0"/>
          </a:p>
        </p:txBody>
      </p:sp>
      <p:sp>
        <p:nvSpPr>
          <p:cNvPr id="30" name="Text 28"/>
          <p:cNvSpPr/>
          <p:nvPr/>
        </p:nvSpPr>
        <p:spPr>
          <a:xfrm>
            <a:off x="6766560" y="5330952"/>
            <a:ext cx="320040" cy="365760"/>
          </a:xfrm>
          <a:prstGeom prst="rect">
            <a:avLst/>
          </a:prstGeom>
          <a:noFill/>
        </p:spPr>
        <p:txBody>
          <a:bodyPr wrap="square" rtlCol="0" anchor="ctr"/>
          <a:lstStyle/>
          <a:p>
            <a:pPr marL="0" indent="0">
              <a:buNone/>
            </a:pPr>
            <a:r>
              <a:rPr lang="en-US" sz="1250" b="1" dirty="0">
                <a:solidFill>
                  <a:srgbClr val="E8604B"/>
                </a:solidFill>
                <a:latin typeface="Calibri" panose="020F0502020204030204" pitchFamily="34" charset="0"/>
                <a:ea typeface="Calibri" panose="020F0502020204030204" pitchFamily="34" charset="-122"/>
                <a:cs typeface="Calibri" panose="020F0502020204030204" pitchFamily="34" charset="-120"/>
              </a:rPr>
              <a:t>7.</a:t>
            </a:r>
            <a:endParaRPr lang="en-US" sz="1250" dirty="0"/>
          </a:p>
        </p:txBody>
      </p:sp>
      <p:sp>
        <p:nvSpPr>
          <p:cNvPr id="31" name="Text 29"/>
          <p:cNvSpPr/>
          <p:nvPr/>
        </p:nvSpPr>
        <p:spPr>
          <a:xfrm>
            <a:off x="7086600" y="5330952"/>
            <a:ext cx="4572000" cy="365760"/>
          </a:xfrm>
          <a:prstGeom prst="rect">
            <a:avLst/>
          </a:prstGeom>
          <a:noFill/>
        </p:spPr>
        <p:txBody>
          <a:bodyPr wrap="square" rtlCol="0" anchor="t"/>
          <a:lstStyle/>
          <a:p>
            <a:pPr marL="0" indent="0">
              <a:buNone/>
            </a:pPr>
            <a:r>
              <a:rPr lang="en-US" sz="1250" dirty="0">
                <a:solidFill>
                  <a:srgbClr val="2B2B2B"/>
                </a:solidFill>
                <a:latin typeface="Calibri" panose="020F0502020204030204" pitchFamily="34" charset="0"/>
                <a:ea typeface="Calibri" panose="020F0502020204030204" pitchFamily="34" charset="-122"/>
                <a:cs typeface="Calibri" panose="020F0502020204030204" pitchFamily="34" charset="-120"/>
              </a:rPr>
              <a:t>MySQL Documentation</a:t>
            </a:r>
            <a:endParaRPr lang="en-US" sz="1250" dirty="0"/>
          </a:p>
        </p:txBody>
      </p:sp>
      <p:sp>
        <p:nvSpPr>
          <p:cNvPr id="32" name="Text 30"/>
          <p:cNvSpPr/>
          <p:nvPr/>
        </p:nvSpPr>
        <p:spPr>
          <a:xfrm>
            <a:off x="11521440" y="6446520"/>
            <a:ext cx="457200" cy="320040"/>
          </a:xfrm>
          <a:prstGeom prst="rect">
            <a:avLst/>
          </a:prstGeom>
          <a:noFill/>
        </p:spPr>
        <p:txBody>
          <a:bodyPr wrap="square" rtlCol="0" anchor="ctr"/>
          <a:lstStyle/>
          <a:p>
            <a:pPr marL="0" indent="0" algn="r">
              <a:buNone/>
            </a:pPr>
            <a:r>
              <a:rPr lang="en-US" sz="1100" dirty="0">
                <a:solidFill>
                  <a:srgbClr val="5A6472"/>
                </a:solidFill>
                <a:latin typeface="Calibri" panose="020F0502020204030204" pitchFamily="34" charset="0"/>
                <a:ea typeface="Calibri" panose="020F0502020204030204" pitchFamily="34" charset="-122"/>
                <a:cs typeface="Calibri" panose="020F0502020204030204"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40935" y="3075940"/>
            <a:ext cx="2309495" cy="706755"/>
          </a:xfrm>
          <a:prstGeom prst="rect">
            <a:avLst/>
          </a:prstGeom>
          <a:noFill/>
        </p:spPr>
        <p:txBody>
          <a:bodyPr wrap="square" rtlCol="0">
            <a:spAutoFit/>
          </a:bodyPr>
          <a:p>
            <a:r>
              <a:rPr lang="en-IN" altLang="en-US" sz="4000" i="1"/>
              <a:t>Thank You</a:t>
            </a:r>
            <a:endParaRPr lang="en-IN" altLang="en-US" sz="4000" i="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2833</Words>
  <Application>WPS Presentation</Application>
  <PresentationFormat>On-screen Show (16:9)</PresentationFormat>
  <Paragraphs>235</Paragraphs>
  <Slides>8</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deekshitha</cp:lastModifiedBy>
  <cp:revision>4</cp:revision>
  <dcterms:created xsi:type="dcterms:W3CDTF">2026-08-02T11:59:00Z</dcterms:created>
  <dcterms:modified xsi:type="dcterms:W3CDTF">2026-08-02T14:59:48Z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216B86CF654B437083DA895F91F342F8_13</vt:lpwstr>
  </property>
  <property fmtid="{D5CDD505-2E9C-101B-9397-08002B2CF9AE}" pid="3" name="KSOProductBuildVer">
    <vt:lpwstr>1033-12.1.0.28032</vt:lpwstr>
  </property>
</Properties>
</file>