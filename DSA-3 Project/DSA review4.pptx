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93776"/>
            <a:ext cx="2240280" cy="274320"/>
          </a:xfrm>
          <a:prstGeom prst="roundRect">
            <a:avLst/>
          </a:prstGeom>
          <a:solidFill>
            <a:srgbClr val="27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93776"/>
            <a:ext cx="216712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5E1FF"/>
                </a:solidFill>
                <a:latin typeface="Aptos"/>
              </a:rPr>
              <a:t>COLLEGE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52578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Automated Question
Bank Generation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43200"/>
            <a:ext cx="49377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D4DFF2"/>
                </a:solidFill>
                <a:latin typeface="Aptos"/>
              </a:rPr>
              <a:t>AI-powered educational content processing
and question-paper generation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593592"/>
            <a:ext cx="4526280" cy="576072"/>
          </a:xfrm>
          <a:prstGeom prst="roundRect">
            <a:avLst/>
          </a:prstGeom>
          <a:solidFill>
            <a:srgbClr val="1C2E49"/>
          </a:solidFill>
          <a:ln w="8890">
            <a:solidFill>
              <a:srgbClr val="354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730752"/>
            <a:ext cx="292608" cy="292608"/>
          </a:xfrm>
          <a:prstGeom prst="roundRect">
            <a:avLst/>
          </a:prstGeom>
          <a:solidFill>
            <a:srgbClr val="33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5" y="3730752"/>
            <a:ext cx="2651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657600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EAF0FC"/>
                </a:solidFill>
                <a:latin typeface="Aptos"/>
              </a:rPr>
              <a:t>Turn teaching material into a reusable,
searchable assessment resource.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5074920"/>
            <a:ext cx="4645152" cy="0"/>
          </a:xfrm>
          <a:prstGeom prst="line">
            <a:avLst/>
          </a:prstGeom>
          <a:ln w="10160">
            <a:solidFill>
              <a:srgbClr val="496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523036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D5DFF0"/>
                </a:solidFill>
                <a:latin typeface="Aptos"/>
              </a:rPr>
              <a:t>TEAM MEMBERS  ·  Name 1  ·  Name 2  ·  Name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559552"/>
            <a:ext cx="5212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AEBED7"/>
                </a:solidFill>
                <a:latin typeface="Aptos"/>
              </a:rPr>
              <a:t>College / Institution: ____________________
Department: 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EB1D0"/>
                </a:solidFill>
                <a:latin typeface="Aptos"/>
              </a:rPr>
              <a:t>ACADEMIC YEAR 2026–27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914400"/>
            <a:ext cx="5376672" cy="5166360"/>
          </a:xfrm>
          <a:prstGeom prst="roundRect">
            <a:avLst/>
          </a:prstGeom>
          <a:solidFill>
            <a:srgbClr val="172844"/>
          </a:solidFill>
          <a:ln w="8890">
            <a:solidFill>
              <a:srgbClr val="34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17043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AFC3E5"/>
                </a:solidFill>
                <a:latin typeface="Aptos"/>
              </a:rPr>
              <a:t>FROM SOURCE MATERIAL TO PRINT-READY ASSESSMENT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60919" y="3483863"/>
            <a:ext cx="211684" cy="0"/>
          </a:xfrm>
          <a:prstGeom prst="line">
            <a:avLst/>
          </a:prstGeom>
          <a:ln w="15240">
            <a:solidFill>
              <a:srgbClr val="819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7543800" y="3436132"/>
            <a:ext cx="82296" cy="95463"/>
          </a:xfrm>
          <a:prstGeom prst="triangle">
            <a:avLst/>
          </a:prstGeom>
          <a:solidFill>
            <a:srgbClr val="819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613648" y="3483863"/>
            <a:ext cx="211683" cy="0"/>
          </a:xfrm>
          <a:prstGeom prst="line">
            <a:avLst/>
          </a:prstGeom>
          <a:ln w="15240">
            <a:solidFill>
              <a:srgbClr val="819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8796528" y="3436132"/>
            <a:ext cx="82296" cy="95463"/>
          </a:xfrm>
          <a:prstGeom prst="triangle">
            <a:avLst/>
          </a:prstGeom>
          <a:solidFill>
            <a:srgbClr val="819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866376" y="3483863"/>
            <a:ext cx="211683" cy="0"/>
          </a:xfrm>
          <a:prstGeom prst="line">
            <a:avLst/>
          </a:prstGeom>
          <a:ln w="15240">
            <a:solidFill>
              <a:srgbClr val="819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10049256" y="3436132"/>
            <a:ext cx="82296" cy="95463"/>
          </a:xfrm>
          <a:prstGeom prst="triangle">
            <a:avLst/>
          </a:prstGeom>
          <a:solidFill>
            <a:srgbClr val="819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19088" y="2322576"/>
            <a:ext cx="1060704" cy="1627632"/>
          </a:xfrm>
          <a:prstGeom prst="roundRect">
            <a:avLst/>
          </a:prstGeom>
          <a:solidFill>
            <a:srgbClr val="203552"/>
          </a:solidFill>
          <a:ln w="8890">
            <a:solidFill>
              <a:srgbClr val="40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02551" y="2578608"/>
            <a:ext cx="493776" cy="493776"/>
          </a:xfrm>
          <a:prstGeom prst="roundRect">
            <a:avLst/>
          </a:prstGeom>
          <a:solidFill>
            <a:srgbClr val="597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6267" y="2578608"/>
            <a:ext cx="46634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ptos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1" y="3182112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E5ECF8"/>
                </a:solidFill>
                <a:latin typeface="Aptos"/>
              </a:rPr>
              <a:t>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49300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AFBED4"/>
                </a:solidFill>
                <a:latin typeface="Aptos"/>
              </a:rPr>
              <a:t>Study material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71816" y="2322576"/>
            <a:ext cx="1060704" cy="1627632"/>
          </a:xfrm>
          <a:prstGeom prst="roundRect">
            <a:avLst/>
          </a:prstGeom>
          <a:solidFill>
            <a:srgbClr val="203552"/>
          </a:solidFill>
          <a:ln w="8890">
            <a:solidFill>
              <a:srgbClr val="40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5280" y="2578608"/>
            <a:ext cx="493776" cy="493776"/>
          </a:xfrm>
          <a:prstGeom prst="roundRect">
            <a:avLst/>
          </a:prstGeom>
          <a:solidFill>
            <a:srgbClr val="817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8996" y="2578608"/>
            <a:ext cx="46634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3182112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E5ECF8"/>
                </a:solidFill>
                <a:latin typeface="Aptos"/>
              </a:rPr>
              <a:t>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8392" y="349300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AFBED4"/>
                </a:solidFill>
                <a:latin typeface="Aptos"/>
              </a:rPr>
              <a:t>NLP + rules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24544" y="2322576"/>
            <a:ext cx="1060704" cy="1627632"/>
          </a:xfrm>
          <a:prstGeom prst="roundRect">
            <a:avLst/>
          </a:prstGeom>
          <a:solidFill>
            <a:srgbClr val="203552"/>
          </a:solidFill>
          <a:ln w="8890">
            <a:solidFill>
              <a:srgbClr val="40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08008" y="2578608"/>
            <a:ext cx="493776" cy="493776"/>
          </a:xfrm>
          <a:prstGeom prst="roundRect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1724" y="2578608"/>
            <a:ext cx="46634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QB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3182112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E5ECF8"/>
                </a:solidFill>
                <a:latin typeface="Aptos"/>
              </a:rPr>
              <a:t>QUESTION BANK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19" y="349300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AFBED4"/>
                </a:solidFill>
                <a:latin typeface="Aptos"/>
              </a:rPr>
              <a:t>Searchable set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77272" y="2322576"/>
            <a:ext cx="1060704" cy="1627632"/>
          </a:xfrm>
          <a:prstGeom prst="roundRect">
            <a:avLst/>
          </a:prstGeom>
          <a:solidFill>
            <a:srgbClr val="203552"/>
          </a:solidFill>
          <a:ln w="8890">
            <a:solidFill>
              <a:srgbClr val="40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460736" y="2578608"/>
            <a:ext cx="493776" cy="493776"/>
          </a:xfrm>
          <a:prstGeom prst="roundRect">
            <a:avLst/>
          </a:prstGeom>
          <a:solidFill>
            <a:srgbClr val="1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4452" y="2578608"/>
            <a:ext cx="46634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ptos"/>
              </a:rPr>
              <a:t>PAPER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32136" y="3182112"/>
            <a:ext cx="9509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E5ECF8"/>
                </a:solidFill>
                <a:latin typeface="Aptos"/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3848" y="349300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AFBED4"/>
                </a:solidFill>
                <a:latin typeface="Aptos"/>
              </a:rPr>
              <a:t>PDF paper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73952" y="4416552"/>
            <a:ext cx="4681728" cy="1051560"/>
          </a:xfrm>
          <a:prstGeom prst="roundRect">
            <a:avLst/>
          </a:prstGeom>
          <a:solidFill>
            <a:srgbClr val="1B2D49"/>
          </a:solidFill>
          <a:ln w="10160">
            <a:solidFill>
              <a:srgbClr val="34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9984" y="4590288"/>
            <a:ext cx="104241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8FCFE1"/>
                </a:solidFill>
                <a:latin typeface="Aptos"/>
              </a:rPr>
              <a:t>TEACHER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4855464"/>
            <a:ext cx="4133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F6FD"/>
                </a:solidFill>
                <a:latin typeface="Aptos"/>
              </a:rPr>
              <a:t>Search  ·  Filter  ·  Edit  ·  Build  ·  Export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5248656"/>
            <a:ext cx="4069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B4C5DE"/>
                </a:solidFill>
                <a:latin typeface="Aptos"/>
              </a:rPr>
              <a:t>A complete full-stack application — not just a UI prototype.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4432" y="632764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EB1D0"/>
                </a:solidFill>
                <a:latin typeface="Aptos"/>
              </a:rPr>
              <a:t>PROJECT OVERVIEW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01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Why automate question-bank creation?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Manual assessment workflows consume time and make reuse, consistency and discovery harder.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02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517904"/>
            <a:ext cx="5330952" cy="456285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8" y="1517904"/>
            <a:ext cx="5330952" cy="456285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1728216"/>
            <a:ext cx="1554480" cy="256032"/>
          </a:xfrm>
          <a:prstGeom prst="round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728216"/>
            <a:ext cx="148132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D95772"/>
                </a:solidFill>
                <a:latin typeface="Aptos"/>
              </a:rPr>
              <a:t>TRADITIONAL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1728216"/>
            <a:ext cx="1417320" cy="25603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728216"/>
            <a:ext cx="134416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C9A87"/>
                </a:solidFill>
                <a:latin typeface="Aptos"/>
              </a:rPr>
              <a:t>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01168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7263C"/>
                </a:solidFill>
                <a:latin typeface="Aptos"/>
              </a:rPr>
              <a:t>A high-effort, fragmented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01168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7263C"/>
                </a:solidFill>
                <a:latin typeface="Aptos"/>
              </a:rPr>
              <a:t>A connected, teacher-controlled system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0" y="2980944"/>
            <a:ext cx="0" cy="147218"/>
          </a:xfrm>
          <a:prstGeom prst="line">
            <a:avLst/>
          </a:prstGeom>
          <a:ln w="12700">
            <a:solidFill>
              <a:srgbClr val="D99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1060155" y="3108960"/>
            <a:ext cx="74249" cy="64008"/>
          </a:xfrm>
          <a:prstGeom prst="triangle">
            <a:avLst/>
          </a:prstGeom>
          <a:solidFill>
            <a:srgbClr val="D99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2505456"/>
            <a:ext cx="310896" cy="310896"/>
          </a:xfrm>
          <a:prstGeom prst="ellipse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25054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5772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468880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63C"/>
                </a:solidFill>
                <a:latin typeface="Aptos"/>
              </a:rPr>
              <a:t>Educational material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71576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58B"/>
                </a:solidFill>
                <a:latin typeface="Aptos"/>
              </a:rPr>
              <a:t>Large PDFs require repeated reading.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3703320"/>
            <a:ext cx="0" cy="147218"/>
          </a:xfrm>
          <a:prstGeom prst="line">
            <a:avLst/>
          </a:prstGeom>
          <a:ln w="12700">
            <a:solidFill>
              <a:srgbClr val="D99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1060155" y="3831335"/>
            <a:ext cx="74249" cy="64008"/>
          </a:xfrm>
          <a:prstGeom prst="triangle">
            <a:avLst/>
          </a:prstGeom>
          <a:solidFill>
            <a:srgbClr val="D99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227832"/>
            <a:ext cx="310896" cy="310896"/>
          </a:xfrm>
          <a:prstGeom prst="ellipse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2278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5772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191256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63C"/>
                </a:solidFill>
                <a:latin typeface="Aptos"/>
              </a:rPr>
              <a:t>Manual question writing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43814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58B"/>
                </a:solidFill>
                <a:latin typeface="Aptos"/>
              </a:rPr>
              <a:t>Drafting each item takes focused time.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97280" y="4425696"/>
            <a:ext cx="0" cy="147218"/>
          </a:xfrm>
          <a:prstGeom prst="line">
            <a:avLst/>
          </a:prstGeom>
          <a:ln w="12700">
            <a:solidFill>
              <a:srgbClr val="D99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1060155" y="4553712"/>
            <a:ext cx="74249" cy="64008"/>
          </a:xfrm>
          <a:prstGeom prst="triangle">
            <a:avLst/>
          </a:prstGeom>
          <a:solidFill>
            <a:srgbClr val="D99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1832" y="3950208"/>
            <a:ext cx="310896" cy="310896"/>
          </a:xfrm>
          <a:prstGeom prst="ellipse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39502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5772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913632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63C"/>
                </a:solidFill>
                <a:latin typeface="Aptos"/>
              </a:rPr>
              <a:t>Manual categorization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16052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58B"/>
                </a:solidFill>
                <a:latin typeface="Aptos"/>
              </a:rPr>
              <a:t>Topics and difficulty are tagged by hand.</a:t>
            </a:r>
          </a:p>
        </p:txBody>
      </p:sp>
      <p:sp>
        <p:nvSpPr>
          <p:cNvPr id="36" name="Oval 35"/>
          <p:cNvSpPr/>
          <p:nvPr/>
        </p:nvSpPr>
        <p:spPr>
          <a:xfrm>
            <a:off x="941832" y="4672584"/>
            <a:ext cx="310896" cy="310896"/>
          </a:xfrm>
          <a:prstGeom prst="ellipse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467258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5772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636008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63C"/>
                </a:solidFill>
                <a:latin typeface="Aptos"/>
              </a:rPr>
              <a:t>Paper assembly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882896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58B"/>
                </a:solidFill>
                <a:latin typeface="Aptos"/>
              </a:rPr>
              <a:t>Search, balance and formatting are repeated.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11696" y="2980944"/>
            <a:ext cx="0" cy="147218"/>
          </a:xfrm>
          <a:prstGeom prst="line">
            <a:avLst/>
          </a:prstGeom>
          <a:ln w="12700">
            <a:solidFill>
              <a:srgbClr val="86C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674571" y="3108960"/>
            <a:ext cx="74249" cy="64008"/>
          </a:xfrm>
          <a:prstGeom prst="triangle">
            <a:avLst/>
          </a:prstGeom>
          <a:solidFill>
            <a:srgbClr val="86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56248" y="2505456"/>
            <a:ext cx="310896" cy="310896"/>
          </a:xfrm>
          <a:prstGeom prst="ellipse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8" y="25054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86016" y="2468880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63C"/>
                </a:solidFill>
                <a:latin typeface="Aptos"/>
              </a:rPr>
              <a:t>Upload &amp; extract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86016" y="271576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58B"/>
                </a:solidFill>
                <a:latin typeface="Aptos"/>
              </a:rPr>
              <a:t>PDF text is parsed into usable content.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11696" y="3703320"/>
            <a:ext cx="0" cy="147218"/>
          </a:xfrm>
          <a:prstGeom prst="line">
            <a:avLst/>
          </a:prstGeom>
          <a:ln w="12700">
            <a:solidFill>
              <a:srgbClr val="86C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10800000">
            <a:off x="6674571" y="3831335"/>
            <a:ext cx="74249" cy="64008"/>
          </a:xfrm>
          <a:prstGeom prst="triangle">
            <a:avLst/>
          </a:prstGeom>
          <a:solidFill>
            <a:srgbClr val="86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556248" y="3227832"/>
            <a:ext cx="310896" cy="310896"/>
          </a:xfrm>
          <a:prstGeom prst="ellipse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6248" y="32278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86016" y="3191256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63C"/>
                </a:solidFill>
                <a:latin typeface="Aptos"/>
              </a:rPr>
              <a:t>NLP &amp; generation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86016" y="343814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58B"/>
                </a:solidFill>
                <a:latin typeface="Aptos"/>
              </a:rPr>
              <a:t>Keywords, topics and candidate questions.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11696" y="4425696"/>
            <a:ext cx="0" cy="147218"/>
          </a:xfrm>
          <a:prstGeom prst="line">
            <a:avLst/>
          </a:prstGeom>
          <a:ln w="12700">
            <a:solidFill>
              <a:srgbClr val="86C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6674571" y="4553712"/>
            <a:ext cx="74249" cy="64008"/>
          </a:xfrm>
          <a:prstGeom prst="triangle">
            <a:avLst/>
          </a:prstGeom>
          <a:solidFill>
            <a:srgbClr val="86C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6248" y="3950208"/>
            <a:ext cx="310896" cy="310896"/>
          </a:xfrm>
          <a:prstGeom prst="ellipse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39502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86016" y="3913632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63C"/>
                </a:solidFill>
                <a:latin typeface="Aptos"/>
              </a:rPr>
              <a:t>Classify &amp; store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6016" y="416052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58B"/>
                </a:solidFill>
                <a:latin typeface="Aptos"/>
              </a:rPr>
              <a:t>Difficulty and type join a central bank.</a:t>
            </a:r>
          </a:p>
        </p:txBody>
      </p:sp>
      <p:sp>
        <p:nvSpPr>
          <p:cNvPr id="58" name="Oval 57"/>
          <p:cNvSpPr/>
          <p:nvPr/>
        </p:nvSpPr>
        <p:spPr>
          <a:xfrm>
            <a:off x="6556248" y="4672584"/>
            <a:ext cx="310896" cy="310896"/>
          </a:xfrm>
          <a:prstGeom prst="ellipse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56248" y="467258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86016" y="4636008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63C"/>
                </a:solidFill>
                <a:latin typeface="Aptos"/>
              </a:rPr>
              <a:t>Build &amp; export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86016" y="4882896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58B"/>
                </a:solidFill>
                <a:latin typeface="Aptos"/>
              </a:rPr>
              <a:t>Filter, edit, arrange and export a paper.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6112" y="5495544"/>
            <a:ext cx="4736592" cy="329184"/>
          </a:xfrm>
          <a:prstGeom prst="round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" y="5495544"/>
            <a:ext cx="466344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5772"/>
                </a:solidFill>
                <a:latin typeface="Aptos"/>
              </a:rPr>
              <a:t>PAIN POINTS  ·  time  ·  duplicate risk  ·  scattered records  ·  slow search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10528" y="5495544"/>
            <a:ext cx="4736592" cy="329184"/>
          </a:xfrm>
          <a:prstGeom prst="roundRect">
            <a:avLst/>
          </a:prstGeom>
          <a:solidFill>
            <a:srgbClr val="EF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47104" y="5495544"/>
            <a:ext cx="466344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OUTCOME  ·  reusable questions  ·  structured bank  ·  faster paper assembly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02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Proposed solution: one connected teacher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Educational material enters once; the system turns it into a managed, reusable assessment asset.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03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965960"/>
            <a:ext cx="1197864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093976"/>
            <a:ext cx="411480" cy="228600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93976"/>
            <a:ext cx="3383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2877E8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87168"/>
            <a:ext cx="97840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Teacher
uploads PDF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" y="3200400"/>
            <a:ext cx="832104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9272"/>
            <a:ext cx="10881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2877E8"/>
                </a:solidFill>
                <a:latin typeface="Aptos"/>
              </a:rPr>
              <a:t>SOURCE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15084" y="2916936"/>
            <a:ext cx="124815" cy="0"/>
          </a:xfrm>
          <a:prstGeom prst="line">
            <a:avLst/>
          </a:prstGeom>
          <a:ln w="14604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1911096" y="2869204"/>
            <a:ext cx="82296" cy="95463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02536" y="1965960"/>
            <a:ext cx="1197864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12264" y="2093976"/>
            <a:ext cx="411480" cy="228600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2093976"/>
            <a:ext cx="3383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2877E8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2264" y="2487168"/>
            <a:ext cx="97840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Extract
text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85416" y="3200400"/>
            <a:ext cx="832104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57400" y="3319272"/>
            <a:ext cx="10881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2877E8"/>
                </a:solidFill>
                <a:latin typeface="Aptos"/>
              </a:rPr>
              <a:t>PARSE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14116" y="2916936"/>
            <a:ext cx="124815" cy="0"/>
          </a:xfrm>
          <a:prstGeom prst="line">
            <a:avLst/>
          </a:prstGeom>
          <a:ln w="14604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3310128" y="2869204"/>
            <a:ext cx="82296" cy="95463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01568" y="1965960"/>
            <a:ext cx="1197864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11296" y="2093976"/>
            <a:ext cx="411480" cy="228600"/>
          </a:xfrm>
          <a:prstGeom prst="roundRect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2093976"/>
            <a:ext cx="3383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1A8C3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1296" y="2487168"/>
            <a:ext cx="97840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Clean &amp;
segment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84448" y="3200400"/>
            <a:ext cx="832104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456432" y="3319272"/>
            <a:ext cx="10881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1A8C3"/>
                </a:solidFill>
                <a:latin typeface="Aptos"/>
              </a:rPr>
              <a:t>PREPARE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13148" y="2916936"/>
            <a:ext cx="124815" cy="0"/>
          </a:xfrm>
          <a:prstGeom prst="line">
            <a:avLst/>
          </a:prstGeom>
          <a:ln w="14604">
            <a:solidFill>
              <a:srgbClr val="11A8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4709160" y="2869204"/>
            <a:ext cx="82296" cy="95463"/>
          </a:xfrm>
          <a:prstGeom prst="triangle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00600" y="1965960"/>
            <a:ext cx="1197864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910328" y="2093976"/>
            <a:ext cx="411480" cy="228600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46904" y="2093976"/>
            <a:ext cx="3383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5146E5"/>
                </a:solidFill>
                <a:latin typeface="Apto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0328" y="2487168"/>
            <a:ext cx="97840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Keywords +
topics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83480" y="3200400"/>
            <a:ext cx="832104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855464" y="3319272"/>
            <a:ext cx="10881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146E5"/>
                </a:solidFill>
                <a:latin typeface="Aptos"/>
              </a:rPr>
              <a:t>UNDERSTAND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12180" y="2916936"/>
            <a:ext cx="124815" cy="0"/>
          </a:xfrm>
          <a:prstGeom prst="line">
            <a:avLst/>
          </a:prstGeom>
          <a:ln w="14604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6108192" y="2869204"/>
            <a:ext cx="82296" cy="95463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9632" y="1965960"/>
            <a:ext cx="1197864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09360" y="2093976"/>
            <a:ext cx="411480" cy="228600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2093976"/>
            <a:ext cx="3383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805AD5"/>
                </a:solidFill>
                <a:latin typeface="Apto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487168"/>
            <a:ext cx="97840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Generate
questions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82512" y="3200400"/>
            <a:ext cx="832104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54496" y="3319272"/>
            <a:ext cx="10881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805AD5"/>
                </a:solidFill>
                <a:latin typeface="Aptos"/>
              </a:rPr>
              <a:t>GENERATE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411212" y="2916936"/>
            <a:ext cx="124815" cy="0"/>
          </a:xfrm>
          <a:prstGeom prst="line">
            <a:avLst/>
          </a:prstGeom>
          <a:ln w="14604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7507224" y="2869204"/>
            <a:ext cx="82296" cy="95463"/>
          </a:xfrm>
          <a:prstGeom prst="triangl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598664" y="1965960"/>
            <a:ext cx="1197864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708392" y="2093976"/>
            <a:ext cx="411480" cy="228600"/>
          </a:xfrm>
          <a:prstGeom prst="round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44967" y="2093976"/>
            <a:ext cx="3383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E9A12B"/>
                </a:solidFill>
                <a:latin typeface="Aptos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8392" y="2487168"/>
            <a:ext cx="97840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Estimate
difficulty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81544" y="3200400"/>
            <a:ext cx="832104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53528" y="3319272"/>
            <a:ext cx="10881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E9A12B"/>
                </a:solidFill>
                <a:latin typeface="Aptos"/>
              </a:rPr>
              <a:t>CLASSIFY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810244" y="2916936"/>
            <a:ext cx="124815" cy="0"/>
          </a:xfrm>
          <a:prstGeom prst="line">
            <a:avLst/>
          </a:prstGeom>
          <a:ln w="14604">
            <a:solidFill>
              <a:srgbClr val="E9A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8906256" y="2869204"/>
            <a:ext cx="82296" cy="95463"/>
          </a:xfrm>
          <a:prstGeom prst="triangle">
            <a:avLst/>
          </a:prstGeom>
          <a:solidFill>
            <a:srgbClr val="E9A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997696" y="1965960"/>
            <a:ext cx="1197864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107424" y="2093976"/>
            <a:ext cx="411480" cy="228600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3999" y="2093976"/>
            <a:ext cx="3383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0C9A87"/>
                </a:solidFill>
                <a:latin typeface="Aptos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07424" y="2487168"/>
            <a:ext cx="97840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Question
bank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180576" y="3200400"/>
            <a:ext cx="832104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052560" y="3319272"/>
            <a:ext cx="10881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C9A87"/>
                </a:solidFill>
                <a:latin typeface="Aptos"/>
              </a:rPr>
              <a:t>PERSIST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209276" y="2916936"/>
            <a:ext cx="124815" cy="0"/>
          </a:xfrm>
          <a:prstGeom prst="line">
            <a:avLst/>
          </a:prstGeom>
          <a:ln w="14604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10305288" y="2869204"/>
            <a:ext cx="82296" cy="95463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396728" y="1965960"/>
            <a:ext cx="1197864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506456" y="2093976"/>
            <a:ext cx="411480" cy="22860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43032" y="2093976"/>
            <a:ext cx="3383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C9A6C"/>
                </a:solidFill>
                <a:latin typeface="Aptos"/>
              </a:rPr>
              <a:t>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06456" y="2487168"/>
            <a:ext cx="97840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Build paper
&amp; export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579608" y="3200400"/>
            <a:ext cx="832104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451592" y="3319272"/>
            <a:ext cx="10881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C9A6C"/>
                </a:solidFill>
                <a:latin typeface="Aptos"/>
              </a:rPr>
              <a:t>DELIVER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434340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5758B"/>
                </a:solidFill>
                <a:latin typeface="Aptos"/>
              </a:rPr>
              <a:t>AFTER GENERATION · TEACHER REMAINS IN CONTROL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8368" y="4645152"/>
            <a:ext cx="3447288" cy="1024128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22959" y="4892040"/>
            <a:ext cx="393192" cy="393192"/>
          </a:xfrm>
          <a:prstGeom prst="roundRect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6675" y="4892040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53312" y="4773168"/>
            <a:ext cx="25786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7263C"/>
                </a:solidFill>
                <a:latin typeface="Aptos"/>
              </a:rPr>
              <a:t>Search &amp; filter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53312" y="510235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8B"/>
                </a:solidFill>
                <a:latin typeface="Aptos"/>
              </a:rPr>
              <a:t>topic · difficulty · type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70831" y="4645152"/>
            <a:ext cx="3447288" cy="102412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535423" y="4892040"/>
            <a:ext cx="393192" cy="393192"/>
          </a:xfrm>
          <a:prstGeom prst="round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49139" y="4892040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65775" y="4773168"/>
            <a:ext cx="25786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7263C"/>
                </a:solidFill>
                <a:latin typeface="Aptos"/>
              </a:rPr>
              <a:t>Review &amp; edit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65775" y="510235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8B"/>
                </a:solidFill>
                <a:latin typeface="Aptos"/>
              </a:rPr>
              <a:t>keep / revise / remove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83296" y="4645152"/>
            <a:ext cx="3447288" cy="1024128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247888" y="4892040"/>
            <a:ext cx="393192" cy="393192"/>
          </a:xfrm>
          <a:prstGeom prst="roundRect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61604" y="4892040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78240" y="4773168"/>
            <a:ext cx="25786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7263C"/>
                </a:solidFill>
                <a:latin typeface="Aptos"/>
              </a:rPr>
              <a:t>Assemble &amp; export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78240" y="510235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8B"/>
                </a:solidFill>
                <a:latin typeface="Aptos"/>
              </a:rPr>
              <a:t>marks · order · PDF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" y="5961888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5146E5"/>
                </a:solidFill>
                <a:latin typeface="Aptos"/>
              </a:rPr>
              <a:t>End-to-end path: upload → extract → process → generate → classify → store → curate → publish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03 ·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The system combines content processing with practical tools for assessment management.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04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00200"/>
            <a:ext cx="2642616" cy="1773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1783080"/>
            <a:ext cx="393192" cy="39319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" y="1783080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2877E8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13432"/>
            <a:ext cx="23317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Automate question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724912"/>
            <a:ext cx="232257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5758B"/>
                </a:solidFill>
                <a:latin typeface="Aptos"/>
              </a:rPr>
              <a:t>Convert educational content into draft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227832"/>
            <a:ext cx="493776" cy="32004"/>
          </a:xfrm>
          <a:prstGeom prst="rect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92424" y="1600200"/>
            <a:ext cx="2642616" cy="1773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57016" y="1783080"/>
            <a:ext cx="393192" cy="39319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1783080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146E5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2313432"/>
            <a:ext cx="23317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Reduce teacher 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6" y="2724912"/>
            <a:ext cx="232257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5758B"/>
                </a:solidFill>
                <a:latin typeface="Aptos"/>
              </a:rPr>
              <a:t>Cut repeated reading, drafting and formatting.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57016" y="3227832"/>
            <a:ext cx="493776" cy="320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81344" y="1600200"/>
            <a:ext cx="2642616" cy="1773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45936" y="1783080"/>
            <a:ext cx="393192" cy="393192"/>
          </a:xfrm>
          <a:prstGeom prst="roundRect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9652" y="1783080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1A8C3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313432"/>
            <a:ext cx="23317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Extract key concepts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724912"/>
            <a:ext cx="232257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5758B"/>
                </a:solidFill>
                <a:latin typeface="Aptos"/>
              </a:rPr>
              <a:t>Surface important keywords and topics.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3227832"/>
            <a:ext cx="493776" cy="32004"/>
          </a:xfrm>
          <a:prstGeom prst="rect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70264" y="1600200"/>
            <a:ext cx="2642616" cy="1773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34856" y="1783080"/>
            <a:ext cx="393192" cy="393192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8572" y="1783080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805AD5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2313432"/>
            <a:ext cx="23317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Classify each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2724912"/>
            <a:ext cx="232257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5758B"/>
                </a:solidFill>
                <a:latin typeface="Aptos"/>
              </a:rPr>
              <a:t>Assign type and estimated difficulty.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4856" y="3227832"/>
            <a:ext cx="493776" cy="32004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3504" y="3621024"/>
            <a:ext cx="2642616" cy="1773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8096" y="3803904"/>
            <a:ext cx="393192" cy="39319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" y="3803904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C9A87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4334256"/>
            <a:ext cx="23317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Centralize the question bank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745736"/>
            <a:ext cx="232257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5758B"/>
                </a:solidFill>
                <a:latin typeface="Aptos"/>
              </a:rPr>
              <a:t>Keep material organized and reusable.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5248656"/>
            <a:ext cx="493776" cy="32004"/>
          </a:xfrm>
          <a:prstGeom prst="rect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92424" y="3621024"/>
            <a:ext cx="2642616" cy="1773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57016" y="3803904"/>
            <a:ext cx="393192" cy="393192"/>
          </a:xfrm>
          <a:prstGeom prst="round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70732" y="3803904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E9A12B"/>
                </a:solidFill>
                <a:latin typeface="Aptos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57016" y="4334256"/>
            <a:ext cx="23317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Reduce duplication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7016" y="4745736"/>
            <a:ext cx="232257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5758B"/>
                </a:solidFill>
                <a:latin typeface="Aptos"/>
              </a:rPr>
              <a:t>Flag similar questions for review.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57016" y="5248656"/>
            <a:ext cx="493776" cy="32004"/>
          </a:xfrm>
          <a:prstGeom prst="rect">
            <a:avLst/>
          </a:prstGeom>
          <a:solidFill>
            <a:srgbClr val="E9A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81344" y="3621024"/>
            <a:ext cx="2642616" cy="1773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45936" y="3803904"/>
            <a:ext cx="393192" cy="393192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9652" y="3803904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C9A6C"/>
                </a:solidFill>
                <a:latin typeface="Aptos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4334256"/>
            <a:ext cx="23317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Enable fast discovery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5936" y="4745736"/>
            <a:ext cx="232257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5758B"/>
                </a:solidFill>
                <a:latin typeface="Aptos"/>
              </a:rPr>
              <a:t>Search and filter across stored questions.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45936" y="5248656"/>
            <a:ext cx="493776" cy="32004"/>
          </a:xfrm>
          <a:prstGeom prst="rect">
            <a:avLst/>
          </a:prstGeom>
          <a:solidFill>
            <a:srgbClr val="1C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70264" y="3621024"/>
            <a:ext cx="2642616" cy="1773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34856" y="3803904"/>
            <a:ext cx="393192" cy="393192"/>
          </a:xfrm>
          <a:prstGeom prst="round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8572" y="3803904"/>
            <a:ext cx="365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D95772"/>
                </a:solidFill>
                <a:latin typeface="Aptos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4856" y="4334256"/>
            <a:ext cx="23317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Simplify paper creation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4856" y="4745736"/>
            <a:ext cx="232257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5758B"/>
                </a:solidFill>
                <a:latin typeface="Aptos"/>
              </a:rPr>
              <a:t>Select, order, score and export to PDF.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34856" y="5248656"/>
            <a:ext cx="493776" cy="32004"/>
          </a:xfrm>
          <a:prstGeom prst="rect">
            <a:avLst/>
          </a:prstGeom>
          <a:solidFill>
            <a:srgbClr val="D95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04 ·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A focused feature set spans document ingestion, question management and paper production.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05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2642616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1728216"/>
            <a:ext cx="438912" cy="43891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" y="1728216"/>
            <a:ext cx="4114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877E8"/>
                </a:solidFill>
                <a:latin typeface="Aptos"/>
              </a:rPr>
              <a:t>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28600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Document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609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Upload and process educational PDFs.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" y="3118104"/>
            <a:ext cx="2331720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8952" y="3182112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2877E8"/>
                </a:solidFill>
                <a:latin typeface="Aptos"/>
              </a:rPr>
              <a:t>PDF · TEXT 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2424" y="1572768"/>
            <a:ext cx="2642616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728216"/>
            <a:ext cx="438912" cy="43891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1588" y="1728216"/>
            <a:ext cx="4114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146E5"/>
                </a:solidFill>
                <a:latin typeface="Aptos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28600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AI / NLP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6609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Extract text, keywords and topics.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47872" y="3118104"/>
            <a:ext cx="2331720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47872" y="3182112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146E5"/>
                </a:solidFill>
                <a:latin typeface="Aptos"/>
              </a:rPr>
              <a:t>CLEAN · SEGMENT · IDENTIFY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1572768"/>
            <a:ext cx="2642616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1728216"/>
            <a:ext cx="438912" cy="438912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508" y="1728216"/>
            <a:ext cx="4114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805AD5"/>
                </a:solidFill>
                <a:latin typeface="Aptos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228600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Multiple question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6609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MCQ, short, long and true/false.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36792" y="3118104"/>
            <a:ext cx="2331720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36792" y="3182112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805AD5"/>
                </a:solidFill>
                <a:latin typeface="Aptos"/>
              </a:rPr>
              <a:t>4 SUPPORTED FORMATS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0264" y="1572768"/>
            <a:ext cx="2642616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25712" y="1728216"/>
            <a:ext cx="438912" cy="438912"/>
          </a:xfrm>
          <a:prstGeom prst="round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9428" y="1728216"/>
            <a:ext cx="4114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E9A12B"/>
                </a:solidFill>
                <a:latin typeface="Aptos"/>
              </a:rPr>
              <a:t>LVL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228600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Difficulty classification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26609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Estimate easy, medium or hard.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25712" y="3118104"/>
            <a:ext cx="2331720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25712" y="3182112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E9A12B"/>
                </a:solidFill>
                <a:latin typeface="Aptos"/>
              </a:rPr>
              <a:t>EDITABLE TEACHER 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3712464"/>
            <a:ext cx="2642616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8952" y="3867912"/>
            <a:ext cx="438912" cy="438912"/>
          </a:xfrm>
          <a:prstGeom prst="roundRect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2668" y="3867912"/>
            <a:ext cx="4114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1A8C3"/>
                </a:solidFill>
                <a:latin typeface="Aptos"/>
              </a:rPr>
              <a:t>FIND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4425696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Smart search &amp; filters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48006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Narrow by topic, level, type or source.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58952" y="5257800"/>
            <a:ext cx="2331720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58952" y="5321808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1A8C3"/>
                </a:solidFill>
                <a:latin typeface="Aptos"/>
              </a:rPr>
              <a:t>FAST QUESTION DISCOVERY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92424" y="3712464"/>
            <a:ext cx="2642616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47872" y="3867912"/>
            <a:ext cx="438912" cy="43891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1588" y="3867912"/>
            <a:ext cx="4114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C9A87"/>
                </a:solidFill>
                <a:latin typeface="Aptos"/>
              </a:rPr>
              <a:t>BUILD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7872" y="4425696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Question-paper builder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47872" y="48006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Select, reorder and assign marks.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547872" y="5257800"/>
            <a:ext cx="2331720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47872" y="5321808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C9A87"/>
                </a:solidFill>
                <a:latin typeface="Aptos"/>
              </a:rPr>
              <a:t>CURATED PAPER ASSEMBLY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1344" y="3712464"/>
            <a:ext cx="2642616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36792" y="3867912"/>
            <a:ext cx="438912" cy="438912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0508" y="3867912"/>
            <a:ext cx="4114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C9A6C"/>
                </a:solidFill>
                <a:latin typeface="Aptos"/>
              </a:rPr>
              <a:t>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4425696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Analytics 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8006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View question and topic distributions.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336792" y="5257800"/>
            <a:ext cx="2331720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336792" y="5321808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C9A6C"/>
                </a:solidFill>
                <a:latin typeface="Aptos"/>
              </a:rPr>
              <a:t>DATABASE-DRIVEN METRICS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70264" y="3712464"/>
            <a:ext cx="2642616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25712" y="3867912"/>
            <a:ext cx="438912" cy="438912"/>
          </a:xfrm>
          <a:prstGeom prst="round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39428" y="3867912"/>
            <a:ext cx="4114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D95772"/>
                </a:solidFill>
                <a:latin typeface="Aptos"/>
              </a:rPr>
              <a:t>PDF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4425696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PDF export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5712" y="48006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Produce a clean, printable paper.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125712" y="5257800"/>
            <a:ext cx="2331720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125712" y="5321808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D95772"/>
                </a:solidFill>
                <a:latin typeface="Aptos"/>
              </a:rPr>
              <a:t>PREVIEW BEFORE DOWNLOAD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A modular full-stack design separates the teacher interface, application logic, NLP processing and persistence.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06 / 18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70632" y="2862072"/>
            <a:ext cx="349300" cy="0"/>
          </a:xfrm>
          <a:prstGeom prst="line">
            <a:avLst/>
          </a:prstGeom>
          <a:ln w="2159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081528" y="2798429"/>
            <a:ext cx="109728" cy="127284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862072"/>
            <a:ext cx="376732" cy="0"/>
          </a:xfrm>
          <a:prstGeom prst="line">
            <a:avLst/>
          </a:prstGeom>
          <a:ln w="2159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6199632" y="2798429"/>
            <a:ext cx="109728" cy="127284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769096" y="2862072"/>
            <a:ext cx="367588" cy="0"/>
          </a:xfrm>
          <a:prstGeom prst="line">
            <a:avLst/>
          </a:prstGeom>
          <a:ln w="2159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9098280" y="2798429"/>
            <a:ext cx="109728" cy="127284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400800" y="4343400"/>
            <a:ext cx="2286000" cy="0"/>
          </a:xfrm>
          <a:prstGeom prst="line">
            <a:avLst/>
          </a:prstGeom>
          <a:ln w="1524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400800" y="3968496"/>
            <a:ext cx="0" cy="374904"/>
          </a:xfrm>
          <a:prstGeom prst="line">
            <a:avLst/>
          </a:prstGeom>
          <a:ln w="1524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686800" y="3968496"/>
            <a:ext cx="0" cy="374904"/>
          </a:xfrm>
          <a:prstGeom prst="line">
            <a:avLst/>
          </a:prstGeom>
          <a:ln w="1524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6200000">
            <a:off x="6345936" y="3877056"/>
            <a:ext cx="109728" cy="146304"/>
          </a:xfrm>
          <a:prstGeom prst="triangl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" y="1947672"/>
            <a:ext cx="2148840" cy="2029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1947672"/>
            <a:ext cx="50292" cy="2029968"/>
          </a:xfrm>
          <a:prstGeom prst="rect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103120"/>
            <a:ext cx="384048" cy="21031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103120"/>
            <a:ext cx="310896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877E8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2423160"/>
            <a:ext cx="183794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877E8"/>
                </a:solidFill>
                <a:latin typeface="Aptos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2670048"/>
            <a:ext cx="18379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63C"/>
                </a:solidFill>
                <a:latin typeface="Aptos"/>
              </a:rPr>
              <a:t>React + Vite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3154680"/>
            <a:ext cx="18379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TypeScript · Tailwind CSS
React Router · Axios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18688" y="1947672"/>
            <a:ext cx="2651760" cy="2029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18688" y="1947672"/>
            <a:ext cx="50292" cy="2029968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83280" y="2103120"/>
            <a:ext cx="384048" cy="21031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9856" y="2103120"/>
            <a:ext cx="310896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146E5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2423160"/>
            <a:ext cx="234086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146E5"/>
                </a:solidFill>
                <a:latin typeface="Aptos"/>
              </a:rPr>
              <a:t>APPLICATION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2670048"/>
            <a:ext cx="23408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63C"/>
                </a:solidFill>
                <a:latin typeface="Aptos"/>
              </a:rPr>
              <a:t>Spring Boot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154680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Java · Spring Security
JWT · Spring Data JPA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45936" y="1947672"/>
            <a:ext cx="2423160" cy="2029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45936" y="1947672"/>
            <a:ext cx="50292" cy="2029968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10528" y="2103120"/>
            <a:ext cx="384048" cy="210312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2103120"/>
            <a:ext cx="310896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05AD5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2423160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05AD5"/>
                </a:solidFill>
                <a:latin typeface="Aptos"/>
              </a:rPr>
              <a:t>NLP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2670048"/>
            <a:ext cx="21122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63C"/>
                </a:solidFill>
                <a:latin typeface="Aptos"/>
              </a:rPr>
              <a:t>Python + FastAPI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3154680"/>
            <a:ext cx="21122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PyMuPDF · spaCy
NLTK · rule-based engine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7152" y="1947672"/>
            <a:ext cx="2350008" cy="2029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17152" y="1947672"/>
            <a:ext cx="50292" cy="2029968"/>
          </a:xfrm>
          <a:prstGeom prst="rect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81744" y="2103120"/>
            <a:ext cx="384048" cy="21031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19" y="2103120"/>
            <a:ext cx="310896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0C9A87"/>
                </a:solidFill>
                <a:latin typeface="Aptos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1744" y="2423160"/>
            <a:ext cx="203911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C9A87"/>
                </a:solidFill>
                <a:latin typeface="Aptos"/>
              </a:rPr>
              <a:t>DATA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81744" y="2670048"/>
            <a:ext cx="20391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63C"/>
                </a:solidFill>
                <a:latin typeface="Aptos"/>
              </a:rPr>
              <a:t>PostgreSQL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81744" y="3154680"/>
            <a:ext cx="2039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5758B"/>
                </a:solidFill>
                <a:latin typeface="Aptos"/>
              </a:rPr>
              <a:t>Users · documents
topics · questions · papers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1636776"/>
            <a:ext cx="768096" cy="210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96896" y="1636776"/>
            <a:ext cx="694944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2877E8"/>
                </a:solidFill>
                <a:latin typeface="Aptos"/>
              </a:rPr>
              <a:t>REST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0" y="1636776"/>
            <a:ext cx="804672" cy="210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05856" y="1636776"/>
            <a:ext cx="731520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5146E5"/>
                </a:solidFill>
                <a:latin typeface="Aptos"/>
              </a:rPr>
              <a:t>REQUEST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58784" y="1636776"/>
            <a:ext cx="868680" cy="210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59" y="1636776"/>
            <a:ext cx="795528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C9A87"/>
                </a:solidFill>
                <a:latin typeface="Aptos"/>
              </a:rPr>
              <a:t>JPA / SQL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2320" y="4187952"/>
            <a:ext cx="841248" cy="2286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D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68896" y="4187952"/>
            <a:ext cx="768096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805AD5"/>
                </a:solidFill>
                <a:latin typeface="Aptos"/>
              </a:rPr>
              <a:t>STRUCTURED RESULT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" y="4892040"/>
            <a:ext cx="10945368" cy="832104"/>
          </a:xfrm>
          <a:prstGeom prst="roundRect">
            <a:avLst/>
          </a:prstGeom>
          <a:solidFill>
            <a:srgbClr val="EA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41248" y="5102352"/>
            <a:ext cx="384048" cy="384048"/>
          </a:xfrm>
          <a:prstGeom prst="roundRect">
            <a:avLst/>
          </a:prstGeom>
          <a:solidFill>
            <a:srgbClr val="1B3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4964" y="5102352"/>
            <a:ext cx="3566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89888" y="5001768"/>
            <a:ext cx="9738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C"/>
                </a:solidFill>
                <a:latin typeface="Aptos"/>
              </a:rPr>
              <a:t>Spring Boot orchestrates the processing request, validates the response and persists reviewed records.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89888" y="5321808"/>
            <a:ext cx="973836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5758B"/>
                </a:solidFill>
                <a:latin typeface="Aptos"/>
              </a:rPr>
              <a:t>Clear service boundaries support independent testing and future replacement of the local question-generation engine.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06 · NLP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AI / NLP 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A transparent sequence turns PDF text into structured concepts, draft questions and an estimated level.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07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37160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877E8"/>
                </a:solidFill>
                <a:latin typeface="Aptos"/>
              </a:rPr>
              <a:t>01 · PARSE &amp; NORMALIZE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627632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1810512"/>
            <a:ext cx="338328" cy="338328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" y="1810512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877E8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1755648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12140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source file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4972" y="2112264"/>
            <a:ext cx="136931" cy="0"/>
          </a:xfrm>
          <a:prstGeom prst="line">
            <a:avLst/>
          </a:prstGeom>
          <a:ln w="1397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3314700" y="2067184"/>
            <a:ext cx="77724" cy="90159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01568" y="1627632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38728" y="1810512"/>
            <a:ext cx="338328" cy="338328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2444" y="1810512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877E8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1755648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Text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2140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PyMuPDF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3036" y="2112264"/>
            <a:ext cx="136931" cy="0"/>
          </a:xfrm>
          <a:prstGeom prst="line">
            <a:avLst/>
          </a:prstGeom>
          <a:ln w="1397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112764" y="2067184"/>
            <a:ext cx="77724" cy="90159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1627632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36792" y="1810512"/>
            <a:ext cx="338328" cy="338328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508" y="1810512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877E8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1755648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Text cleaning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12140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normalize noise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01100" y="2112264"/>
            <a:ext cx="136931" cy="0"/>
          </a:xfrm>
          <a:prstGeom prst="line">
            <a:avLst/>
          </a:prstGeom>
          <a:ln w="1397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8910828" y="2067184"/>
            <a:ext cx="77724" cy="90159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97696" y="1627632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34856" y="1810512"/>
            <a:ext cx="338328" cy="338328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8572" y="1810512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877E8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4624" y="1755648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Sentence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64624" y="212140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segment content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276148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5146E5"/>
                </a:solidFill>
                <a:latin typeface="Aptos"/>
              </a:rPr>
              <a:t>02 · LINGUISTIC SIGNALS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3017520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664" y="3200400"/>
            <a:ext cx="338328" cy="33832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" y="3200400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5146E5"/>
                </a:solidFill>
                <a:latin typeface="Aptos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" y="3145536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Tokenization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" y="3511296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split into tokens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04972" y="3502152"/>
            <a:ext cx="136931" cy="0"/>
          </a:xfrm>
          <a:prstGeom prst="line">
            <a:avLst/>
          </a:prstGeom>
          <a:ln w="1397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3314700" y="3457072"/>
            <a:ext cx="77724" cy="90159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01568" y="3017520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38728" y="3200400"/>
            <a:ext cx="338328" cy="33832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52444" y="3200400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5146E5"/>
                </a:solidFill>
                <a:latin typeface="Apto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8496" y="3145536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Stop-word removal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68496" y="3511296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retain signal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03036" y="3502152"/>
            <a:ext cx="136931" cy="0"/>
          </a:xfrm>
          <a:prstGeom prst="line">
            <a:avLst/>
          </a:prstGeom>
          <a:ln w="1397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6112764" y="3457072"/>
            <a:ext cx="77724" cy="90159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99632" y="3017520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36792" y="3200400"/>
            <a:ext cx="338328" cy="33832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0508" y="3200400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5146E5"/>
                </a:solidFill>
                <a:latin typeface="Aptos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3145536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Lemmatization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3511296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canonical forms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801100" y="3502152"/>
            <a:ext cx="136931" cy="0"/>
          </a:xfrm>
          <a:prstGeom prst="line">
            <a:avLst/>
          </a:prstGeom>
          <a:ln w="1397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5400000">
            <a:off x="8910828" y="3457072"/>
            <a:ext cx="77724" cy="90159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97696" y="3017520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34856" y="3200400"/>
            <a:ext cx="338328" cy="33832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8572" y="3200400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5146E5"/>
                </a:solidFill>
                <a:latin typeface="Aptos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64624" y="3145536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Keywords + topics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64624" y="3511296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rank concepts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" y="415137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C9A87"/>
                </a:solidFill>
                <a:latin typeface="Aptos"/>
              </a:rPr>
              <a:t>03 · QUESTION &amp; OUTPUT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" y="4407408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40664" y="4590288"/>
            <a:ext cx="338328" cy="338328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4380" y="4590288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C9A87"/>
                </a:solidFill>
                <a:latin typeface="Aptos"/>
              </a:rPr>
              <a:t>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0432" y="4535424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Question generation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70432" y="4901184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local rules/templates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204972" y="4892040"/>
            <a:ext cx="136931" cy="0"/>
          </a:xfrm>
          <a:prstGeom prst="line">
            <a:avLst/>
          </a:prstGeom>
          <a:ln w="1397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Isosceles Triangle 70"/>
          <p:cNvSpPr/>
          <p:nvPr/>
        </p:nvSpPr>
        <p:spPr>
          <a:xfrm rot="5400000">
            <a:off x="3314700" y="4846960"/>
            <a:ext cx="77724" cy="90159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401568" y="4407408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538728" y="4590288"/>
            <a:ext cx="338328" cy="338328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52444" y="4590288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C9A87"/>
                </a:solidFill>
                <a:latin typeface="Aptos"/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68496" y="4535424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Answer generation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68496" y="4901184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source-grounded draft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003036" y="4892040"/>
            <a:ext cx="136931" cy="0"/>
          </a:xfrm>
          <a:prstGeom prst="line">
            <a:avLst/>
          </a:prstGeom>
          <a:ln w="1397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/>
          <p:cNvSpPr/>
          <p:nvPr/>
        </p:nvSpPr>
        <p:spPr>
          <a:xfrm rot="5400000">
            <a:off x="6112764" y="4846960"/>
            <a:ext cx="77724" cy="90159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199632" y="4407408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336792" y="4590288"/>
            <a:ext cx="338328" cy="338328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0508" y="4590288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C9A87"/>
                </a:solidFill>
                <a:latin typeface="Apto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0" y="4535424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Difficulty estimate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0" y="4901184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easy / medium / hard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801100" y="4892040"/>
            <a:ext cx="136931" cy="0"/>
          </a:xfrm>
          <a:prstGeom prst="line">
            <a:avLst/>
          </a:prstGeom>
          <a:ln w="1397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/>
          <p:cNvSpPr/>
          <p:nvPr/>
        </p:nvSpPr>
        <p:spPr>
          <a:xfrm rot="5400000">
            <a:off x="8910828" y="4846960"/>
            <a:ext cx="77724" cy="90159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997696" y="4407408"/>
            <a:ext cx="2587752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134856" y="4590288"/>
            <a:ext cx="338328" cy="338328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48572" y="4590288"/>
            <a:ext cx="310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C9A87"/>
                </a:solidFill>
                <a:latin typeface="Aptos"/>
              </a:rPr>
              <a:t>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64624" y="4535424"/>
            <a:ext cx="1901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Structured records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64624" y="4901184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review + store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03504" y="5897880"/>
            <a:ext cx="10972800" cy="347472"/>
          </a:xfrm>
          <a:prstGeom prst="round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86384" y="5907024"/>
            <a:ext cx="10561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B3150"/>
                </a:solidFill>
                <a:latin typeface="Aptos"/>
              </a:rPr>
              <a:t>PROCESSING STACK     PyMuPDF  →  spaCy / NLTK  →  local rule-based question generation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07 · GENERATION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Question generation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Current implementation: rule-based templates operate on extracted concepts; an LLM is an optional future extension.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08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636776"/>
            <a:ext cx="3127248" cy="3584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1856231"/>
            <a:ext cx="713232" cy="228600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56231"/>
            <a:ext cx="6400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2877E8"/>
                </a:solidFill>
                <a:latin typeface="Aptos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21992"/>
            <a:ext cx="2651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C"/>
                </a:solidFill>
                <a:latin typeface="Aptos"/>
              </a:rPr>
              <a:t>Source passage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2660904"/>
            <a:ext cx="2651760" cy="1197864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834640"/>
            <a:ext cx="2331720" cy="8321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B3150"/>
                </a:solidFill>
                <a:latin typeface="Aptos"/>
              </a:rPr>
              <a:t>“Normalization is a database design technique used to reduce redundancy.”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087368"/>
            <a:ext cx="258775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5758B"/>
                </a:solidFill>
                <a:latin typeface="Aptos"/>
              </a:rPr>
              <a:t>Extracted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" y="4407408"/>
            <a:ext cx="960120" cy="283464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407408"/>
            <a:ext cx="886968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146E5"/>
                </a:solidFill>
                <a:latin typeface="Aptos"/>
              </a:rPr>
              <a:t>normalization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1952" y="4407408"/>
            <a:ext cx="704088" cy="283464"/>
          </a:xfrm>
          <a:prstGeom prst="roundRect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38528" y="4407408"/>
            <a:ext cx="630936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1A8C3"/>
                </a:solidFill>
                <a:latin typeface="Aptos"/>
              </a:rPr>
              <a:t>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" y="4773168"/>
            <a:ext cx="1261872" cy="283464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773168"/>
            <a:ext cx="1188719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0C9A87"/>
                </a:solidFill>
                <a:latin typeface="Aptos"/>
              </a:rPr>
              <a:t>reduce redundancy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1719072"/>
            <a:ext cx="2816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5146E5"/>
                </a:solidFill>
                <a:latin typeface="Aptos"/>
              </a:rPr>
              <a:t>NLP → TEMPLATE ASSEMBLY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04104" y="2825496"/>
            <a:ext cx="0" cy="183794"/>
          </a:xfrm>
          <a:prstGeom prst="line">
            <a:avLst/>
          </a:prstGeom>
          <a:ln w="12700">
            <a:solidFill>
              <a:srgbClr val="B2A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5366979" y="2990088"/>
            <a:ext cx="74249" cy="64008"/>
          </a:xfrm>
          <a:prstGeom prst="triangle">
            <a:avLst/>
          </a:prstGeom>
          <a:solidFill>
            <a:srgbClr val="B2A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23360" y="2185416"/>
            <a:ext cx="2779776" cy="658368"/>
          </a:xfrm>
          <a:prstGeom prst="roundRect">
            <a:avLst/>
          </a:prstGeom>
          <a:solidFill>
            <a:srgbClr val="F6F4FF"/>
          </a:solidFill>
          <a:ln w="8890">
            <a:solidFill>
              <a:srgbClr val="DED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78808" y="2340864"/>
            <a:ext cx="329184" cy="329184"/>
          </a:xfrm>
          <a:prstGeom prst="round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92524" y="2340864"/>
            <a:ext cx="3017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2276856"/>
            <a:ext cx="19842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63C"/>
                </a:solidFill>
                <a:latin typeface="Aptos"/>
              </a:rPr>
              <a:t>Identify 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2532888"/>
            <a:ext cx="1984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B"/>
                </a:solidFill>
                <a:latin typeface="Aptos"/>
              </a:rPr>
              <a:t>Key noun / concept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04104" y="3721608"/>
            <a:ext cx="0" cy="183794"/>
          </a:xfrm>
          <a:prstGeom prst="line">
            <a:avLst/>
          </a:prstGeom>
          <a:ln w="12700">
            <a:solidFill>
              <a:srgbClr val="B2A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5366979" y="3886200"/>
            <a:ext cx="74249" cy="64008"/>
          </a:xfrm>
          <a:prstGeom prst="triangle">
            <a:avLst/>
          </a:prstGeom>
          <a:solidFill>
            <a:srgbClr val="B2A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23360" y="3081528"/>
            <a:ext cx="2779776" cy="658368"/>
          </a:xfrm>
          <a:prstGeom prst="roundRect">
            <a:avLst/>
          </a:prstGeom>
          <a:solidFill>
            <a:srgbClr val="F6F4FF"/>
          </a:solidFill>
          <a:ln w="8890">
            <a:solidFill>
              <a:srgbClr val="DED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78808" y="3236976"/>
            <a:ext cx="329184" cy="329184"/>
          </a:xfrm>
          <a:prstGeom prst="round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92524" y="3236976"/>
            <a:ext cx="3017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3172968"/>
            <a:ext cx="19842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63C"/>
                </a:solidFill>
                <a:latin typeface="Aptos"/>
              </a:rPr>
              <a:t>Map relation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3429000"/>
            <a:ext cx="1984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B"/>
                </a:solidFill>
                <a:latin typeface="Aptos"/>
              </a:rPr>
              <a:t>purpose / 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0" y="3977639"/>
            <a:ext cx="2779776" cy="658368"/>
          </a:xfrm>
          <a:prstGeom prst="roundRect">
            <a:avLst/>
          </a:prstGeom>
          <a:solidFill>
            <a:srgbClr val="F6F4FF"/>
          </a:solidFill>
          <a:ln w="8890">
            <a:solidFill>
              <a:srgbClr val="DED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78808" y="4133087"/>
            <a:ext cx="329184" cy="329184"/>
          </a:xfrm>
          <a:prstGeom prst="round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92524" y="4133087"/>
            <a:ext cx="3017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26864" y="4069079"/>
            <a:ext cx="19842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63C"/>
                </a:solidFill>
                <a:latin typeface="Aptos"/>
              </a:rPr>
              <a:t>Apply templates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6864" y="4325112"/>
            <a:ext cx="1984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B"/>
                </a:solidFill>
                <a:latin typeface="Aptos"/>
              </a:rPr>
              <a:t>definition · purpose · how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1636776"/>
            <a:ext cx="4443984" cy="3584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79208" y="1856231"/>
            <a:ext cx="1389888" cy="228600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15783" y="1856231"/>
            <a:ext cx="1316736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C9A87"/>
                </a:solidFill>
                <a:latin typeface="Aptos"/>
              </a:rPr>
              <a:t>GENERATED DRAFTS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79208" y="2286000"/>
            <a:ext cx="3950208" cy="640080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498079" y="2432304"/>
            <a:ext cx="320040" cy="320040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1796" y="2432304"/>
            <a:ext cx="292607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C9A87"/>
                </a:solidFill>
                <a:latin typeface="Aptos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6992" y="2359152"/>
            <a:ext cx="3172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What is normalization in DBMS?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36992" y="2679192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5758B"/>
                </a:solidFill>
                <a:latin typeface="Aptos"/>
              </a:rPr>
              <a:t>SHORT ANSWER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79208" y="3099816"/>
            <a:ext cx="3950208" cy="640080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498079" y="3246120"/>
            <a:ext cx="320040" cy="320040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1796" y="3246120"/>
            <a:ext cx="292607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C9A87"/>
                </a:solidFill>
                <a:latin typeface="Aptos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3172968"/>
            <a:ext cx="3172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What is the main purpose of normalization?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493008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5758B"/>
                </a:solidFill>
                <a:latin typeface="Aptos"/>
              </a:rPr>
              <a:t>SHORT ANSWER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79208" y="3913632"/>
            <a:ext cx="3950208" cy="640080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498079" y="4059936"/>
            <a:ext cx="320040" cy="320040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11796" y="4059936"/>
            <a:ext cx="292607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C9A87"/>
                </a:solidFill>
                <a:latin typeface="Aptos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3986784"/>
            <a:ext cx="3172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How does normalization reduce data redundancy?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6992" y="4306824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5758B"/>
                </a:solidFill>
                <a:latin typeface="Aptos"/>
              </a:rPr>
              <a:t>EXPLANATION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88352" y="4855464"/>
            <a:ext cx="391363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1">
                <a:solidFill>
                  <a:srgbClr val="65758B"/>
                </a:solidFill>
                <a:latin typeface="Aptos"/>
              </a:rPr>
              <a:t>Teacher reviews and edits before a question is reused.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4944" y="5541264"/>
            <a:ext cx="2075688" cy="283464"/>
          </a:xfrm>
          <a:prstGeom prst="roundRect">
            <a:avLst/>
          </a:prstGeom>
          <a:solidFill>
            <a:srgbClr val="EF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541264"/>
            <a:ext cx="2002536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C9A87"/>
                </a:solidFill>
                <a:latin typeface="Aptos"/>
              </a:rPr>
              <a:t>CURRENT · LOCAL / RULE-BASED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4368" y="5541264"/>
            <a:ext cx="51023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8B"/>
                </a:solidFill>
                <a:latin typeface="Aptos"/>
              </a:rPr>
              <a:t>Deterministic templates over parsed text; no LLM dependency in the current pipeline.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14232" y="5541264"/>
            <a:ext cx="2523744" cy="283464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50807" y="5541264"/>
            <a:ext cx="2450591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805AD5"/>
                </a:solidFill>
                <a:latin typeface="Aptos"/>
              </a:rPr>
              <a:t>FUTURE · OPTIONAL LLM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08 ·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Question type &amp; difficulty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Two independent labels make each item easier to balance, discover and assemble into an assessment.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09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5440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46E5"/>
                </a:solidFill>
                <a:latin typeface="Aptos"/>
              </a:rPr>
              <a:t>QUESTION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102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C9A87"/>
                </a:solidFill>
                <a:latin typeface="Aptos"/>
              </a:rPr>
              <a:t>ESTIMATED DIFFICULTY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1719072"/>
            <a:ext cx="2615184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1874519"/>
            <a:ext cx="1097280" cy="228600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874519"/>
            <a:ext cx="102412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2877E8"/>
                </a:solidFill>
                <a:latin typeface="Aptos"/>
              </a:rPr>
              <a:t>MCQ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76856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What is a process?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07208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select one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2424" y="1719072"/>
            <a:ext cx="2615184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874519"/>
            <a:ext cx="1097280" cy="228600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1874519"/>
            <a:ext cx="102412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146E5"/>
                </a:solidFill>
                <a:latin typeface="Aptos"/>
              </a:rPr>
              <a:t>SHORT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276856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Define a process.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807208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brief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593591"/>
            <a:ext cx="2615184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749039"/>
            <a:ext cx="1097280" cy="228600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749039"/>
            <a:ext cx="102412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805AD5"/>
                </a:solidFill>
                <a:latin typeface="Aptos"/>
              </a:rPr>
              <a:t>LONG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51376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Explain process states.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7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extended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92424" y="3593591"/>
            <a:ext cx="2615184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47872" y="3749039"/>
            <a:ext cx="1097280" cy="228600"/>
          </a:xfrm>
          <a:prstGeom prst="roundRect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3749039"/>
            <a:ext cx="1024127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A8C3"/>
                </a:solidFill>
                <a:latin typeface="Aptos"/>
              </a:rPr>
              <a:t>TRUE / FALSE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4151376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3C"/>
                </a:solidFill>
                <a:latin typeface="Aptos"/>
              </a:rPr>
              <a:t>A process is a program in execution.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4681727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binary response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1719072"/>
            <a:ext cx="5111496" cy="9235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01968" y="1929384"/>
            <a:ext cx="420624" cy="420624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5683" y="1929384"/>
            <a:ext cx="3931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9A6C"/>
                </a:solidFill>
                <a:latin typeface="Apto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87184" y="182880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C9A6C"/>
                </a:solidFill>
                <a:latin typeface="Aptos"/>
              </a:rPr>
              <a:t>EASY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1810512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63C"/>
                </a:solidFill>
                <a:latin typeface="Aptos"/>
              </a:rPr>
              <a:t>Definitions · direct facts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148839"/>
            <a:ext cx="2798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Recall / basic identification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2843784"/>
            <a:ext cx="5111496" cy="9235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01968" y="3054096"/>
            <a:ext cx="420624" cy="420624"/>
          </a:xfrm>
          <a:prstGeom prst="round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5683" y="3054096"/>
            <a:ext cx="3931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9A12B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87184" y="295351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E9A12B"/>
                </a:solidFill>
                <a:latin typeface="Aptos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935224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63C"/>
                </a:solidFill>
                <a:latin typeface="Aptos"/>
              </a:rPr>
              <a:t>Explain · compare · interpret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73552"/>
            <a:ext cx="2798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Understanding / relation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46520" y="3968496"/>
            <a:ext cx="5111496" cy="9235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01968" y="4178808"/>
            <a:ext cx="420624" cy="420624"/>
          </a:xfrm>
          <a:prstGeom prst="round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5683" y="4178808"/>
            <a:ext cx="3931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5772"/>
                </a:solidFill>
                <a:latin typeface="Apto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87184" y="4078224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D95772"/>
                </a:solidFill>
                <a:latin typeface="Aptos"/>
              </a:rPr>
              <a:t>HARD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059935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63C"/>
                </a:solidFill>
                <a:latin typeface="Aptos"/>
              </a:rPr>
              <a:t>Analyze · apply · solve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398264"/>
            <a:ext cx="2798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Multi-concept reasoning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632704"/>
            <a:ext cx="10936224" cy="402336"/>
          </a:xfrm>
          <a:prstGeom prst="round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6418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3150"/>
                </a:solidFill>
                <a:latin typeface="Aptos"/>
              </a:rPr>
              <a:t>Classification is an estimate to support teacher review—not a substitute for subject-expert judgment.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09 · 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PostgreSQL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Normalized entities keep ownership, source documents, questions, answer options and assembled papers connected.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10 / 18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322576" y="2267712"/>
            <a:ext cx="731520" cy="237744"/>
          </a:xfrm>
          <a:prstGeom prst="line">
            <a:avLst/>
          </a:prstGeom>
          <a:ln w="1270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2715768"/>
            <a:ext cx="3557016" cy="0"/>
          </a:xfrm>
          <a:prstGeom prst="line">
            <a:avLst/>
          </a:prstGeom>
          <a:ln w="1270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76088" y="2267712"/>
            <a:ext cx="658368" cy="228600"/>
          </a:xfrm>
          <a:prstGeom prst="line">
            <a:avLst/>
          </a:prstGeom>
          <a:ln w="12700">
            <a:solidFill>
              <a:srgbClr val="11A8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276088" y="3236976"/>
            <a:ext cx="658368" cy="1261872"/>
          </a:xfrm>
          <a:prstGeom prst="line">
            <a:avLst/>
          </a:prstGeom>
          <a:ln w="12700">
            <a:solidFill>
              <a:srgbClr val="11A8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458200" y="2267712"/>
            <a:ext cx="713232" cy="356616"/>
          </a:xfrm>
          <a:prstGeom prst="line">
            <a:avLst/>
          </a:prstGeom>
          <a:ln w="1270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58200" y="3172968"/>
            <a:ext cx="713232" cy="1307592"/>
          </a:xfrm>
          <a:prstGeom prst="line">
            <a:avLst/>
          </a:prstGeom>
          <a:ln w="1270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39912" y="4809744"/>
            <a:ext cx="731520" cy="0"/>
          </a:xfrm>
          <a:prstGeom prst="line">
            <a:avLst/>
          </a:prstGeom>
          <a:ln w="1270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" y="2157984"/>
            <a:ext cx="1700784" cy="12252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157984"/>
            <a:ext cx="1700784" cy="320040"/>
          </a:xfrm>
          <a:prstGeom prst="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19456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877E8"/>
                </a:solidFill>
                <a:latin typeface="Aptos"/>
              </a:rP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2551176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5758B"/>
                </a:solidFill>
                <a:latin typeface="Aptos"/>
              </a:rPr>
              <a:t>id · role
name ·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4096" y="1636776"/>
            <a:ext cx="2221992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54096" y="1636776"/>
            <a:ext cx="2221992" cy="320040"/>
          </a:xfrm>
          <a:prstGeom prst="rect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72968" y="1673352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1A8C3"/>
                </a:solidFill>
                <a:latin typeface="Aptos"/>
              </a:rPr>
              <a:t>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2029968"/>
            <a:ext cx="1984248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5758B"/>
                </a:solidFill>
                <a:latin typeface="Aptos"/>
              </a:rPr>
              <a:t>id · owner_id
filename ·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54096" y="3913632"/>
            <a:ext cx="2221992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54096" y="3913632"/>
            <a:ext cx="2221992" cy="320040"/>
          </a:xfrm>
          <a:prstGeom prst="rect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2968" y="3950208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1A8C3"/>
                </a:solidFill>
                <a:latin typeface="Aptos"/>
              </a:rPr>
              <a:t>TOPICS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2968" y="4306824"/>
            <a:ext cx="1984248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5758B"/>
                </a:solidFill>
                <a:latin typeface="Aptos"/>
              </a:rPr>
              <a:t>id · name
document_id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34456" y="2121408"/>
            <a:ext cx="2523744" cy="1453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34456" y="2121408"/>
            <a:ext cx="2523744" cy="3200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2157984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146E5"/>
                </a:solidFill>
                <a:latin typeface="Aptos"/>
              </a:rPr>
              <a:t>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251460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5758B"/>
                </a:solidFill>
                <a:latin typeface="Aptos"/>
              </a:rPr>
              <a:t>id · document_id · topic_id
created_by · type · difficulty
question_text · answer_text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71432" y="1636776"/>
            <a:ext cx="2331720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71432" y="1636776"/>
            <a:ext cx="2331720" cy="32004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0304" y="1673352"/>
            <a:ext cx="2093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805AD5"/>
                </a:solidFill>
                <a:latin typeface="Aptos"/>
              </a:rPr>
              <a:t>QUESTION_OPTIONS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2029968"/>
            <a:ext cx="2093976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5758B"/>
                </a:solidFill>
                <a:latin typeface="Aptos"/>
              </a:rPr>
              <a:t>id · question_id
option_text · is_correct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34456" y="4133087"/>
            <a:ext cx="2523744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4133087"/>
            <a:ext cx="2523744" cy="320040"/>
          </a:xfrm>
          <a:prstGeom prst="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53328" y="4169663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C9A87"/>
                </a:solidFill>
                <a:latin typeface="Aptos"/>
              </a:rPr>
              <a:t>QUESTION_PAPERS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3328" y="4526279"/>
            <a:ext cx="2286000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5758B"/>
                </a:solidFill>
                <a:latin typeface="Aptos"/>
              </a:rPr>
              <a:t>id · owner_id
title · created_at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71432" y="4133087"/>
            <a:ext cx="2331720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71432" y="4133087"/>
            <a:ext cx="2331720" cy="320040"/>
          </a:xfrm>
          <a:prstGeom prst="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0304" y="4169663"/>
            <a:ext cx="2093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C9A87"/>
                </a:solidFill>
                <a:latin typeface="Aptos"/>
              </a:rPr>
              <a:t>PAPER_QUESTIONS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4526279"/>
            <a:ext cx="2093976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5758B"/>
                </a:solidFill>
                <a:latin typeface="Aptos"/>
              </a:rPr>
              <a:t>paper_id · question_id
position · marks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14016" y="1938528"/>
            <a:ext cx="557784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50592" y="1938528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2877E8"/>
                </a:solidFill>
                <a:latin typeface="Aptos"/>
              </a:rPr>
              <a:t>1 : 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41448" y="2551176"/>
            <a:ext cx="557784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78024" y="2551176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2877E8"/>
                </a:solidFill>
                <a:latin typeface="Aptos"/>
              </a:rPr>
              <a:t>1 : 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58384" y="1965960"/>
            <a:ext cx="557784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0" y="1965960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11A8C3"/>
                </a:solidFill>
                <a:latin typeface="Aptos"/>
              </a:rPr>
              <a:t>1 : 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76672" y="3602736"/>
            <a:ext cx="557784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13248" y="3602736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11A8C3"/>
                </a:solidFill>
                <a:latin typeface="Aptos"/>
              </a:rPr>
              <a:t>1 : 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58784" y="2057400"/>
            <a:ext cx="557784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59" y="2057400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805AD5"/>
                </a:solidFill>
                <a:latin typeface="Aptos"/>
              </a:rPr>
              <a:t>1 : 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86216" y="3739896"/>
            <a:ext cx="557784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22792" y="3739896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805AD5"/>
                </a:solidFill>
                <a:latin typeface="Aptos"/>
              </a:rPr>
              <a:t>1 : 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31352" y="4590288"/>
            <a:ext cx="557784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28" y="4590288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0C9A87"/>
                </a:solidFill>
                <a:latin typeface="Aptos"/>
              </a:rPr>
              <a:t>1 : 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" y="5632704"/>
            <a:ext cx="10881360" cy="438912"/>
          </a:xfrm>
          <a:prstGeom prst="round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" y="565099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146E5"/>
                </a:solidFill>
                <a:latin typeface="Aptos"/>
              </a:rPr>
              <a:t>INDEXES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5650992"/>
            <a:ext cx="9436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3150"/>
                </a:solidFill>
                <a:latin typeface="Aptos"/>
              </a:rPr>
              <a:t>Question text/search  ·  difficulty  ·  type  ·  topic_id  ·  document_id  →  efficient filtering and retrieval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10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End-to-end application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Twelve steps connect teacher access, document processing, question curation and printable output.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11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38988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877E8"/>
                </a:solidFill>
                <a:latin typeface="Aptos"/>
              </a:rPr>
              <a:t>A · INGEST &amp;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645920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856232"/>
            <a:ext cx="347472" cy="34747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" y="1856232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877E8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175564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Register / log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2112264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JWT-protected access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4972" y="2084832"/>
            <a:ext cx="130759" cy="0"/>
          </a:xfrm>
          <a:prstGeom prst="line">
            <a:avLst/>
          </a:prstGeom>
          <a:ln w="1270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3310128" y="2042403"/>
            <a:ext cx="73152" cy="84856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92424" y="1645920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20440" y="1856232"/>
            <a:ext cx="347472" cy="34747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4156" y="1856232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877E8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175564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Upload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12264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validate file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3892" y="2084832"/>
            <a:ext cx="130759" cy="0"/>
          </a:xfrm>
          <a:prstGeom prst="line">
            <a:avLst/>
          </a:prstGeom>
          <a:ln w="1270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099048" y="2042403"/>
            <a:ext cx="73152" cy="84856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1645920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856232"/>
            <a:ext cx="347472" cy="34747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3076" y="1856232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877E8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7416" y="175564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Extract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7416" y="2112264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parse text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82812" y="2084832"/>
            <a:ext cx="130759" cy="0"/>
          </a:xfrm>
          <a:prstGeom prst="line">
            <a:avLst/>
          </a:prstGeom>
          <a:ln w="1270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8887968" y="2042403"/>
            <a:ext cx="73152" cy="84856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70264" y="1645920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98280" y="1856232"/>
            <a:ext cx="347472" cy="34747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11996" y="1856232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877E8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46336" y="1755648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Find keywords &amp; topics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6336" y="2112264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NLP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28163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B · GENERATE &amp; CURATE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3072384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3282696"/>
            <a:ext cx="347472" cy="34747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" y="3282696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146E5"/>
                </a:solidFill>
                <a:latin typeface="Apto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9576" y="3182112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Generate questions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9576" y="3538728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local rules / templates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04972" y="3511296"/>
            <a:ext cx="130759" cy="0"/>
          </a:xfrm>
          <a:prstGeom prst="line">
            <a:avLst/>
          </a:prstGeom>
          <a:ln w="1270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3310128" y="3468867"/>
            <a:ext cx="73152" cy="84856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392424" y="3072384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20440" y="3282696"/>
            <a:ext cx="347472" cy="34747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34156" y="3282696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146E5"/>
                </a:solidFill>
                <a:latin typeface="Aptos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8496" y="3182112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Assign labels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68496" y="3538728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type + difficulty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993892" y="3511296"/>
            <a:ext cx="130759" cy="0"/>
          </a:xfrm>
          <a:prstGeom prst="line">
            <a:avLst/>
          </a:prstGeom>
          <a:ln w="1270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6099048" y="3468867"/>
            <a:ext cx="73152" cy="84856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81344" y="3072384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09360" y="3282696"/>
            <a:ext cx="347472" cy="34747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3076" y="3282696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146E5"/>
                </a:solidFill>
                <a:latin typeface="Aptos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57416" y="3182112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Store records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57416" y="3538728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PostgreSQL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782812" y="3511296"/>
            <a:ext cx="130759" cy="0"/>
          </a:xfrm>
          <a:prstGeom prst="line">
            <a:avLst/>
          </a:prstGeom>
          <a:ln w="1270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5400000">
            <a:off x="8887968" y="3468867"/>
            <a:ext cx="73152" cy="84856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70264" y="3072384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98280" y="3282696"/>
            <a:ext cx="347472" cy="34747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11996" y="3282696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146E5"/>
                </a:solidFill>
                <a:latin typeface="Aptos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46336" y="3182112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Search &amp; edit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46336" y="3538728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filter / review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" y="4242816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C9A87"/>
                </a:solidFill>
                <a:latin typeface="Aptos"/>
              </a:rPr>
              <a:t>C · ASSEMBLE &amp; PUBLISH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" y="4498848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31520" y="4709160"/>
            <a:ext cx="347472" cy="34747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5236" y="4709160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9576" y="4608576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Select questions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79576" y="4965192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curate set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204972" y="4937760"/>
            <a:ext cx="130759" cy="0"/>
          </a:xfrm>
          <a:prstGeom prst="line">
            <a:avLst/>
          </a:prstGeom>
          <a:ln w="1270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Isosceles Triangle 70"/>
          <p:cNvSpPr/>
          <p:nvPr/>
        </p:nvSpPr>
        <p:spPr>
          <a:xfrm rot="5400000">
            <a:off x="3310128" y="4895331"/>
            <a:ext cx="73152" cy="84856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392424" y="4498848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520440" y="4709160"/>
            <a:ext cx="347472" cy="34747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34156" y="4709160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68496" y="4608576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Set marks &amp; order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68496" y="4965192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balance paper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993892" y="4937760"/>
            <a:ext cx="130759" cy="0"/>
          </a:xfrm>
          <a:prstGeom prst="line">
            <a:avLst/>
          </a:prstGeom>
          <a:ln w="1270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/>
          <p:cNvSpPr/>
          <p:nvPr/>
        </p:nvSpPr>
        <p:spPr>
          <a:xfrm rot="5400000">
            <a:off x="6099048" y="4895331"/>
            <a:ext cx="73152" cy="84856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181344" y="4498848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309360" y="4709160"/>
            <a:ext cx="347472" cy="34747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3076" y="4709160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57416" y="4608576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Preview paper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57416" y="4965192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check totals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782812" y="4937760"/>
            <a:ext cx="130759" cy="0"/>
          </a:xfrm>
          <a:prstGeom prst="line">
            <a:avLst/>
          </a:prstGeom>
          <a:ln w="1270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/>
          <p:cNvSpPr/>
          <p:nvPr/>
        </p:nvSpPr>
        <p:spPr>
          <a:xfrm rot="5400000">
            <a:off x="8887968" y="4895331"/>
            <a:ext cx="73152" cy="84856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970264" y="4498848"/>
            <a:ext cx="2587752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098280" y="4709160"/>
            <a:ext cx="347472" cy="34747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11996" y="4709160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46336" y="4608576"/>
            <a:ext cx="1892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63C"/>
                </a:solidFill>
                <a:latin typeface="Aptos"/>
              </a:rPr>
              <a:t>Export PDF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46336" y="4965192"/>
            <a:ext cx="1892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8B"/>
                </a:solidFill>
                <a:latin typeface="Aptos"/>
              </a:rPr>
              <a:t>print / share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86384" y="6044184"/>
            <a:ext cx="10506456" cy="0"/>
          </a:xfrm>
          <a:prstGeom prst="line">
            <a:avLst/>
          </a:prstGeom>
          <a:ln w="12700">
            <a:solidFill>
              <a:srgbClr val="BAC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736092" y="5998464"/>
            <a:ext cx="100584" cy="100584"/>
          </a:xfrm>
          <a:prstGeom prst="ellips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93692" y="5998464"/>
            <a:ext cx="100584" cy="100584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051292" y="5998464"/>
            <a:ext cx="100584" cy="100584"/>
          </a:xfrm>
          <a:prstGeom prst="ellips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6117336"/>
            <a:ext cx="106070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65758B"/>
                </a:solidFill>
                <a:latin typeface="Aptos"/>
              </a:rPr>
              <a:t>INGEST  →  STRUCTURE  →  CURATE  →  PUBLISH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11 ·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Application interface &amp; main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A consistent SaaS-style workspace brings documents, questions, topics and paper building together.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12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481328"/>
            <a:ext cx="6839712" cy="45537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1481328"/>
            <a:ext cx="6839712" cy="31089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591056"/>
            <a:ext cx="82296" cy="82296"/>
          </a:xfrm>
          <a:prstGeom prst="ellipse">
            <a:avLst/>
          </a:prstGeom>
          <a:solidFill>
            <a:srgbClr val="F2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1591056"/>
            <a:ext cx="82296" cy="82296"/>
          </a:xfrm>
          <a:prstGeom prst="ellipse">
            <a:avLst/>
          </a:prstGeom>
          <a:solidFill>
            <a:srgbClr val="F6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" y="1591056"/>
            <a:ext cx="82296" cy="82296"/>
          </a:xfrm>
          <a:prstGeom prst="ellipse">
            <a:avLst/>
          </a:prstGeom>
          <a:solidFill>
            <a:srgbClr val="69C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6464" y="1545336"/>
            <a:ext cx="43434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290A4"/>
                </a:solidFill>
                <a:latin typeface="Aptos"/>
              </a:rPr>
              <a:t>questionbank.app /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1792224"/>
            <a:ext cx="1261872" cy="4242816"/>
          </a:xfrm>
          <a:prstGeom prst="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947672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QBank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377440"/>
            <a:ext cx="1069848" cy="338328"/>
          </a:xfrm>
          <a:prstGeom prst="roundRect">
            <a:avLst/>
          </a:prstGeom>
          <a:solidFill>
            <a:srgbClr val="27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4140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91693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B5C4DB"/>
                </a:solidFill>
                <a:latin typeface="Aptos"/>
              </a:rPr>
              <a:t>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4198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B5C4DB"/>
                </a:solidFill>
                <a:latin typeface="Aptos"/>
              </a:rPr>
              <a:t>Question 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9227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B5C4DB"/>
                </a:solidFill>
                <a:latin typeface="Aptos"/>
              </a:rPr>
              <a:t>Topics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42569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B5C4DB"/>
                </a:solidFill>
                <a:latin typeface="Aptos"/>
              </a:rPr>
              <a:t>Paper Builder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589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86C6D4"/>
                </a:solidFill>
                <a:latin typeface="Aptos"/>
              </a:rPr>
              <a:t>TEACHER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66544" y="1975104"/>
            <a:ext cx="44805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7263C"/>
                </a:solidFill>
                <a:latin typeface="Aptos"/>
              </a:rPr>
              <a:t>Good morning, Teacher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6544" y="228600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B"/>
                </a:solidFill>
                <a:latin typeface="Aptos"/>
              </a:rPr>
              <a:t>Your assessment workspace at a glance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66544" y="2624328"/>
            <a:ext cx="1463040" cy="7223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85416" y="273405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146E5"/>
                </a:solidFill>
                <a:latin typeface="Aptos"/>
              </a:rPr>
              <a:t>142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85416" y="30632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58B"/>
                </a:solidFill>
                <a:latin typeface="Aptos"/>
              </a:rPr>
              <a:t>Questions</a:t>
            </a:r>
          </a:p>
        </p:txBody>
      </p:sp>
      <p:sp>
        <p:nvSpPr>
          <p:cNvPr id="30" name="Oval 29"/>
          <p:cNvSpPr/>
          <p:nvPr/>
        </p:nvSpPr>
        <p:spPr>
          <a:xfrm>
            <a:off x="3236976" y="2807208"/>
            <a:ext cx="155448" cy="155448"/>
          </a:xfrm>
          <a:prstGeom prst="ellipse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57600" y="2624328"/>
            <a:ext cx="1463040" cy="7223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273405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877E8"/>
                </a:solidFill>
                <a:latin typeface="Aptos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30632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58B"/>
                </a:solidFill>
                <a:latin typeface="Aptos"/>
              </a:rPr>
              <a:t>Documents</a:t>
            </a:r>
          </a:p>
        </p:txBody>
      </p:sp>
      <p:sp>
        <p:nvSpPr>
          <p:cNvPr id="34" name="Oval 33"/>
          <p:cNvSpPr/>
          <p:nvPr/>
        </p:nvSpPr>
        <p:spPr>
          <a:xfrm>
            <a:off x="4828032" y="2807208"/>
            <a:ext cx="155448" cy="155448"/>
          </a:xfrm>
          <a:prstGeom prst="ellipse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48656" y="2624328"/>
            <a:ext cx="1463040" cy="7223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7528" y="273405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9A87"/>
                </a:solidFill>
                <a:latin typeface="Aptos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67528" y="306324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58B"/>
                </a:solidFill>
                <a:latin typeface="Aptos"/>
              </a:rPr>
              <a:t>Topics</a:t>
            </a:r>
          </a:p>
        </p:txBody>
      </p:sp>
      <p:sp>
        <p:nvSpPr>
          <p:cNvPr id="38" name="Oval 37"/>
          <p:cNvSpPr/>
          <p:nvPr/>
        </p:nvSpPr>
        <p:spPr>
          <a:xfrm>
            <a:off x="6419088" y="2807208"/>
            <a:ext cx="155448" cy="155448"/>
          </a:xfrm>
          <a:prstGeom prst="ellipse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066544" y="3511296"/>
            <a:ext cx="2880360" cy="1673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12848" y="362102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263C"/>
                </a:solidFill>
                <a:latin typeface="Aptos"/>
              </a:rPr>
              <a:t>Question distribution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12848" y="4023360"/>
            <a:ext cx="58521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58B"/>
                </a:solidFill>
                <a:latin typeface="Aptos"/>
              </a:rPr>
              <a:t>Easy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43784" y="4041648"/>
            <a:ext cx="1554480" cy="100584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43784" y="4041648"/>
            <a:ext cx="1119225" cy="100584"/>
          </a:xfrm>
          <a:prstGeom prst="roundRect">
            <a:avLst/>
          </a:prstGeom>
          <a:solidFill>
            <a:srgbClr val="1C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12848" y="4334256"/>
            <a:ext cx="58521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58B"/>
                </a:solidFill>
                <a:latin typeface="Aptos"/>
              </a:rPr>
              <a:t>Medium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43784" y="4352544"/>
            <a:ext cx="1554480" cy="100584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843784" y="4352544"/>
            <a:ext cx="1430121" cy="100584"/>
          </a:xfrm>
          <a:prstGeom prst="roundRect">
            <a:avLst/>
          </a:prstGeom>
          <a:solidFill>
            <a:srgbClr val="E9A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12848" y="4645152"/>
            <a:ext cx="58521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58B"/>
                </a:solidFill>
                <a:latin typeface="Aptos"/>
              </a:rPr>
              <a:t>Hard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43784" y="4663440"/>
            <a:ext cx="1554480" cy="100584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843784" y="4663440"/>
            <a:ext cx="777240" cy="100584"/>
          </a:xfrm>
          <a:prstGeom prst="roundRect">
            <a:avLst/>
          </a:prstGeom>
          <a:solidFill>
            <a:srgbClr val="D95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120640" y="3511296"/>
            <a:ext cx="1920240" cy="1673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66944" y="3621024"/>
            <a:ext cx="1618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7263C"/>
                </a:solidFill>
                <a:latin typeface="Aptos"/>
              </a:rPr>
              <a:t>Recent documents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248656" y="4270248"/>
            <a:ext cx="1645920" cy="0"/>
          </a:xfrm>
          <a:prstGeom prst="line">
            <a:avLst/>
          </a:prstGeom>
          <a:ln w="6350">
            <a:solidFill>
              <a:srgbClr val="EDF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266944" y="3986784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B3150"/>
                </a:solidFill>
                <a:latin typeface="Aptos"/>
              </a:rPr>
              <a:t>DBMS_Unit2.pdf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398678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0C9A87"/>
                </a:solidFill>
                <a:latin typeface="Aptos"/>
              </a:rPr>
              <a:t>Processed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248656" y="4626864"/>
            <a:ext cx="1645920" cy="0"/>
          </a:xfrm>
          <a:prstGeom prst="line">
            <a:avLst/>
          </a:prstGeom>
          <a:ln w="6350">
            <a:solidFill>
              <a:srgbClr val="EDF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266944" y="4343400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B3150"/>
                </a:solidFill>
                <a:latin typeface="Aptos"/>
              </a:rPr>
              <a:t>OS_Notes.pdf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4343400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0C9A87"/>
                </a:solidFill>
                <a:latin typeface="Aptos"/>
              </a:rPr>
              <a:t>Ready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248656" y="4983480"/>
            <a:ext cx="1645920" cy="0"/>
          </a:xfrm>
          <a:prstGeom prst="line">
            <a:avLst/>
          </a:prstGeom>
          <a:ln w="6350">
            <a:solidFill>
              <a:srgbClr val="EDF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266944" y="4700016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B3150"/>
                </a:solidFill>
                <a:latin typeface="Aptos"/>
              </a:rPr>
              <a:t>Networks.pdf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7648" y="470001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0C9A87"/>
                </a:solidFill>
                <a:latin typeface="Aptos"/>
              </a:rPr>
              <a:t>Queued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80960" y="1481328"/>
            <a:ext cx="3867912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818120" y="1591056"/>
            <a:ext cx="1024128" cy="201168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54696" y="1591056"/>
            <a:ext cx="95097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2877E8"/>
                </a:solidFill>
                <a:latin typeface="Aptos"/>
              </a:rPr>
              <a:t>DOCUMENTS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1581912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263C"/>
                </a:solidFill>
                <a:latin typeface="Aptos"/>
              </a:rPr>
              <a:t>Upload document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27264" y="1920240"/>
            <a:ext cx="3575304" cy="685800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01000" y="2002536"/>
            <a:ext cx="322783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B3150"/>
                </a:solidFill>
                <a:latin typeface="Aptos"/>
              </a:rPr>
              <a:t>Drop PDF here or browse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19872" y="2313432"/>
            <a:ext cx="2441448" cy="82296"/>
          </a:xfrm>
          <a:prstGeom prst="roundRect">
            <a:avLst/>
          </a:prstGeom>
          <a:solidFill>
            <a:srgbClr val="E7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119872" y="2313432"/>
            <a:ext cx="1472184" cy="82296"/>
          </a:xfrm>
          <a:prstGeom prst="roundRect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43616" y="2249424"/>
            <a:ext cx="5577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2877E8"/>
                </a:solidFill>
                <a:latin typeface="Aptos"/>
              </a:rPr>
              <a:t>Processing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80960" y="3054096"/>
            <a:ext cx="3867912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818120" y="3163824"/>
            <a:ext cx="1024128" cy="20116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54696" y="3163824"/>
            <a:ext cx="95097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5146E5"/>
                </a:solidFill>
                <a:latin typeface="Aptos"/>
              </a:rPr>
              <a:t>QUESTIONS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3154679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263C"/>
                </a:solidFill>
                <a:latin typeface="Aptos"/>
              </a:rPr>
              <a:t>Question bank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827264" y="3493008"/>
            <a:ext cx="3575304" cy="219456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36992" y="3511296"/>
            <a:ext cx="2468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997A9"/>
                </a:solidFill>
                <a:latin typeface="Aptos"/>
              </a:rPr>
              <a:t>Search questions…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0" y="3785615"/>
            <a:ext cx="24414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7263C"/>
                </a:solidFill>
                <a:latin typeface="Aptos"/>
              </a:rPr>
              <a:t>What is normalization?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442448" y="3785615"/>
            <a:ext cx="768096" cy="1645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79024" y="3785615"/>
            <a:ext cx="694944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1C9A6C"/>
                </a:solidFill>
                <a:latin typeface="Aptos"/>
              </a:rPr>
              <a:t>EASY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63840" y="4014215"/>
            <a:ext cx="24414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7263C"/>
                </a:solidFill>
                <a:latin typeface="Aptos"/>
              </a:rPr>
              <a:t>Explain process states.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442448" y="4014215"/>
            <a:ext cx="768096" cy="1645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79024" y="4014215"/>
            <a:ext cx="694944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E9A12B"/>
                </a:solidFill>
                <a:latin typeface="Aptos"/>
              </a:rPr>
              <a:t>MEDIUM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680960" y="4626864"/>
            <a:ext cx="3867912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818120" y="4736592"/>
            <a:ext cx="1024128" cy="201168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54696" y="4736592"/>
            <a:ext cx="95097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0C9A87"/>
                </a:solidFill>
                <a:latin typeface="Aptos"/>
              </a:rPr>
              <a:t>ASSESSMENT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61120" y="4727448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263C"/>
                </a:solidFill>
                <a:latin typeface="Aptos"/>
              </a:rPr>
              <a:t>Paper builder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45552" y="507492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1B3150"/>
                </a:solidFill>
                <a:latin typeface="Aptos"/>
              </a:rPr>
              <a:t>Q1  Define normalization        1 mark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45552" y="530352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1B3150"/>
                </a:solidFill>
                <a:latin typeface="Aptos"/>
              </a:rPr>
              <a:t>Q2  Explain process states     5 marks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405872" y="5093207"/>
            <a:ext cx="886968" cy="25603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42448" y="5093207"/>
            <a:ext cx="81381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0C9A87"/>
                </a:solidFill>
                <a:latin typeface="Aptos"/>
              </a:rPr>
              <a:t>TOTAL  6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405872" y="5458968"/>
            <a:ext cx="886968" cy="246888"/>
          </a:xfrm>
          <a:prstGeom prst="roundRect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42448" y="5458968"/>
            <a:ext cx="813816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FFFFFF"/>
                </a:solidFill>
                <a:latin typeface="Aptos"/>
              </a:rPr>
              <a:t>PREVIEW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12 · PAPER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Question-paper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Build a balanced paper from curated questions, with marks, order and totals visible before PDF export.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13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444752"/>
            <a:ext cx="5440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5146E5"/>
                </a:solidFill>
                <a:latin typeface="Aptos"/>
              </a:rPr>
              <a:t>PAPER BUILDER 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" y="1883664"/>
            <a:ext cx="0" cy="3849624"/>
          </a:xfrm>
          <a:prstGeom prst="line">
            <a:avLst/>
          </a:prstGeom>
          <a:ln w="17780">
            <a:solidFill>
              <a:srgbClr val="C9D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13232" y="1847088"/>
            <a:ext cx="329184" cy="329184"/>
          </a:xfrm>
          <a:prstGeom prst="ellipse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470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877E8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792224"/>
            <a:ext cx="44988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263C"/>
                </a:solidFill>
                <a:latin typeface="Aptos"/>
              </a:rPr>
              <a:t>Select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066543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From the searchable question bank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2505456"/>
            <a:ext cx="329184" cy="329184"/>
          </a:xfrm>
          <a:prstGeom prst="ellipse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5054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146E5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450591"/>
            <a:ext cx="44988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263C"/>
                </a:solidFill>
                <a:latin typeface="Aptos"/>
              </a:rPr>
              <a:t>Filter the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724911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Topic · difficulty · question type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" y="3163824"/>
            <a:ext cx="329184" cy="329184"/>
          </a:xfrm>
          <a:prstGeom prst="ellipse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1638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05AD5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108960"/>
            <a:ext cx="44988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263C"/>
                </a:solidFill>
                <a:latin typeface="Aptos"/>
              </a:rPr>
              <a:t>Assign 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383279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Per question or by section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" y="3822191"/>
            <a:ext cx="329184" cy="329184"/>
          </a:xfrm>
          <a:prstGeom prst="ellipse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8221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1A8C3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767328"/>
            <a:ext cx="44988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263C"/>
                </a:solidFill>
                <a:latin typeface="Aptos"/>
              </a:rPr>
              <a:t>Reorder the paper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04164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Drag into the desired sequence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" y="4480559"/>
            <a:ext cx="329184" cy="329184"/>
          </a:xfrm>
          <a:prstGeom prst="ellipse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480559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9A12B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425696"/>
            <a:ext cx="44988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263C"/>
                </a:solidFill>
                <a:latin typeface="Aptos"/>
              </a:rPr>
              <a:t>Validate total marks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700016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Check balance and paper total</a:t>
            </a:r>
          </a:p>
        </p:txBody>
      </p:sp>
      <p:sp>
        <p:nvSpPr>
          <p:cNvPr id="32" name="Oval 31"/>
          <p:cNvSpPr/>
          <p:nvPr/>
        </p:nvSpPr>
        <p:spPr>
          <a:xfrm>
            <a:off x="713232" y="5138927"/>
            <a:ext cx="329184" cy="329184"/>
          </a:xfrm>
          <a:prstGeom prst="ellipse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138927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084064"/>
            <a:ext cx="44988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263C"/>
                </a:solidFill>
                <a:latin typeface="Aptos"/>
              </a:rPr>
              <a:t>Preview &amp;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358383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8B"/>
                </a:solidFill>
                <a:latin typeface="Aptos"/>
              </a:rPr>
              <a:t>Review layout, then create 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1490472"/>
            <a:ext cx="5120640" cy="4599432"/>
          </a:xfrm>
          <a:prstGeom prst="roundRect">
            <a:avLst/>
          </a:prstGeom>
          <a:solidFill>
            <a:srgbClr val="EAF0F7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1700784"/>
            <a:ext cx="4480560" cy="4169663"/>
          </a:xfrm>
          <a:prstGeom prst="rect">
            <a:avLst/>
          </a:prstGeom>
          <a:solidFill>
            <a:srgbClr val="FFFFFF"/>
          </a:solidFill>
          <a:ln w="11430"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1736" y="1847088"/>
            <a:ext cx="3941063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3243B"/>
                </a:solidFill>
                <a:latin typeface="Aptos"/>
              </a:rPr>
              <a:t>COLLEGE / INSTITUTION 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1736" y="2075688"/>
            <a:ext cx="39410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58B"/>
                </a:solidFill>
                <a:latin typeface="Aptos"/>
              </a:rPr>
              <a:t>DEPARTMENT OF __________________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0880" y="2331720"/>
            <a:ext cx="3931920" cy="0"/>
          </a:xfrm>
          <a:prstGeom prst="line">
            <a:avLst/>
          </a:prstGeom>
          <a:ln w="8890">
            <a:solidFill>
              <a:srgbClr val="BFC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77456" y="2432304"/>
            <a:ext cx="38039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63C"/>
                </a:solidFill>
                <a:latin typeface="Aptos"/>
              </a:rPr>
              <a:t>QUESTION PAPER · DATABASE SYSTEMS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5744" y="2724912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65758B"/>
                </a:solidFill>
                <a:latin typeface="Aptos"/>
              </a:rPr>
              <a:t>Time: 2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2724912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65758B"/>
                </a:solidFill>
                <a:latin typeface="Aptos"/>
              </a:rPr>
              <a:t>Maximum: 35 Marks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3017520"/>
            <a:ext cx="265176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146E5"/>
                </a:solidFill>
                <a:latin typeface="Aptos"/>
              </a:rPr>
              <a:t>SECTION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27464" y="3017520"/>
            <a:ext cx="143560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58B"/>
                </a:solidFill>
                <a:latin typeface="Aptos"/>
              </a:rPr>
              <a:t>10 × 1 = 10 marks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3246120"/>
            <a:ext cx="3712463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B3150"/>
                </a:solidFill>
                <a:latin typeface="Aptos"/>
              </a:rPr>
              <a:t>1. Define normalization.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8" y="3456432"/>
            <a:ext cx="3712463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B3150"/>
                </a:solidFill>
                <a:latin typeface="Aptos"/>
              </a:rPr>
              <a:t>2. State one key / constraint.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04888" y="3849624"/>
            <a:ext cx="265176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877E8"/>
                </a:solidFill>
                <a:latin typeface="Aptos"/>
              </a:rPr>
              <a:t>SECTION 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27464" y="3849624"/>
            <a:ext cx="143560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58B"/>
                </a:solidFill>
                <a:latin typeface="Aptos"/>
              </a:rPr>
              <a:t>5 × 2 = 10 marks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0608" y="4078224"/>
            <a:ext cx="3712463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B3150"/>
                </a:solidFill>
                <a:latin typeface="Aptos"/>
              </a:rPr>
              <a:t>11. Explain first normal form.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0608" y="4288536"/>
            <a:ext cx="3712463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B3150"/>
                </a:solidFill>
                <a:latin typeface="Aptos"/>
              </a:rPr>
              <a:t>12. Differentiate key types.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4888" y="4681728"/>
            <a:ext cx="265176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9A87"/>
                </a:solidFill>
                <a:latin typeface="Aptos"/>
              </a:rPr>
              <a:t>SECTION 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7464" y="4681728"/>
            <a:ext cx="143560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58B"/>
                </a:solidFill>
                <a:latin typeface="Aptos"/>
              </a:rPr>
              <a:t>3 × 5 = 15 marks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0608" y="4910328"/>
            <a:ext cx="3712463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B3150"/>
                </a:solidFill>
                <a:latin typeface="Aptos"/>
              </a:rPr>
              <a:t>16. Explain normalization with an example.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5120640"/>
            <a:ext cx="3712463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B3150"/>
                </a:solidFill>
                <a:latin typeface="Aptos"/>
              </a:rPr>
              <a:t>17. Analyze an update anomaly.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31736" y="5596128"/>
            <a:ext cx="3941063" cy="18288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5641848"/>
            <a:ext cx="3904487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C9A87"/>
                </a:solidFill>
                <a:latin typeface="Aptos"/>
              </a:rPr>
              <a:t>TOTAL  ·  10 + 10 + 15 = 35 MARKS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55480" y="6117336"/>
            <a:ext cx="1673352" cy="219456"/>
          </a:xfrm>
          <a:prstGeom prst="roundRect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92055" y="6117336"/>
            <a:ext cx="160020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ptos"/>
              </a:rPr>
              <a:t>PREVIEW → PDF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13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Security, reliability &amp; safe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Security controls protect teacher accounts, APIs, uploaded files and environment-specific secrets.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14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42646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DEFENSE-IN-DEPTH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19072"/>
            <a:ext cx="7260336" cy="630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64008" cy="630936"/>
          </a:xfrm>
          <a:prstGeom prst="rect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7824" y="1856231"/>
            <a:ext cx="347472" cy="34747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" y="1856231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877E8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180136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877E8"/>
                </a:solidFill>
                <a:latin typeface="Aptos"/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1828800"/>
            <a:ext cx="46817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263C"/>
                </a:solidFill>
                <a:latin typeface="Aptos"/>
              </a:rPr>
              <a:t>JWT access tokens · BCrypt password hashing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505456"/>
            <a:ext cx="7260336" cy="630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505456"/>
            <a:ext cx="64008" cy="630936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4" y="2642615"/>
            <a:ext cx="347472" cy="34747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" y="2642615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5146E5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2587751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5146E5"/>
                </a:solidFill>
                <a:latin typeface="Aptos"/>
              </a:rPr>
              <a:t>AUTHORIZATION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2615184"/>
            <a:ext cx="46817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263C"/>
                </a:solidFill>
                <a:latin typeface="Aptos"/>
              </a:rPr>
              <a:t>Role-based access · ADMIN / TEACHER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291839"/>
            <a:ext cx="7260336" cy="630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291839"/>
            <a:ext cx="64008" cy="630936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7824" y="3428999"/>
            <a:ext cx="347472" cy="347472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" y="3428999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805AD5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3374135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805AD5"/>
                </a:solidFill>
                <a:latin typeface="Aptos"/>
              </a:rPr>
              <a:t>API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8" y="3401568"/>
            <a:ext cx="46817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263C"/>
                </a:solidFill>
                <a:latin typeface="Aptos"/>
              </a:rPr>
              <a:t>Input validation · CORS · safe error responses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078224"/>
            <a:ext cx="7260336" cy="630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078224"/>
            <a:ext cx="64008" cy="630936"/>
          </a:xfrm>
          <a:prstGeom prst="rect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7824" y="4215384"/>
            <a:ext cx="347472" cy="347472"/>
          </a:xfrm>
          <a:prstGeom prst="roundRect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" y="4215384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1A8C3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41605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1A8C3"/>
                </a:solidFill>
                <a:latin typeface="Aptos"/>
              </a:rPr>
              <a:t>FILE HANDLING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0088" y="4187952"/>
            <a:ext cx="46817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263C"/>
                </a:solidFill>
                <a:latin typeface="Aptos"/>
              </a:rPr>
              <a:t>PDF type validation · upload size limits · safe storage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864608"/>
            <a:ext cx="7260336" cy="6309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64008" cy="630936"/>
          </a:xfrm>
          <a:prstGeom prst="rect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77824" y="5001768"/>
            <a:ext cx="347472" cy="34747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540" y="5001768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C9A87"/>
                </a:solidFill>
                <a:latin typeface="Apto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9888" y="49469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C9A87"/>
                </a:solidFill>
                <a:latin typeface="Aptos"/>
              </a:rPr>
              <a:t>CONFIGURATION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0088" y="4974336"/>
            <a:ext cx="46817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263C"/>
                </a:solidFill>
                <a:latin typeface="Aptos"/>
              </a:rPr>
              <a:t>Environment variables · DB credentials · JWT secret · AI URL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11312" y="1600200"/>
            <a:ext cx="3346704" cy="4407408"/>
          </a:xfrm>
          <a:prstGeom prst="roundRect">
            <a:avLst/>
          </a:prstGeom>
          <a:solidFill>
            <a:srgbClr val="13243B"/>
          </a:solidFill>
          <a:ln w="8890">
            <a:solidFill>
              <a:srgbClr val="13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58200" y="1856231"/>
            <a:ext cx="1316736" cy="237744"/>
          </a:xfrm>
          <a:prstGeom prst="roundRect">
            <a:avLst/>
          </a:prstGeom>
          <a:solidFill>
            <a:srgbClr val="2C4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4776" y="1856231"/>
            <a:ext cx="1243584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9D8EF"/>
                </a:solidFill>
                <a:latin typeface="Aptos"/>
              </a:rPr>
              <a:t>TRUST BOUNDARY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2240280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Secure by design,
clear in operation.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58200" y="3063240"/>
            <a:ext cx="283464" cy="283464"/>
          </a:xfrm>
          <a:prstGeom prst="roundRect">
            <a:avLst/>
          </a:prstGeom>
          <a:solidFill>
            <a:srgbClr val="31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71916" y="3063240"/>
            <a:ext cx="2560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D3E1F7"/>
                </a:solidFill>
                <a:latin typeface="Aptos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3054096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ptos"/>
              </a:rPr>
              <a:t>Validate early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2552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B6C5D9"/>
                </a:solidFill>
                <a:latin typeface="Aptos"/>
              </a:rPr>
              <a:t>Reject invalid input at the API boundary.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58200" y="3703320"/>
            <a:ext cx="283464" cy="283464"/>
          </a:xfrm>
          <a:prstGeom prst="roundRect">
            <a:avLst/>
          </a:prstGeom>
          <a:solidFill>
            <a:srgbClr val="31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1916" y="3703320"/>
            <a:ext cx="2560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D3E1F7"/>
                </a:solidFill>
                <a:latin typeface="Aptos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694176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ptos"/>
              </a:rPr>
              <a:t>Limit access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389534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B6C5D9"/>
                </a:solidFill>
                <a:latin typeface="Aptos"/>
              </a:rPr>
              <a:t>Authenticate and authorize each request.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58200" y="4343400"/>
            <a:ext cx="283464" cy="283464"/>
          </a:xfrm>
          <a:prstGeom prst="roundRect">
            <a:avLst/>
          </a:prstGeom>
          <a:solidFill>
            <a:srgbClr val="31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71916" y="4343400"/>
            <a:ext cx="2560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D3E1F7"/>
                </a:solidFill>
                <a:latin typeface="Aptos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4334256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ptos"/>
              </a:rPr>
              <a:t>Fail safely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453542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B6C5D9"/>
                </a:solidFill>
                <a:latin typeface="Aptos"/>
              </a:rPr>
              <a:t>Return meaningful status codes without leaking secrets.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58200" y="4983479"/>
            <a:ext cx="283464" cy="283464"/>
          </a:xfrm>
          <a:prstGeom prst="roundRect">
            <a:avLst/>
          </a:prstGeom>
          <a:solidFill>
            <a:srgbClr val="31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1916" y="4983479"/>
            <a:ext cx="2560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D3E1F7"/>
                </a:solidFill>
                <a:latin typeface="Aptos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4974336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ptos"/>
              </a:rPr>
              <a:t>Externalize secrets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5175503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B6C5D9"/>
                </a:solidFill>
                <a:latin typeface="Aptos"/>
              </a:rPr>
              <a:t>Keep credentials outside source code.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" y="5879592"/>
            <a:ext cx="7040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758B"/>
                </a:solidFill>
                <a:latin typeface="Aptos"/>
              </a:rPr>
              <a:t>Reliability practices: appropriate HTTP status codes · consistent API contracts · controlled document processing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14 · SERVICE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API &amp; microservice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The Spring Boot API is the orchestration boundary between the React client, NLP service and PostgreSQL.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15 / 18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15768" y="2386584"/>
            <a:ext cx="532180" cy="0"/>
          </a:xfrm>
          <a:prstGeom prst="line">
            <a:avLst/>
          </a:prstGeom>
          <a:ln w="1905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209544" y="2322941"/>
            <a:ext cx="109728" cy="127284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108192" y="2386584"/>
            <a:ext cx="605332" cy="0"/>
          </a:xfrm>
          <a:prstGeom prst="line">
            <a:avLst/>
          </a:prstGeom>
          <a:ln w="1905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6675120" y="2322941"/>
            <a:ext cx="109728" cy="127284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6117336" y="3182112"/>
            <a:ext cx="667512" cy="0"/>
          </a:xfrm>
          <a:prstGeom prst="line">
            <a:avLst/>
          </a:prstGeom>
          <a:ln w="1524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6200000">
            <a:off x="6062472" y="3108960"/>
            <a:ext cx="109728" cy="146304"/>
          </a:xfrm>
          <a:prstGeom prst="triangl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736592" y="3794760"/>
            <a:ext cx="0" cy="389534"/>
          </a:xfrm>
          <a:prstGeom prst="line">
            <a:avLst/>
          </a:prstGeom>
          <a:ln w="1778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4672949" y="4151376"/>
            <a:ext cx="127284" cy="109728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1901952"/>
            <a:ext cx="2075688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" y="2039112"/>
            <a:ext cx="978408" cy="21031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039112"/>
            <a:ext cx="905256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2877E8"/>
                </a:solidFill>
                <a:latin typeface="Aptos"/>
              </a:rPr>
              <a:t>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2386584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C"/>
                </a:solidFill>
                <a:latin typeface="Aptos"/>
              </a:rPr>
              <a:t>React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2898648"/>
            <a:ext cx="1783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5758B"/>
                </a:solidFill>
                <a:latin typeface="Aptos"/>
              </a:rPr>
              <a:t>Axios · JWT header
Teacher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9272" y="1901952"/>
            <a:ext cx="278892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65576" y="2039112"/>
            <a:ext cx="978408" cy="21031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2039112"/>
            <a:ext cx="905256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5146E5"/>
                </a:solidFill>
                <a:latin typeface="Aptos"/>
              </a:rPr>
              <a:t>REST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2386584"/>
            <a:ext cx="2496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C"/>
                </a:solidFill>
                <a:latin typeface="Aptos"/>
              </a:rPr>
              <a:t>Spring Boot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2898648"/>
            <a:ext cx="24963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5758B"/>
                </a:solidFill>
                <a:latin typeface="Aptos"/>
              </a:rPr>
              <a:t>Auth · validation
Business rules · JPA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84848" y="1901952"/>
            <a:ext cx="2249424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31152" y="2039112"/>
            <a:ext cx="978408" cy="210312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2039112"/>
            <a:ext cx="905256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805AD5"/>
                </a:solidFill>
                <a:latin typeface="Aptos"/>
              </a:rPr>
              <a:t>AI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2386584"/>
            <a:ext cx="19568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C"/>
                </a:solidFill>
                <a:latin typeface="Aptos"/>
              </a:rPr>
              <a:t>FastAPI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2898648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5758B"/>
                </a:solidFill>
                <a:latin typeface="Aptos"/>
              </a:rPr>
              <a:t>/ai/process-document
PDF + NLP 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270248"/>
            <a:ext cx="2157984" cy="987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03904" y="4407408"/>
            <a:ext cx="978408" cy="21031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4407408"/>
            <a:ext cx="905256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0C9A87"/>
                </a:solidFill>
                <a:latin typeface="Aptos"/>
              </a:rPr>
              <a:t>DATA 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03904" y="4754880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C"/>
                </a:solidFill>
                <a:latin typeface="Aptos"/>
              </a:rPr>
              <a:t>PostgreSQL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3904" y="5266944"/>
            <a:ext cx="18653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5758B"/>
                </a:solidFill>
                <a:latin typeface="Aptos"/>
              </a:rPr>
              <a:t>persist · query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79192" y="2029968"/>
            <a:ext cx="612648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15768" y="2029968"/>
            <a:ext cx="53949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2877E8"/>
                </a:solidFill>
                <a:latin typeface="Aptos"/>
              </a:rPr>
              <a:t>HTTPS / REST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8776" y="2029968"/>
            <a:ext cx="612648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2029968"/>
            <a:ext cx="53949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5146E5"/>
                </a:solidFill>
                <a:latin typeface="Aptos"/>
              </a:rPr>
              <a:t>PROCESS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08776" y="3227832"/>
            <a:ext cx="640080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3D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5352" y="3227832"/>
            <a:ext cx="566928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805AD5"/>
                </a:solidFill>
                <a:latin typeface="Aptos"/>
              </a:rPr>
              <a:t>JSON RESULT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82896" y="3886200"/>
            <a:ext cx="868680" cy="201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19472" y="3886200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C9A87"/>
                </a:solidFill>
                <a:latin typeface="Aptos"/>
              </a:rPr>
              <a:t>JPA / 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315968"/>
            <a:ext cx="4919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5146E5"/>
                </a:solidFill>
                <a:latin typeface="Aptos"/>
              </a:rPr>
              <a:t>REPRESENTATIVE ROUTES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608576"/>
            <a:ext cx="1517904" cy="210312"/>
          </a:xfrm>
          <a:prstGeom prst="roundRect">
            <a:avLst/>
          </a:prstGeom>
          <a:solidFill>
            <a:srgbClr val="F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28816" y="4608576"/>
            <a:ext cx="144475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5758B"/>
                </a:solidFill>
                <a:latin typeface="Aptos"/>
              </a:rPr>
              <a:t>AUTH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47304" y="4608576"/>
            <a:ext cx="31272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B3150"/>
                </a:solidFill>
                <a:latin typeface="Consolas"/>
              </a:rPr>
              <a:t>/api/auth/*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882896"/>
            <a:ext cx="1517904" cy="210312"/>
          </a:xfrm>
          <a:prstGeom prst="roundRect">
            <a:avLst/>
          </a:prstGeom>
          <a:solidFill>
            <a:srgbClr val="F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28816" y="4882896"/>
            <a:ext cx="144475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5758B"/>
                </a:solidFill>
                <a:latin typeface="Aptos"/>
              </a:rPr>
              <a:t>DOCS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47304" y="4882896"/>
            <a:ext cx="31272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B3150"/>
                </a:solidFill>
                <a:latin typeface="Consolas"/>
              </a:rPr>
              <a:t>/api/documents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5157216"/>
            <a:ext cx="1517904" cy="210312"/>
          </a:xfrm>
          <a:prstGeom prst="roundRect">
            <a:avLst/>
          </a:prstGeom>
          <a:solidFill>
            <a:srgbClr val="F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28816" y="5157216"/>
            <a:ext cx="144475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5758B"/>
                </a:solidFill>
                <a:latin typeface="Aptos"/>
              </a:rPr>
              <a:t>QUESTIONS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47304" y="5157216"/>
            <a:ext cx="31272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B3150"/>
                </a:solidFill>
                <a:latin typeface="Consolas"/>
              </a:rPr>
              <a:t>/api/questions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5431536"/>
            <a:ext cx="1517904" cy="210312"/>
          </a:xfrm>
          <a:prstGeom prst="roundRect">
            <a:avLst/>
          </a:prstGeom>
          <a:solidFill>
            <a:srgbClr val="F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28816" y="5431536"/>
            <a:ext cx="144475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5758B"/>
                </a:solidFill>
                <a:latin typeface="Aptos"/>
              </a:rPr>
              <a:t>TOPICS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47304" y="5431536"/>
            <a:ext cx="31272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B3150"/>
                </a:solidFill>
                <a:latin typeface="Consolas"/>
              </a:rPr>
              <a:t>/api/topics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92240" y="5705856"/>
            <a:ext cx="1517904" cy="210312"/>
          </a:xfrm>
          <a:prstGeom prst="roundRect">
            <a:avLst/>
          </a:prstGeom>
          <a:solidFill>
            <a:srgbClr val="F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28816" y="5705856"/>
            <a:ext cx="144475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65758B"/>
                </a:solidFill>
                <a:latin typeface="Aptos"/>
              </a:rPr>
              <a:t>PAPERS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47304" y="5705856"/>
            <a:ext cx="31272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B3150"/>
                </a:solidFill>
                <a:latin typeface="Consolas"/>
              </a:rPr>
              <a:t>/api/question-papers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5623560"/>
            <a:ext cx="5175504" cy="36576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2" y="5632704"/>
            <a:ext cx="48097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B3150"/>
                </a:solidFill>
                <a:latin typeface="Aptos"/>
              </a:rPr>
              <a:t>OpenAPI / Swagger documents the REST contract for testing and integration.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15 ·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Analytics &amp; teacher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Database-derived metrics make content coverage and assessment balance visible at a glance.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16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48088" y="1307592"/>
            <a:ext cx="1673352" cy="228600"/>
          </a:xfrm>
          <a:prstGeom prst="round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84663" y="1307592"/>
            <a:ext cx="160020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A86A12"/>
                </a:solidFill>
                <a:latin typeface="Aptos"/>
              </a:rPr>
              <a:t>ILLUSTRATIVE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1627632"/>
            <a:ext cx="1746504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72821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146E5"/>
                </a:solidFill>
                <a:latin typeface="Aptos"/>
              </a:rPr>
              <a:t>142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075688"/>
            <a:ext cx="14081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65758B"/>
                </a:solidFill>
                <a:latin typeface="Aptos"/>
              </a:rPr>
              <a:t>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79" y="1627632"/>
            <a:ext cx="1746504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172821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877E8"/>
                </a:solidFill>
                <a:latin typeface="Aptos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075688"/>
            <a:ext cx="14081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65758B"/>
                </a:solidFill>
                <a:latin typeface="Aptos"/>
              </a:rPr>
              <a:t>Documents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1627632"/>
            <a:ext cx="1746504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172821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C9A6C"/>
                </a:solidFill>
                <a:latin typeface="Aptos"/>
              </a:rPr>
              <a:t>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075688"/>
            <a:ext cx="14081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65758B"/>
                </a:solidFill>
                <a:latin typeface="Aptos"/>
              </a:rPr>
              <a:t>Easy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27632"/>
            <a:ext cx="1746504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72821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9A12B"/>
                </a:solidFill>
                <a:latin typeface="Aptos"/>
              </a:rPr>
              <a:t>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075688"/>
            <a:ext cx="14081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65758B"/>
                </a:solidFill>
                <a:latin typeface="Aptos"/>
              </a:rPr>
              <a:t>Medium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7575" y="1627632"/>
            <a:ext cx="1746504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72821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95772"/>
                </a:solidFill>
                <a:latin typeface="Aptos"/>
              </a:rPr>
              <a:t>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075688"/>
            <a:ext cx="14081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65758B"/>
                </a:solidFill>
                <a:latin typeface="Aptos"/>
              </a:rPr>
              <a:t>Hard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93807" y="1627632"/>
            <a:ext cx="1746504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0111" y="172821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C9A87"/>
                </a:solidFill>
                <a:latin typeface="Aptos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1" y="2075688"/>
            <a:ext cx="14081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65758B"/>
                </a:solidFill>
                <a:latin typeface="Aptos"/>
              </a:rPr>
              <a:t>Topics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2633472"/>
            <a:ext cx="3520440" cy="3401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43400" y="2633472"/>
            <a:ext cx="3520440" cy="3401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74152" y="2633472"/>
            <a:ext cx="3493008" cy="3401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2834640"/>
            <a:ext cx="30540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63C"/>
                </a:solidFill>
                <a:latin typeface="Aptos"/>
              </a:rPr>
              <a:t>Questions by difficulty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3108960"/>
            <a:ext cx="299008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58B"/>
                </a:solidFill>
                <a:latin typeface="Aptos"/>
              </a:rPr>
              <a:t>n = 142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354787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5758B"/>
                </a:solidFill>
                <a:latin typeface="Aptos"/>
              </a:rPr>
              <a:t>Easy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18488" y="3575303"/>
            <a:ext cx="1783080" cy="164592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618488" y="3575303"/>
            <a:ext cx="1783080" cy="164592"/>
          </a:xfrm>
          <a:prstGeom prst="roundRect">
            <a:avLst/>
          </a:prstGeom>
          <a:solidFill>
            <a:srgbClr val="1C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2152" y="353872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C9A6C"/>
                </a:solidFill>
                <a:latin typeface="Aptos"/>
              </a:rPr>
              <a:t>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418795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5758B"/>
                </a:solidFill>
                <a:latin typeface="Aptos"/>
              </a:rPr>
              <a:t>Medium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18488" y="4215384"/>
            <a:ext cx="1783080" cy="164592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618488" y="4215384"/>
            <a:ext cx="1690851" cy="164592"/>
          </a:xfrm>
          <a:prstGeom prst="roundRect">
            <a:avLst/>
          </a:prstGeom>
          <a:solidFill>
            <a:srgbClr val="E9A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02152" y="41788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E9A12B"/>
                </a:solidFill>
                <a:latin typeface="Aptos"/>
              </a:rPr>
              <a:t>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4828031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5758B"/>
                </a:solidFill>
                <a:latin typeface="Aptos"/>
              </a:rPr>
              <a:t>Hard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18488" y="4855464"/>
            <a:ext cx="1783080" cy="164592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618488" y="4855464"/>
            <a:ext cx="891540" cy="164592"/>
          </a:xfrm>
          <a:prstGeom prst="roundRect">
            <a:avLst/>
          </a:prstGeom>
          <a:solidFill>
            <a:srgbClr val="D95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02152" y="48188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D95772"/>
                </a:solidFill>
                <a:latin typeface="Aptos"/>
              </a:rPr>
              <a:t>29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" y="5605272"/>
            <a:ext cx="2953512" cy="228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" y="5605272"/>
            <a:ext cx="288036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1B3150"/>
                </a:solidFill>
                <a:latin typeface="Aptos"/>
              </a:rPr>
              <a:t>58 + 55 + 29 = 142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6" y="2834640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63C"/>
                </a:solidFill>
                <a:latin typeface="Aptos"/>
              </a:rPr>
              <a:t>Questions by 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62856" y="3108960"/>
            <a:ext cx="299008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58B"/>
                </a:solidFill>
                <a:latin typeface="Aptos"/>
              </a:rPr>
              <a:t>Illustrative distribution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3465576"/>
            <a:ext cx="98755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65758B"/>
                </a:solidFill>
                <a:latin typeface="Aptos"/>
              </a:rPr>
              <a:t>MCQ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50992" y="3488436"/>
            <a:ext cx="1316736" cy="128016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650992" y="3488436"/>
            <a:ext cx="1316736" cy="128016"/>
          </a:xfrm>
          <a:prstGeom prst="roundRect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95744" y="345643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877E8"/>
                </a:solidFill>
                <a:latin typeface="Aptos"/>
              </a:rPr>
              <a:t>52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3950208"/>
            <a:ext cx="98755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65758B"/>
                </a:solidFill>
                <a:latin typeface="Aptos"/>
              </a:rPr>
              <a:t>Short answer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50992" y="3973068"/>
            <a:ext cx="1316736" cy="128016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650992" y="3973068"/>
            <a:ext cx="1139483" cy="128016"/>
          </a:xfrm>
          <a:prstGeom prst="round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95744" y="394106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146E5"/>
                </a:solidFill>
                <a:latin typeface="Aptos"/>
              </a:rPr>
              <a:t>45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4434840"/>
            <a:ext cx="98755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65758B"/>
                </a:solidFill>
                <a:latin typeface="Aptos"/>
              </a:rPr>
              <a:t>Long answer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50992" y="4457700"/>
            <a:ext cx="1316736" cy="128016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50992" y="4457700"/>
            <a:ext cx="709011" cy="128016"/>
          </a:xfrm>
          <a:prstGeom prst="round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95744" y="442569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05AD5"/>
                </a:solidFill>
                <a:latin typeface="Aptos"/>
              </a:rPr>
              <a:t>28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4919472"/>
            <a:ext cx="98755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65758B"/>
                </a:solidFill>
                <a:latin typeface="Aptos"/>
              </a:rPr>
              <a:t>True / False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50992" y="4942332"/>
            <a:ext cx="1316736" cy="128016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650992" y="4942332"/>
            <a:ext cx="430471" cy="128016"/>
          </a:xfrm>
          <a:prstGeom prst="roundRect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95744" y="49103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1A8C3"/>
                </a:solidFill>
                <a:latin typeface="Aptos"/>
              </a:rPr>
              <a:t>17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0" y="5605272"/>
            <a:ext cx="2990088" cy="228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08576" y="5605272"/>
            <a:ext cx="2916936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1B3150"/>
                </a:solidFill>
                <a:latin typeface="Aptos"/>
              </a:rPr>
              <a:t>All type totals sum to 142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93608" y="2834640"/>
            <a:ext cx="30083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63C"/>
                </a:solidFill>
                <a:latin typeface="Aptos"/>
              </a:rPr>
              <a:t>Top topics by questions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93608" y="3108960"/>
            <a:ext cx="299008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58B"/>
                </a:solidFill>
                <a:latin typeface="Aptos"/>
              </a:rPr>
              <a:t>Coverage within the bank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93608" y="3447288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58B"/>
                </a:solidFill>
                <a:latin typeface="Aptos"/>
              </a:rPr>
              <a:t>Normalization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09760" y="3474720"/>
            <a:ext cx="1243584" cy="109728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509760" y="3474720"/>
            <a:ext cx="1243584" cy="109728"/>
          </a:xfrm>
          <a:prstGeom prst="roundRect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826496" y="3447288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C9A87"/>
                </a:solidFill>
                <a:latin typeface="Aptos"/>
              </a:rPr>
              <a:t>21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93608" y="3831336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58B"/>
                </a:solidFill>
                <a:latin typeface="Aptos"/>
              </a:rPr>
              <a:t>Transactions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09760" y="3858768"/>
            <a:ext cx="1243584" cy="109728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509760" y="3858768"/>
            <a:ext cx="1006710" cy="109728"/>
          </a:xfrm>
          <a:prstGeom prst="roundRect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26496" y="3831336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C9A87"/>
                </a:solidFill>
                <a:latin typeface="Aptos"/>
              </a:rPr>
              <a:t>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93608" y="4215384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58B"/>
                </a:solidFill>
                <a:latin typeface="Aptos"/>
              </a:rPr>
              <a:t>Process mgmt.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09760" y="4242816"/>
            <a:ext cx="1243584" cy="109728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509760" y="4242816"/>
            <a:ext cx="888274" cy="109728"/>
          </a:xfrm>
          <a:prstGeom prst="roundRect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26496" y="4215384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C9A87"/>
                </a:solidFill>
                <a:latin typeface="Aptos"/>
              </a:rPr>
              <a:t>15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93608" y="4599432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58B"/>
                </a:solidFill>
                <a:latin typeface="Aptos"/>
              </a:rPr>
              <a:t>Indexing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509760" y="4626864"/>
            <a:ext cx="1243584" cy="109728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509760" y="4626864"/>
            <a:ext cx="710619" cy="109728"/>
          </a:xfrm>
          <a:prstGeom prst="roundRect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826496" y="4599432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C9A87"/>
                </a:solidFill>
                <a:latin typeface="Aptos"/>
              </a:rP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93608" y="4983480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58B"/>
                </a:solidFill>
                <a:latin typeface="Aptos"/>
              </a:rPr>
              <a:t>Other topics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509760" y="5010912"/>
            <a:ext cx="1243584" cy="109728"/>
          </a:xfrm>
          <a:prstGeom prst="round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509760" y="5010912"/>
            <a:ext cx="592182" cy="109728"/>
          </a:xfrm>
          <a:prstGeom prst="roundRect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826496" y="498348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C9A87"/>
                </a:solidFill>
                <a:latin typeface="Aptos"/>
              </a:rPr>
              <a:t>10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302752" y="5605272"/>
            <a:ext cx="2971800" cy="228600"/>
          </a:xfrm>
          <a:prstGeom prst="roundRect">
            <a:avLst/>
          </a:prstGeom>
          <a:solidFill>
            <a:srgbClr val="E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39327" y="5605272"/>
            <a:ext cx="289864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C9A87"/>
                </a:solidFill>
                <a:latin typeface="Aptos"/>
              </a:rPr>
              <a:t>Counts computed from stored records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6656" y="6181344"/>
            <a:ext cx="99669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65758B"/>
                </a:solidFill>
                <a:latin typeface="Aptos"/>
              </a:rPr>
              <a:t>Dashboard cards and charts are aggregates from PostgreSQL records; values above are an illustrative sample snapshot.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16 ·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Technology stack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The implementation uses a practical separation of concerns across web client, REST backend, NLP service and relational data.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17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6648" y="1307592"/>
            <a:ext cx="1783080" cy="228600"/>
          </a:xfrm>
          <a:prstGeom prst="roundRect">
            <a:avLst/>
          </a:prstGeom>
          <a:solidFill>
            <a:srgbClr val="EF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3224" y="1307592"/>
            <a:ext cx="170992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0C9A87"/>
                </a:solidFill>
                <a:latin typeface="Aptos"/>
              </a:rPr>
              <a:t>CURRENT 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1700784"/>
            <a:ext cx="2615184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1700784"/>
            <a:ext cx="2615184" cy="68580"/>
          </a:xfrm>
          <a:prstGeom prst="rect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1883664"/>
            <a:ext cx="402336" cy="210312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1883664"/>
            <a:ext cx="329184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2877E8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212848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877E8"/>
                </a:solidFill>
                <a:latin typeface="Aptos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523744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C"/>
                </a:solidFill>
                <a:latin typeface="Aptos"/>
              </a:rPr>
              <a:t>Teacher workspace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" y="2971800"/>
            <a:ext cx="2304288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77240" y="3195828"/>
            <a:ext cx="82296" cy="82296"/>
          </a:xfrm>
          <a:prstGeom prst="ellips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1455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React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3424428"/>
            <a:ext cx="82296" cy="82296"/>
          </a:xfrm>
          <a:prstGeom prst="ellips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3741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Vite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3653028"/>
            <a:ext cx="82296" cy="82296"/>
          </a:xfrm>
          <a:prstGeom prst="ellips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36027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TypeScript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881628"/>
            <a:ext cx="82296" cy="82296"/>
          </a:xfrm>
          <a:prstGeom prst="ellips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38313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Tailwind CSS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4110228"/>
            <a:ext cx="82296" cy="82296"/>
          </a:xfrm>
          <a:prstGeom prst="ellips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0599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React Router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338828"/>
            <a:ext cx="82296" cy="82296"/>
          </a:xfrm>
          <a:prstGeom prst="ellips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2885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Axios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32404" y="3054096"/>
            <a:ext cx="88239" cy="0"/>
          </a:xfrm>
          <a:prstGeom prst="line">
            <a:avLst/>
          </a:prstGeom>
          <a:ln w="14604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3291840" y="3006364"/>
            <a:ext cx="82296" cy="95463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83280" y="1700784"/>
            <a:ext cx="2615184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83280" y="1700784"/>
            <a:ext cx="2615184" cy="68580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38728" y="1883664"/>
            <a:ext cx="402336" cy="210312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75304" y="1883664"/>
            <a:ext cx="329184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146E5"/>
                </a:solidFill>
                <a:latin typeface="Apto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2212848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146E5"/>
                </a:solidFill>
                <a:latin typeface="Aptos"/>
              </a:rPr>
              <a:t>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2523744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C"/>
                </a:solidFill>
                <a:latin typeface="Aptos"/>
              </a:rPr>
              <a:t>Secure application API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38728" y="2971800"/>
            <a:ext cx="2304288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557016" y="3195828"/>
            <a:ext cx="82296" cy="82296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31455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Java</a:t>
            </a:r>
          </a:p>
        </p:txBody>
      </p:sp>
      <p:sp>
        <p:nvSpPr>
          <p:cNvPr id="42" name="Oval 41"/>
          <p:cNvSpPr/>
          <p:nvPr/>
        </p:nvSpPr>
        <p:spPr>
          <a:xfrm>
            <a:off x="3557016" y="3424428"/>
            <a:ext cx="82296" cy="82296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30752" y="33741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Spring Boot</a:t>
            </a:r>
          </a:p>
        </p:txBody>
      </p:sp>
      <p:sp>
        <p:nvSpPr>
          <p:cNvPr id="44" name="Oval 43"/>
          <p:cNvSpPr/>
          <p:nvPr/>
        </p:nvSpPr>
        <p:spPr>
          <a:xfrm>
            <a:off x="3557016" y="3653028"/>
            <a:ext cx="82296" cy="82296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0752" y="36027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Spring Security</a:t>
            </a:r>
          </a:p>
        </p:txBody>
      </p:sp>
      <p:sp>
        <p:nvSpPr>
          <p:cNvPr id="46" name="Oval 45"/>
          <p:cNvSpPr/>
          <p:nvPr/>
        </p:nvSpPr>
        <p:spPr>
          <a:xfrm>
            <a:off x="3557016" y="3881628"/>
            <a:ext cx="82296" cy="82296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30752" y="38313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JWT</a:t>
            </a:r>
          </a:p>
        </p:txBody>
      </p:sp>
      <p:sp>
        <p:nvSpPr>
          <p:cNvPr id="48" name="Oval 47"/>
          <p:cNvSpPr/>
          <p:nvPr/>
        </p:nvSpPr>
        <p:spPr>
          <a:xfrm>
            <a:off x="3557016" y="4110228"/>
            <a:ext cx="82296" cy="82296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30752" y="40599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Spring Data JPA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12180" y="3054096"/>
            <a:ext cx="88239" cy="0"/>
          </a:xfrm>
          <a:prstGeom prst="line">
            <a:avLst/>
          </a:prstGeom>
          <a:ln w="14604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6071616" y="3006364"/>
            <a:ext cx="82296" cy="95463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63056" y="1700784"/>
            <a:ext cx="2615184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63056" y="1700784"/>
            <a:ext cx="2615184" cy="6858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318504" y="1883664"/>
            <a:ext cx="402336" cy="210312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1883664"/>
            <a:ext cx="329184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805AD5"/>
                </a:solidFill>
                <a:latin typeface="Apto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8504" y="2212848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05AD5"/>
                </a:solidFill>
                <a:latin typeface="Aptos"/>
              </a:rPr>
              <a:t>AI / NLP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18504" y="2523744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C"/>
                </a:solidFill>
                <a:latin typeface="Aptos"/>
              </a:rPr>
              <a:t>Local processing service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318504" y="2971800"/>
            <a:ext cx="2304288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6336792" y="3195828"/>
            <a:ext cx="82296" cy="82296"/>
          </a:xfrm>
          <a:prstGeom prst="ellips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0528" y="31455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Python</a:t>
            </a:r>
          </a:p>
        </p:txBody>
      </p:sp>
      <p:sp>
        <p:nvSpPr>
          <p:cNvPr id="61" name="Oval 60"/>
          <p:cNvSpPr/>
          <p:nvPr/>
        </p:nvSpPr>
        <p:spPr>
          <a:xfrm>
            <a:off x="6336792" y="3424428"/>
            <a:ext cx="82296" cy="82296"/>
          </a:xfrm>
          <a:prstGeom prst="ellips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0528" y="33741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FastAPI</a:t>
            </a:r>
          </a:p>
        </p:txBody>
      </p:sp>
      <p:sp>
        <p:nvSpPr>
          <p:cNvPr id="63" name="Oval 62"/>
          <p:cNvSpPr/>
          <p:nvPr/>
        </p:nvSpPr>
        <p:spPr>
          <a:xfrm>
            <a:off x="6336792" y="3653028"/>
            <a:ext cx="82296" cy="82296"/>
          </a:xfrm>
          <a:prstGeom prst="ellips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0528" y="36027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PyMuPDF</a:t>
            </a:r>
          </a:p>
        </p:txBody>
      </p:sp>
      <p:sp>
        <p:nvSpPr>
          <p:cNvPr id="65" name="Oval 64"/>
          <p:cNvSpPr/>
          <p:nvPr/>
        </p:nvSpPr>
        <p:spPr>
          <a:xfrm>
            <a:off x="6336792" y="3881628"/>
            <a:ext cx="82296" cy="82296"/>
          </a:xfrm>
          <a:prstGeom prst="ellips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10528" y="38313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spaCy</a:t>
            </a:r>
          </a:p>
        </p:txBody>
      </p:sp>
      <p:sp>
        <p:nvSpPr>
          <p:cNvPr id="67" name="Oval 66"/>
          <p:cNvSpPr/>
          <p:nvPr/>
        </p:nvSpPr>
        <p:spPr>
          <a:xfrm>
            <a:off x="6336792" y="4110228"/>
            <a:ext cx="82296" cy="82296"/>
          </a:xfrm>
          <a:prstGeom prst="ellips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10528" y="40599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NLTK</a:t>
            </a:r>
          </a:p>
        </p:txBody>
      </p:sp>
      <p:sp>
        <p:nvSpPr>
          <p:cNvPr id="69" name="Oval 68"/>
          <p:cNvSpPr/>
          <p:nvPr/>
        </p:nvSpPr>
        <p:spPr>
          <a:xfrm>
            <a:off x="6336792" y="4338828"/>
            <a:ext cx="82296" cy="82296"/>
          </a:xfrm>
          <a:prstGeom prst="ellips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10528" y="42885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Rule-based QG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791956" y="3054096"/>
            <a:ext cx="88239" cy="0"/>
          </a:xfrm>
          <a:prstGeom prst="line">
            <a:avLst/>
          </a:prstGeom>
          <a:ln w="14604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8851392" y="3006364"/>
            <a:ext cx="82296" cy="95463"/>
          </a:xfrm>
          <a:prstGeom prst="triangl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942832" y="1700784"/>
            <a:ext cx="2615184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42832" y="1700784"/>
            <a:ext cx="2615184" cy="68580"/>
          </a:xfrm>
          <a:prstGeom prst="rect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098280" y="1883664"/>
            <a:ext cx="402336" cy="210312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34856" y="1883664"/>
            <a:ext cx="329184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C9A87"/>
                </a:solidFill>
                <a:latin typeface="Aptos"/>
              </a:rPr>
              <a:t>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98280" y="2212848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C9A87"/>
                </a:solidFill>
                <a:latin typeface="Aptos"/>
              </a:rPr>
              <a:t>DATABASE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98280" y="2523744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C"/>
                </a:solidFill>
                <a:latin typeface="Aptos"/>
              </a:rPr>
              <a:t>Persistent application data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098280" y="2971800"/>
            <a:ext cx="2304288" cy="0"/>
          </a:xfrm>
          <a:prstGeom prst="line">
            <a:avLst/>
          </a:prstGeom>
          <a:ln w="889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9116568" y="3195828"/>
            <a:ext cx="82296" cy="82296"/>
          </a:xfrm>
          <a:prstGeom prst="ellips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90304" y="31455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PostgreSQL</a:t>
            </a:r>
          </a:p>
        </p:txBody>
      </p:sp>
      <p:sp>
        <p:nvSpPr>
          <p:cNvPr id="82" name="Oval 81"/>
          <p:cNvSpPr/>
          <p:nvPr/>
        </p:nvSpPr>
        <p:spPr>
          <a:xfrm>
            <a:off x="9116568" y="3424428"/>
            <a:ext cx="82296" cy="82296"/>
          </a:xfrm>
          <a:prstGeom prst="ellips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90304" y="33741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Users &amp; roles</a:t>
            </a:r>
          </a:p>
        </p:txBody>
      </p:sp>
      <p:sp>
        <p:nvSpPr>
          <p:cNvPr id="84" name="Oval 83"/>
          <p:cNvSpPr/>
          <p:nvPr/>
        </p:nvSpPr>
        <p:spPr>
          <a:xfrm>
            <a:off x="9116568" y="3653028"/>
            <a:ext cx="82296" cy="82296"/>
          </a:xfrm>
          <a:prstGeom prst="ellips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90304" y="36027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Documents</a:t>
            </a:r>
          </a:p>
        </p:txBody>
      </p:sp>
      <p:sp>
        <p:nvSpPr>
          <p:cNvPr id="86" name="Oval 85"/>
          <p:cNvSpPr/>
          <p:nvPr/>
        </p:nvSpPr>
        <p:spPr>
          <a:xfrm>
            <a:off x="9116568" y="3881628"/>
            <a:ext cx="82296" cy="82296"/>
          </a:xfrm>
          <a:prstGeom prst="ellips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90304" y="38313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Questions</a:t>
            </a:r>
          </a:p>
        </p:txBody>
      </p:sp>
      <p:sp>
        <p:nvSpPr>
          <p:cNvPr id="88" name="Oval 87"/>
          <p:cNvSpPr/>
          <p:nvPr/>
        </p:nvSpPr>
        <p:spPr>
          <a:xfrm>
            <a:off x="9116568" y="4110228"/>
            <a:ext cx="82296" cy="82296"/>
          </a:xfrm>
          <a:prstGeom prst="ellips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90304" y="4059936"/>
            <a:ext cx="211226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3150"/>
                </a:solidFill>
                <a:latin typeface="Aptos"/>
              </a:rPr>
              <a:t>Papers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03504" y="4956048"/>
            <a:ext cx="10954512" cy="1005840"/>
          </a:xfrm>
          <a:prstGeom prst="round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1248" y="512064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FD0D9"/>
                </a:solidFill>
                <a:latin typeface="Aptos"/>
              </a:rPr>
              <a:t>IMPLEMENTED PATH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33472" y="5065776"/>
            <a:ext cx="8558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PDF extraction · NLP preprocessing · keywords/topics · rule-based questions · difficulty estimate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33472" y="5413248"/>
            <a:ext cx="855878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CFD9E8"/>
                </a:solidFill>
                <a:latin typeface="Aptos"/>
              </a:rPr>
              <a:t>PostgreSQL storage · REST APIs · JWT authentication · question-paper builder · PDF export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50392" y="5486400"/>
            <a:ext cx="1444752" cy="246888"/>
          </a:xfrm>
          <a:prstGeom prst="round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6968" y="5486400"/>
            <a:ext cx="137160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D7E4F6"/>
                </a:solidFill>
                <a:latin typeface="Aptos"/>
              </a:rPr>
              <a:t>REST + OPENAPI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738360" y="5486400"/>
            <a:ext cx="1499616" cy="246888"/>
          </a:xfrm>
          <a:prstGeom prst="round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774936" y="5486400"/>
            <a:ext cx="1426463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D7E4F6"/>
                </a:solidFill>
                <a:latin typeface="Aptos"/>
              </a:rPr>
              <a:t>DOCKER / COMPOSE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09560" y="6099048"/>
            <a:ext cx="35204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58B"/>
                </a:solidFill>
                <a:latin typeface="Aptos"/>
              </a:rPr>
              <a:t>Deployment / packaging: Docker + Docker Compose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283464"/>
            <a:ext cx="50292" cy="832104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146E5"/>
                </a:solidFill>
                <a:latin typeface="Aptos"/>
              </a:rPr>
              <a:t>17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7263C"/>
                </a:solidFill>
                <a:latin typeface="Aptos Display"/>
              </a:rPr>
              <a:t>Future scope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869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5758B"/>
                </a:solidFill>
                <a:latin typeface="Aptos"/>
              </a:rPr>
              <a:t>A practical first release today—with clear, achievable extensions for a richer learning-assessment platform.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255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794A7"/>
                </a:solidFill>
                <a:latin typeface="Aptos"/>
              </a:rPr>
              <a:t>AUTOMATED QUESTION BANK GENERATION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486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A7"/>
                </a:solidFill>
                <a:latin typeface="Aptos"/>
              </a:rPr>
              <a:t>18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72184"/>
            <a:ext cx="5623560" cy="36301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1700784"/>
            <a:ext cx="1335024" cy="237744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00784"/>
            <a:ext cx="1261872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805AD5"/>
                </a:solidFill>
                <a:latin typeface="Aptos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011680"/>
            <a:ext cx="48920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C"/>
                </a:solidFill>
                <a:latin typeface="Aptos"/>
              </a:rPr>
              <a:t>Potential next 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2505456"/>
            <a:ext cx="1554480" cy="548640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2688336"/>
            <a:ext cx="118872" cy="118872"/>
          </a:xfrm>
          <a:prstGeom prst="ellips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2578608"/>
            <a:ext cx="11612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B3150"/>
                </a:solidFill>
                <a:latin typeface="Aptos"/>
              </a:rPr>
              <a:t>LLM question 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2505456"/>
            <a:ext cx="1554480" cy="548640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60903" y="2688336"/>
            <a:ext cx="118872" cy="118872"/>
          </a:xfrm>
          <a:prstGeom prst="ellips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7" y="2578608"/>
            <a:ext cx="11612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B3150"/>
                </a:solidFill>
                <a:latin typeface="Aptos"/>
              </a:rPr>
              <a:t>OCR for scanned PDFs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1104" y="2505456"/>
            <a:ext cx="1554480" cy="548640"/>
          </a:xfrm>
          <a:prstGeom prst="roundRect">
            <a:avLst/>
          </a:prstGeom>
          <a:solidFill>
            <a:srgbClr val="E9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61688" y="2688336"/>
            <a:ext cx="118872" cy="118872"/>
          </a:xfrm>
          <a:prstGeom prst="ellipse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2578608"/>
            <a:ext cx="11612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B3150"/>
                </a:solidFill>
                <a:latin typeface="Aptos"/>
              </a:rPr>
              <a:t>Multilingual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" y="3227832"/>
            <a:ext cx="1554480" cy="548640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3410712"/>
            <a:ext cx="118872" cy="118872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" y="3300984"/>
            <a:ext cx="11612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B3150"/>
                </a:solidFill>
                <a:latin typeface="Aptos"/>
              </a:rPr>
              <a:t>Question quality scoring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20" y="3227832"/>
            <a:ext cx="1554480" cy="548640"/>
          </a:xfrm>
          <a:prstGeom prst="round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60903" y="3410712"/>
            <a:ext cx="118872" cy="118872"/>
          </a:xfrm>
          <a:prstGeom prst="ellips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2927" y="3300984"/>
            <a:ext cx="11612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B3150"/>
                </a:solidFill>
                <a:latin typeface="Aptos"/>
              </a:rPr>
              <a:t>Bloom's Taxonomy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3227832"/>
            <a:ext cx="1554480" cy="548640"/>
          </a:xfrm>
          <a:prstGeom prst="round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61688" y="3410712"/>
            <a:ext cx="118872" cy="118872"/>
          </a:xfrm>
          <a:prstGeom prst="ellipse">
            <a:avLst/>
          </a:prstGeom>
          <a:solidFill>
            <a:srgbClr val="E9A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3300984"/>
            <a:ext cx="11612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B3150"/>
                </a:solidFill>
                <a:latin typeface="Aptos"/>
              </a:rPr>
              <a:t>ML difficulty prediction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" y="3950208"/>
            <a:ext cx="1554480" cy="548640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0120" y="4133088"/>
            <a:ext cx="118872" cy="118872"/>
          </a:xfrm>
          <a:prstGeom prst="ellips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2144" y="4023360"/>
            <a:ext cx="11612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B3150"/>
                </a:solidFill>
                <a:latin typeface="Aptos"/>
              </a:rPr>
              <a:t>Cloud document storage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3950208"/>
            <a:ext cx="1554480" cy="548640"/>
          </a:xfrm>
          <a:prstGeom prst="round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660903" y="4133088"/>
            <a:ext cx="118872" cy="118872"/>
          </a:xfrm>
          <a:prstGeom prst="ellipse">
            <a:avLst/>
          </a:prstGeom>
          <a:solidFill>
            <a:srgbClr val="D95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2927" y="4023360"/>
            <a:ext cx="11612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B3150"/>
                </a:solidFill>
                <a:latin typeface="Aptos"/>
              </a:rPr>
              <a:t>Email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61104" y="3950208"/>
            <a:ext cx="1554480" cy="54864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361688" y="4133088"/>
            <a:ext cx="118872" cy="118872"/>
          </a:xfrm>
          <a:prstGeom prst="ellipse">
            <a:avLst/>
          </a:prstGeom>
          <a:solidFill>
            <a:srgbClr val="1C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53712" y="4023360"/>
            <a:ext cx="11612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B3150"/>
                </a:solidFill>
                <a:latin typeface="Aptos"/>
              </a:rPr>
              <a:t>Collaborative question banks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1472184"/>
            <a:ext cx="5120640" cy="3630168"/>
          </a:xfrm>
          <a:prstGeom prst="roundRect">
            <a:avLst/>
          </a:prstGeom>
          <a:solidFill>
            <a:srgbClr val="13243B"/>
          </a:solidFill>
          <a:ln w="8890">
            <a:solidFill>
              <a:srgbClr val="13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29984" y="1700784"/>
            <a:ext cx="1554480" cy="237744"/>
          </a:xfrm>
          <a:prstGeom prst="roundRect">
            <a:avLst/>
          </a:prstGeom>
          <a:solidFill>
            <a:srgbClr val="2A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1700784"/>
            <a:ext cx="148132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9DDE0"/>
                </a:solidFill>
                <a:latin typeface="Aptos"/>
              </a:rPr>
              <a:t>CURRENT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4" y="2084831"/>
            <a:ext cx="446227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From educational PDF
to a managed question bank.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2944368"/>
            <a:ext cx="4361688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D3DEED"/>
                </a:solidFill>
                <a:latin typeface="Aptos"/>
              </a:rPr>
              <a:t>The system combines automated content processing with teacher review, searchable storage and a practical paper builder—reducing repeated manual effort.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29984" y="3794760"/>
            <a:ext cx="4507992" cy="0"/>
          </a:xfrm>
          <a:prstGeom prst="line">
            <a:avLst/>
          </a:prstGeom>
          <a:ln w="8890">
            <a:solidFill>
              <a:srgbClr val="3A50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29984" y="3931920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7416" y="4398264"/>
            <a:ext cx="42976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FC2DA"/>
                </a:solidFill>
                <a:latin typeface="Aptos"/>
              </a:rPr>
              <a:t>Questions &amp; Discussion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23036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146E5"/>
                </a:solidFill>
                <a:latin typeface="Aptos"/>
              </a:rPr>
              <a:t>COMPLETE SYSTEM FLOW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" y="5477256"/>
            <a:ext cx="2011680" cy="3474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" y="5477256"/>
            <a:ext cx="193852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877E8"/>
                </a:solidFill>
                <a:latin typeface="Aptos"/>
              </a:rPr>
              <a:t>Teacher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647188" y="5650992"/>
            <a:ext cx="104698" cy="0"/>
          </a:xfrm>
          <a:prstGeom prst="line">
            <a:avLst/>
          </a:prstGeom>
          <a:ln w="1143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2729484" y="5613867"/>
            <a:ext cx="64008" cy="74249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807208" y="5477256"/>
            <a:ext cx="2011680" cy="3474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43784" y="5477256"/>
            <a:ext cx="193852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877E8"/>
                </a:solidFill>
                <a:latin typeface="Aptos"/>
              </a:rPr>
              <a:t>Upload PDF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841748" y="5650992"/>
            <a:ext cx="104698" cy="0"/>
          </a:xfrm>
          <a:prstGeom prst="line">
            <a:avLst/>
          </a:prstGeom>
          <a:ln w="11430">
            <a:solidFill>
              <a:srgbClr val="287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4924044" y="5613867"/>
            <a:ext cx="64008" cy="74249"/>
          </a:xfrm>
          <a:prstGeom prst="triangle">
            <a:avLst/>
          </a:prstGeom>
          <a:solidFill>
            <a:srgbClr val="28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001768" y="5477256"/>
            <a:ext cx="2011680" cy="3474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38344" y="5477256"/>
            <a:ext cx="193852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5146E5"/>
                </a:solidFill>
                <a:latin typeface="Aptos"/>
              </a:rPr>
              <a:t>NLP processing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036308" y="5650992"/>
            <a:ext cx="104698" cy="0"/>
          </a:xfrm>
          <a:prstGeom prst="line">
            <a:avLst/>
          </a:prstGeom>
          <a:ln w="1143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7118604" y="5613867"/>
            <a:ext cx="64008" cy="74249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96328" y="5477256"/>
            <a:ext cx="2011680" cy="3474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32904" y="5477256"/>
            <a:ext cx="193852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805AD5"/>
                </a:solidFill>
                <a:latin typeface="Aptos"/>
              </a:rPr>
              <a:t>Generate questions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230868" y="5650992"/>
            <a:ext cx="104698" cy="0"/>
          </a:xfrm>
          <a:prstGeom prst="line">
            <a:avLst/>
          </a:prstGeom>
          <a:ln w="1143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9313163" y="5613867"/>
            <a:ext cx="64008" cy="74249"/>
          </a:xfrm>
          <a:prstGeom prst="triangle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390888" y="5477256"/>
            <a:ext cx="2011680" cy="3474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27464" y="5477256"/>
            <a:ext cx="193852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E9A12B"/>
                </a:solidFill>
                <a:latin typeface="Aptos"/>
              </a:rPr>
              <a:t>Difficulty classify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8047" y="5916168"/>
            <a:ext cx="2423160" cy="3474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4623" y="5916168"/>
            <a:ext cx="235000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C9A87"/>
                </a:solidFill>
                <a:latin typeface="Aptos"/>
              </a:rPr>
              <a:t>Question bank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284067" y="6089904"/>
            <a:ext cx="196139" cy="0"/>
          </a:xfrm>
          <a:prstGeom prst="line">
            <a:avLst/>
          </a:prstGeom>
          <a:ln w="11430">
            <a:solidFill>
              <a:srgbClr val="0C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Isosceles Triangle 70"/>
          <p:cNvSpPr/>
          <p:nvPr/>
        </p:nvSpPr>
        <p:spPr>
          <a:xfrm rot="5400000">
            <a:off x="3457803" y="6052779"/>
            <a:ext cx="64008" cy="74249"/>
          </a:xfrm>
          <a:prstGeom prst="triangle">
            <a:avLst/>
          </a:prstGeom>
          <a:solidFill>
            <a:srgbClr val="0C9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535527" y="5916168"/>
            <a:ext cx="2423160" cy="3474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72103" y="5916168"/>
            <a:ext cx="235000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1A8C3"/>
                </a:solidFill>
                <a:latin typeface="Aptos"/>
              </a:rPr>
              <a:t>Search · filter · edit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981547" y="6089904"/>
            <a:ext cx="196139" cy="0"/>
          </a:xfrm>
          <a:prstGeom prst="line">
            <a:avLst/>
          </a:prstGeom>
          <a:ln w="11430">
            <a:solidFill>
              <a:srgbClr val="11A8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/>
          <p:cNvSpPr/>
          <p:nvPr/>
        </p:nvSpPr>
        <p:spPr>
          <a:xfrm rot="5400000">
            <a:off x="6155283" y="6052779"/>
            <a:ext cx="64008" cy="74249"/>
          </a:xfrm>
          <a:prstGeom prst="triangle">
            <a:avLst/>
          </a:prstGeom>
          <a:solidFill>
            <a:srgbClr val="11A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233007" y="5916168"/>
            <a:ext cx="2423160" cy="3474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9583" y="5916168"/>
            <a:ext cx="235000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5146E5"/>
                </a:solidFill>
                <a:latin typeface="Aptos"/>
              </a:rPr>
              <a:t>Paper builder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679027" y="6089904"/>
            <a:ext cx="196139" cy="0"/>
          </a:xfrm>
          <a:prstGeom prst="line">
            <a:avLst/>
          </a:prstGeom>
          <a:ln w="11430">
            <a:solidFill>
              <a:srgbClr val="51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 rot="5400000">
            <a:off x="8852763" y="6052779"/>
            <a:ext cx="64008" cy="74249"/>
          </a:xfrm>
          <a:prstGeom prst="triangl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930487" y="5916168"/>
            <a:ext cx="2423160" cy="3474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67063" y="5916168"/>
            <a:ext cx="235000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C9A6C"/>
                </a:solidFill>
                <a:latin typeface="Aptos"/>
              </a:rPr>
              <a:t>PDF export</a:t>
            </a:r>
          </a:p>
        </p:txBody>
      </p:sp>
    </p:spTree>
  </p:cSld>
  <p:clrMapOvr>
    <a:masterClrMapping/>
  </p:clrMapOvr>
  <p:transition spd="slow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Question Bank Generation System</dc:title>
  <dc:subject>Full-stack NLP-driven educational question-bank and paper-generation platform</dc:subject>
  <dc:creator>Project Team</dc:creator>
  <cp:keywords>Question Bank, NLP, PDF, React, Spring Boot, FastAPI, PostgreSQL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