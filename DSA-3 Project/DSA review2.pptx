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1069848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1F2E40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Automated Question Bank Generation System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25146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E8604B"/>
          </a:solidFill>
        </p:spPr>
      </p:sp>
      <p:sp>
        <p:nvSpPr>
          <p:cNvPr id="4" name="Text 2"/>
          <p:cNvSpPr/>
          <p:nvPr/>
        </p:nvSpPr>
        <p:spPr>
          <a:xfrm>
            <a:off x="731520" y="25146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DSA-3 · REVIEW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Section: </a:t>
            </a:r>
            <a:r>
              <a:rPr lang="en-US" sz="1400" dirty="0">
                <a:solidFill>
                  <a:srgbClr val="556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" y="4297680"/>
            <a:ext cx="73152" cy="73152"/>
          </a:xfrm>
          <a:prstGeom prst="ellipse">
            <a:avLst/>
          </a:prstGeom>
          <a:solidFill>
            <a:srgbClr val="E8604B"/>
          </a:solidFill>
        </p:spPr>
      </p:sp>
      <p:sp>
        <p:nvSpPr>
          <p:cNvPr id="8" name="Text 6"/>
          <p:cNvSpPr/>
          <p:nvPr/>
        </p:nvSpPr>
        <p:spPr>
          <a:xfrm>
            <a:off x="960120" y="420624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2510030386 - Sai Ganesh Reddy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808" y="4663440"/>
            <a:ext cx="73152" cy="73152"/>
          </a:xfrm>
          <a:prstGeom prst="ellipse">
            <a:avLst/>
          </a:prstGeom>
          <a:solidFill>
            <a:srgbClr val="E8604B"/>
          </a:solidFill>
        </p:spPr>
      </p:sp>
      <p:sp>
        <p:nvSpPr>
          <p:cNvPr id="10" name="Text 8"/>
          <p:cNvSpPr/>
          <p:nvPr/>
        </p:nvSpPr>
        <p:spPr>
          <a:xfrm>
            <a:off x="960120" y="45720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2510030378 - Jaswanth Reddy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5029200"/>
            <a:ext cx="73152" cy="73152"/>
          </a:xfrm>
          <a:prstGeom prst="ellipse">
            <a:avLst/>
          </a:prstGeom>
          <a:solidFill>
            <a:srgbClr val="E8604B"/>
          </a:solidFill>
        </p:spPr>
      </p:sp>
      <p:sp>
        <p:nvSpPr>
          <p:cNvPr id="12" name="Text 10"/>
          <p:cNvSpPr/>
          <p:nvPr/>
        </p:nvSpPr>
        <p:spPr>
          <a:xfrm>
            <a:off x="960120" y="493776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2510030053 - Krishna Biradar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" y="5394960"/>
            <a:ext cx="73152" cy="73152"/>
          </a:xfrm>
          <a:prstGeom prst="ellipse">
            <a:avLst/>
          </a:prstGeom>
          <a:solidFill>
            <a:srgbClr val="E8604B"/>
          </a:solidFill>
        </p:spPr>
      </p:sp>
      <p:sp>
        <p:nvSpPr>
          <p:cNvPr id="14" name="Text 12"/>
          <p:cNvSpPr/>
          <p:nvPr/>
        </p:nvSpPr>
        <p:spPr>
          <a:xfrm>
            <a:off x="960120" y="53035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2510030333 - Pradeep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Question Bank Generation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0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1200" b="1" kern="0" spc="200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IN" altLang="en-US" sz="1200" b="1" kern="0" spc="200" dirty="0">
              <a:solidFill>
                <a:srgbClr val="F2652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D2D2D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Automated Question Bank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2D2D2D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Generation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intelligent system that automatically generates structured examination questions from textbooks, lecture notes, and educational resources — extracting keywords, classifying topics, estimating difficulty, and organizing everything into a searchable repository.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306824"/>
            <a:ext cx="91440" cy="91440"/>
          </a:xfrm>
          <a:prstGeom prst="ellipse">
            <a:avLst/>
          </a:prstGeom>
          <a:solidFill>
            <a:srgbClr val="F26522"/>
          </a:solidFill>
        </p:spPr>
      </p:sp>
      <p:sp>
        <p:nvSpPr>
          <p:cNvPr id="6" name="Text 4"/>
          <p:cNvSpPr/>
          <p:nvPr/>
        </p:nvSpPr>
        <p:spPr>
          <a:xfrm>
            <a:off x="868680" y="417880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manual effort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718304"/>
            <a:ext cx="91440" cy="91440"/>
          </a:xfrm>
          <a:prstGeom prst="ellipse">
            <a:avLst/>
          </a:prstGeom>
          <a:solidFill>
            <a:srgbClr val="F26522"/>
          </a:solidFill>
        </p:spPr>
      </p:sp>
      <p:sp>
        <p:nvSpPr>
          <p:cNvPr id="8" name="Text 6"/>
          <p:cNvSpPr/>
          <p:nvPr/>
        </p:nvSpPr>
        <p:spPr>
          <a:xfrm>
            <a:off x="868680" y="459028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question quality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129784"/>
            <a:ext cx="91440" cy="91440"/>
          </a:xfrm>
          <a:prstGeom prst="ellipse">
            <a:avLst/>
          </a:prstGeom>
          <a:solidFill>
            <a:srgbClr val="F26522"/>
          </a:solidFill>
        </p:spPr>
      </p:sp>
      <p:sp>
        <p:nvSpPr>
          <p:cNvPr id="10" name="Text 8"/>
          <p:cNvSpPr/>
          <p:nvPr/>
        </p:nvSpPr>
        <p:spPr>
          <a:xfrm>
            <a:off x="868680" y="50017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Searchable repository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818120" y="502920"/>
            <a:ext cx="3840480" cy="5852160"/>
          </a:xfrm>
          <a:prstGeom prst="roundRect">
            <a:avLst>
              <a:gd name="adj" fmla="val 4286"/>
            </a:avLst>
          </a:prstGeom>
          <a:solidFill>
            <a:srgbClr val="F26522"/>
          </a:solidFill>
        </p:spPr>
      </p:sp>
      <p:sp>
        <p:nvSpPr>
          <p:cNvPr id="12" name="Shape 10"/>
          <p:cNvSpPr/>
          <p:nvPr/>
        </p:nvSpPr>
        <p:spPr>
          <a:xfrm>
            <a:off x="7818120" y="502920"/>
            <a:ext cx="3840480" cy="5852160"/>
          </a:xfrm>
          <a:prstGeom prst="roundRect">
            <a:avLst>
              <a:gd name="adj" fmla="val 4286"/>
            </a:avLst>
          </a:prstGeom>
        </p:spPr>
      </p:sp>
      <p:sp>
        <p:nvSpPr>
          <p:cNvPr id="13" name="Shape 11"/>
          <p:cNvSpPr/>
          <p:nvPr/>
        </p:nvSpPr>
        <p:spPr>
          <a:xfrm>
            <a:off x="8183880" y="960120"/>
            <a:ext cx="3108960" cy="841248"/>
          </a:xfrm>
          <a:prstGeom prst="roundRect">
            <a:avLst>
              <a:gd name="adj" fmla="val 15217"/>
            </a:avLst>
          </a:prstGeom>
          <a:solidFill>
            <a:srgbClr val="C94F13"/>
          </a:solidFill>
        </p:spPr>
      </p:sp>
      <p:sp>
        <p:nvSpPr>
          <p:cNvPr id="14" name="Shape 12"/>
          <p:cNvSpPr/>
          <p:nvPr/>
        </p:nvSpPr>
        <p:spPr>
          <a:xfrm>
            <a:off x="8366760" y="1106424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0" descr="/home/claude/pbl/icons/edu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88" y="1216152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052560" y="96012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83880" y="1965960"/>
            <a:ext cx="3108960" cy="841248"/>
          </a:xfrm>
          <a:prstGeom prst="roundRect">
            <a:avLst>
              <a:gd name="adj" fmla="val 15217"/>
            </a:avLst>
          </a:prstGeom>
          <a:solidFill>
            <a:srgbClr val="C94F13"/>
          </a:solidFill>
        </p:spPr>
      </p:sp>
      <p:sp>
        <p:nvSpPr>
          <p:cNvPr id="18" name="Shape 15"/>
          <p:cNvSpPr/>
          <p:nvPr/>
        </p:nvSpPr>
        <p:spPr>
          <a:xfrm>
            <a:off x="8366760" y="2112264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1" descr="/home/claude/pbl/icons/boo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488" y="2221992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052560" y="196596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Books &amp; Notes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183880" y="2971800"/>
            <a:ext cx="3108960" cy="841248"/>
          </a:xfrm>
          <a:prstGeom prst="roundRect">
            <a:avLst>
              <a:gd name="adj" fmla="val 15217"/>
            </a:avLst>
          </a:prstGeom>
          <a:solidFill>
            <a:srgbClr val="C94F13"/>
          </a:solidFill>
        </p:spPr>
      </p:sp>
      <p:sp>
        <p:nvSpPr>
          <p:cNvPr id="22" name="Shape 18"/>
          <p:cNvSpPr/>
          <p:nvPr/>
        </p:nvSpPr>
        <p:spPr>
          <a:xfrm>
            <a:off x="8366760" y="3118104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3" name="Image 2" descr="/home/claude/pbl/icons/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3227832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052560" y="297180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/ NLP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183880" y="3977640"/>
            <a:ext cx="3108960" cy="841248"/>
          </a:xfrm>
          <a:prstGeom prst="roundRect">
            <a:avLst>
              <a:gd name="adj" fmla="val 15217"/>
            </a:avLst>
          </a:prstGeom>
          <a:solidFill>
            <a:srgbClr val="C94F13"/>
          </a:solidFill>
        </p:spPr>
      </p:sp>
      <p:sp>
        <p:nvSpPr>
          <p:cNvPr id="26" name="Shape 21"/>
          <p:cNvSpPr/>
          <p:nvPr/>
        </p:nvSpPr>
        <p:spPr>
          <a:xfrm>
            <a:off x="8366760" y="4123944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3" descr="/home/claude/pbl/icons/ques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4233672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52560" y="397764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 Papers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8183880" y="4983480"/>
            <a:ext cx="3108960" cy="841248"/>
          </a:xfrm>
          <a:prstGeom prst="roundRect">
            <a:avLst>
              <a:gd name="adj" fmla="val 15217"/>
            </a:avLst>
          </a:prstGeom>
          <a:solidFill>
            <a:srgbClr val="C94F13"/>
          </a:solidFill>
        </p:spPr>
      </p:sp>
      <p:sp>
        <p:nvSpPr>
          <p:cNvPr id="30" name="Shape 24"/>
          <p:cNvSpPr/>
          <p:nvPr/>
        </p:nvSpPr>
        <p:spPr>
          <a:xfrm>
            <a:off x="8366760" y="5129784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4" descr="/home/claude/pbl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6488" y="5239512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052560" y="49834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Question Bank Generation System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Prior Work on Automatic Question Generation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66160" cy="48920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91640"/>
            <a:ext cx="502920" cy="502920"/>
          </a:xfrm>
          <a:prstGeom prst="ellipse">
            <a:avLst/>
          </a:prstGeom>
          <a:solidFill>
            <a:srgbClr val="FDEDE4"/>
          </a:solidFill>
        </p:spPr>
      </p:sp>
      <p:pic>
        <p:nvPicPr>
          <p:cNvPr id="6" name="Image 0" descr="/home/claude/pbl/icons/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817370"/>
            <a:ext cx="251460" cy="251460"/>
          </a:xfrm>
          <a:prstGeom prst="rect">
            <a:avLst/>
          </a:prstGeom>
        </p:spPr>
      </p:pic>
      <p:pic>
        <p:nvPicPr>
          <p:cNvPr id="7" name="Image 1" descr="/home/claude/pbl/icons/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819656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6916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14400" y="228600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A Systematic Review of Automatic Question Generation for Educational Purposes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14400" y="32918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14400" y="35661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 AQG techniques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Covers rule-based, template-based &amp; NLP approaches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Discusses educational assessment automation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914400" y="4873752"/>
            <a:ext cx="301752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50017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4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14400" y="527608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Limited difficulty estimation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complete question bank management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evaluation methods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434840" y="1417320"/>
            <a:ext cx="3566160" cy="48920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09160" y="1691640"/>
            <a:ext cx="502920" cy="502920"/>
          </a:xfrm>
          <a:prstGeom prst="ellipse">
            <a:avLst/>
          </a:prstGeom>
          <a:solidFill>
            <a:srgbClr val="FDEDE4"/>
          </a:solidFill>
        </p:spPr>
      </p:sp>
      <p:pic>
        <p:nvPicPr>
          <p:cNvPr id="17" name="Image 2" descr="/home/claude/pbl/icons/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4890" y="1817370"/>
            <a:ext cx="251460" cy="251460"/>
          </a:xfrm>
          <a:prstGeom prst="rect">
            <a:avLst/>
          </a:prstGeom>
        </p:spPr>
      </p:pic>
      <p:pic>
        <p:nvPicPr>
          <p:cNvPr id="18" name="Image 3" descr="/home/claude/pbl/icons/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7176" y="181965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16916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2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09160" y="228600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Automatic Question Generation and Answer Assessment: A Survey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709160" y="32918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709160" y="35661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 automatic question generation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Explains NLP-based approaches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Discusses automatic answer evaluation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709160" y="4873752"/>
            <a:ext cx="301752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4709160" y="50017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4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709160" y="527608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manual verification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organization &amp; retrieval of questions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8229600" y="1417320"/>
            <a:ext cx="3566160" cy="48920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503920" y="1691640"/>
            <a:ext cx="502920" cy="502920"/>
          </a:xfrm>
          <a:prstGeom prst="ellipse">
            <a:avLst/>
          </a:prstGeom>
          <a:solidFill>
            <a:srgbClr val="FDEDE4"/>
          </a:solidFill>
        </p:spPr>
      </p:sp>
      <p:pic>
        <p:nvPicPr>
          <p:cNvPr id="28" name="Image 4" descr="/home/claude/pbl/icons/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0" y="1817370"/>
            <a:ext cx="251460" cy="251460"/>
          </a:xfrm>
          <a:prstGeom prst="rect">
            <a:avLst/>
          </a:prstGeom>
        </p:spPr>
      </p:pic>
      <p:pic>
        <p:nvPicPr>
          <p:cNvPr id="29" name="Image 5" descr="/home/claude/pbl/icons/pap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36" y="1819656"/>
            <a:ext cx="246888" cy="2468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144000" y="169164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3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8503920" y="2286000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2D2D2D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Automatic Question Generation Using NLP and Transformers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503920" y="329184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8503920" y="3566160"/>
            <a:ext cx="301752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Transformer models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MCQs and descriptive questions</a:t>
            </a:r>
            <a:endParaRPr lang="en-US" sz="1150" dirty="0"/>
          </a:p>
          <a:p>
            <a:pPr marL="152400" indent="-1524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higher-quality questions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8503920" y="4873752"/>
            <a:ext cx="3017520" cy="0"/>
          </a:xfrm>
          <a:prstGeom prst="line">
            <a:avLst/>
          </a:prstGeom>
          <a:noFill/>
          <a:ln w="12700">
            <a:solidFill>
              <a:srgbClr val="EAEAEA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503920" y="500176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94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503920" y="5276088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computational cost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Requires large datasets</a:t>
            </a:r>
            <a:endParaRPr lang="en-US" sz="1100" dirty="0"/>
          </a:p>
          <a:p>
            <a:pPr marL="152400" indent="-152400">
              <a:lnSpc>
                <a:spcPct val="118000"/>
              </a:lnSpc>
              <a:buSzPct val="100000"/>
              <a:buChar char="•"/>
            </a:pPr>
            <a:r>
              <a:rPr lang="en-US" sz="11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 to deploy on low-resource systems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Question Bank Generation System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Where Existing Systems Fall Short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40080" y="1371600"/>
          <a:ext cx="10908792" cy="2267712"/>
        </p:xfrm>
        <a:graphic>
          <a:graphicData uri="http://schemas.openxmlformats.org/drawingml/2006/table">
            <a:tbl>
              <a:tblPr/>
              <a:tblGrid>
                <a:gridCol w="4581693"/>
                <a:gridCol w="6327099"/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Existing Systems</a:t>
                      </a:r>
                      <a:endParaRPr lang="en-US" sz="13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5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Research Gap</a:t>
                      </a:r>
                      <a:endParaRPr lang="en-US" sz="13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65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</a:rPr>
                        <a:t>Rule-based systems</a:t>
                      </a:r>
                      <a:endParaRPr lang="en-US" sz="12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</a:rPr>
                        <a:t>Limited flexibility</a:t>
                      </a:r>
                      <a:endParaRPr lang="en-US" sz="12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</a:rPr>
                        <a:t>NLP-based systems</a:t>
                      </a:r>
                      <a:endParaRPr lang="en-US" sz="12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</a:rPr>
                        <a:t>Weak topic organization</a:t>
                      </a:r>
                      <a:endParaRPr lang="en-US" sz="12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</a:rPr>
                        <a:t>Transformer models</a:t>
                      </a:r>
                      <a:endParaRPr lang="en-US" sz="12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</a:rPr>
                        <a:t>High computational cost</a:t>
                      </a:r>
                      <a:endParaRPr lang="en-US" sz="12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</a:rPr>
                        <a:t>Existing AQG systems</a:t>
                      </a:r>
                      <a:endParaRPr lang="en-US" sz="12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</a:rPr>
                        <a:t>Lack searchable repositories &amp; accurate difficulty estimation</a:t>
                      </a:r>
                      <a:endParaRPr lang="en-US" sz="1200" dirty="0"/>
                    </a:p>
                  </a:txBody>
                  <a:tcPr marL="152400" marR="152400" marT="76200" marB="76200" anchor="ctr">
                    <a:lnL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AEA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40080" y="3895344"/>
            <a:ext cx="10908792" cy="2551176"/>
          </a:xfrm>
          <a:prstGeom prst="roundRect">
            <a:avLst>
              <a:gd name="adj" fmla="val 5018"/>
            </a:avLst>
          </a:prstGeom>
          <a:solidFill>
            <a:srgbClr val="FDEDE4"/>
          </a:solidFill>
        </p:spPr>
      </p:sp>
      <p:sp>
        <p:nvSpPr>
          <p:cNvPr id="6" name="Shape 3"/>
          <p:cNvSpPr/>
          <p:nvPr/>
        </p:nvSpPr>
        <p:spPr>
          <a:xfrm>
            <a:off x="896112" y="4096512"/>
            <a:ext cx="438912" cy="438912"/>
          </a:xfrm>
          <a:prstGeom prst="ellipse">
            <a:avLst/>
          </a:prstGeom>
          <a:solidFill>
            <a:srgbClr val="F26522"/>
          </a:solidFill>
        </p:spPr>
      </p:sp>
      <p:pic>
        <p:nvPicPr>
          <p:cNvPr id="7" name="Image 0" descr="/home/claude/pbl/icons/lightbul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67" y="4195267"/>
            <a:ext cx="241402" cy="24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81328" y="4096512"/>
            <a:ext cx="45720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100" dirty="0">
                <a:solidFill>
                  <a:srgbClr val="C94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PROPOSED SOLUTION</a:t>
            </a:r>
            <a:endParaRPr lang="en-US" sz="1350" dirty="0"/>
          </a:p>
        </p:txBody>
      </p:sp>
      <p:pic>
        <p:nvPicPr>
          <p:cNvPr id="9" name="Image 1" descr="/home/claude/pbl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70001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16152" y="4608576"/>
            <a:ext cx="4956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generate structured question banks</a:t>
            </a:r>
            <a:endParaRPr lang="en-US" sz="1200" dirty="0"/>
          </a:p>
        </p:txBody>
      </p:sp>
      <p:pic>
        <p:nvPicPr>
          <p:cNvPr id="11" name="Image 2" descr="/home/claude/pbl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20640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16152" y="5029200"/>
            <a:ext cx="4956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important keywords</a:t>
            </a:r>
            <a:endParaRPr lang="en-US" sz="1200" dirty="0"/>
          </a:p>
        </p:txBody>
      </p:sp>
      <p:pic>
        <p:nvPicPr>
          <p:cNvPr id="13" name="Image 3" descr="/home/claude/pbl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541264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16152" y="5449824"/>
            <a:ext cx="4956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Categorize questions by topic</a:t>
            </a:r>
            <a:endParaRPr lang="en-US" sz="1200" dirty="0"/>
          </a:p>
        </p:txBody>
      </p:sp>
      <p:pic>
        <p:nvPicPr>
          <p:cNvPr id="15" name="Image 4" descr="/home/claude/pbl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700016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839712" y="4608576"/>
            <a:ext cx="4956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difficulty levels</a:t>
            </a:r>
            <a:endParaRPr lang="en-US" sz="1200" dirty="0"/>
          </a:p>
        </p:txBody>
      </p:sp>
      <p:pic>
        <p:nvPicPr>
          <p:cNvPr id="17" name="Image 5" descr="/home/claude/pbl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120640"/>
            <a:ext cx="182880" cy="18288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839712" y="5029200"/>
            <a:ext cx="4956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questions in a searchable repository</a:t>
            </a:r>
            <a:endParaRPr lang="en-US" sz="1200" dirty="0"/>
          </a:p>
        </p:txBody>
      </p:sp>
      <p:pic>
        <p:nvPicPr>
          <p:cNvPr id="19" name="Image 6" descr="/home/claude/pbl/icons/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541264"/>
            <a:ext cx="182880" cy="18288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6839712" y="5449824"/>
            <a:ext cx="4956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manual effort for educators</a:t>
            </a:r>
            <a:endParaRPr lang="en-US" sz="1200" dirty="0"/>
          </a:p>
        </p:txBody>
      </p:sp>
      <p:sp>
        <p:nvSpPr>
          <p:cNvPr id="21" name="Text 1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Question Bank Generation System</a:t>
            </a:r>
            <a:endParaRPr lang="en-US" sz="900" dirty="0"/>
          </a:p>
        </p:txBody>
      </p:sp>
      <p:sp>
        <p:nvSpPr>
          <p:cNvPr id="22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From Fragmented Techniques to a Unified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8D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Existing Automatic Question Generation systems mainly focus on generating questions but provide limited support for organization, searchable repositories, and difficulty estimation. Our proposed system integrates these capabilities into a single platform — an efficient, practical solution for educational institutions.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880360"/>
            <a:ext cx="1783080" cy="1783080"/>
          </a:xfrm>
          <a:prstGeom prst="roundRect">
            <a:avLst>
              <a:gd name="adj" fmla="val 7179"/>
            </a:avLst>
          </a:prstGeom>
          <a:solidFill>
            <a:srgbClr val="3A3A3A"/>
          </a:solidFill>
          <a:ln w="15875">
            <a:solidFill>
              <a:srgbClr val="F265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4460" y="3136392"/>
            <a:ext cx="731520" cy="731520"/>
          </a:xfrm>
          <a:prstGeom prst="ellipse">
            <a:avLst/>
          </a:prstGeom>
          <a:solidFill>
            <a:srgbClr val="F26522"/>
          </a:solidFill>
        </p:spPr>
      </p:sp>
      <p:pic>
        <p:nvPicPr>
          <p:cNvPr id="7" name="Image 0" descr="/home/claude/pbl/icons/resour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331927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97764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Educational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Resources</a:t>
            </a:r>
            <a:endParaRPr lang="en-US" sz="1150" dirty="0"/>
          </a:p>
        </p:txBody>
      </p:sp>
      <p:pic>
        <p:nvPicPr>
          <p:cNvPr id="9" name="Image 1" descr="/home/claude/pbl/icons/arro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15768" y="364388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035808" y="2880360"/>
            <a:ext cx="1783080" cy="1783080"/>
          </a:xfrm>
          <a:prstGeom prst="roundRect">
            <a:avLst>
              <a:gd name="adj" fmla="val 7179"/>
            </a:avLst>
          </a:prstGeom>
          <a:solidFill>
            <a:srgbClr val="3A3A3A"/>
          </a:solidFill>
          <a:ln w="15875">
            <a:solidFill>
              <a:srgbClr val="F2652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561588" y="3136392"/>
            <a:ext cx="731520" cy="731520"/>
          </a:xfrm>
          <a:prstGeom prst="ellipse">
            <a:avLst/>
          </a:prstGeom>
          <a:solidFill>
            <a:srgbClr val="F26522"/>
          </a:solidFill>
        </p:spPr>
      </p:sp>
      <p:pic>
        <p:nvPicPr>
          <p:cNvPr id="12" name="Image 2" descr="/home/claude/pbl/icons/key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468" y="331927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944368" y="397764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Keyword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</a:t>
            </a:r>
            <a:endParaRPr lang="en-US" sz="1150" dirty="0"/>
          </a:p>
        </p:txBody>
      </p:sp>
      <p:pic>
        <p:nvPicPr>
          <p:cNvPr id="14" name="Image 3" descr="/home/claude/pbl/icons/arro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882896" y="3643884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202936" y="2880360"/>
            <a:ext cx="1783080" cy="1783080"/>
          </a:xfrm>
          <a:prstGeom prst="roundRect">
            <a:avLst>
              <a:gd name="adj" fmla="val 7179"/>
            </a:avLst>
          </a:prstGeom>
          <a:solidFill>
            <a:srgbClr val="3A3A3A"/>
          </a:solidFill>
          <a:ln w="15875">
            <a:solidFill>
              <a:srgbClr val="F26522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5728716" y="3136392"/>
            <a:ext cx="731520" cy="731520"/>
          </a:xfrm>
          <a:prstGeom prst="ellipse">
            <a:avLst/>
          </a:prstGeom>
          <a:solidFill>
            <a:srgbClr val="F26522"/>
          </a:solidFill>
        </p:spPr>
      </p:sp>
      <p:pic>
        <p:nvPicPr>
          <p:cNvPr id="17" name="Image 4" descr="/home/claude/pbl/icons/gene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3319272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11496" y="397764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150" dirty="0"/>
          </a:p>
        </p:txBody>
      </p:sp>
      <p:pic>
        <p:nvPicPr>
          <p:cNvPr id="19" name="Image 5" descr="/home/claude/pbl/icons/arro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050024" y="3643884"/>
            <a:ext cx="256032" cy="2560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7370064" y="2880360"/>
            <a:ext cx="1783080" cy="1783080"/>
          </a:xfrm>
          <a:prstGeom prst="roundRect">
            <a:avLst>
              <a:gd name="adj" fmla="val 7179"/>
            </a:avLst>
          </a:prstGeom>
          <a:solidFill>
            <a:srgbClr val="3A3A3A"/>
          </a:solidFill>
          <a:ln w="15875">
            <a:solidFill>
              <a:srgbClr val="F26522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7895844" y="3136392"/>
            <a:ext cx="731520" cy="731520"/>
          </a:xfrm>
          <a:prstGeom prst="ellipse">
            <a:avLst/>
          </a:prstGeom>
          <a:solidFill>
            <a:srgbClr val="F26522"/>
          </a:solidFill>
        </p:spPr>
      </p:sp>
      <p:pic>
        <p:nvPicPr>
          <p:cNvPr id="22" name="Image 6" descr="/home/claude/pbl/icons/difficul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24" y="3319272"/>
            <a:ext cx="365760" cy="36576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278624" y="397764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Difficulty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Estimation</a:t>
            </a:r>
            <a:endParaRPr lang="en-US" sz="1150" dirty="0"/>
          </a:p>
        </p:txBody>
      </p:sp>
      <p:pic>
        <p:nvPicPr>
          <p:cNvPr id="24" name="Image 7" descr="/home/claude/pbl/icons/arro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9217152" y="3643884"/>
            <a:ext cx="256032" cy="25603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37192" y="2880360"/>
            <a:ext cx="1783080" cy="1783080"/>
          </a:xfrm>
          <a:prstGeom prst="roundRect">
            <a:avLst>
              <a:gd name="adj" fmla="val 7179"/>
            </a:avLst>
          </a:prstGeom>
          <a:solidFill>
            <a:srgbClr val="3A3A3A"/>
          </a:solidFill>
          <a:ln w="15875">
            <a:solidFill>
              <a:srgbClr val="F26522"/>
            </a:solidFill>
            <a:prstDash val="solid"/>
          </a:ln>
        </p:spPr>
      </p:sp>
      <p:sp>
        <p:nvSpPr>
          <p:cNvPr id="26" name="Shape 16"/>
          <p:cNvSpPr/>
          <p:nvPr/>
        </p:nvSpPr>
        <p:spPr>
          <a:xfrm>
            <a:off x="10062972" y="3136392"/>
            <a:ext cx="731520" cy="731520"/>
          </a:xfrm>
          <a:prstGeom prst="ellipse">
            <a:avLst/>
          </a:prstGeom>
          <a:solidFill>
            <a:srgbClr val="F26522"/>
          </a:solidFill>
        </p:spPr>
      </p:sp>
      <p:pic>
        <p:nvPicPr>
          <p:cNvPr id="27" name="Image 8" descr="/home/claude/pbl/icons/reposito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5852" y="3319272"/>
            <a:ext cx="365760" cy="36576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445752" y="3977640"/>
            <a:ext cx="196596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</a:t>
            </a:r>
            <a:endParaRPr lang="en-US" sz="1150" dirty="0"/>
          </a:p>
        </p:txBody>
      </p:sp>
      <p:sp>
        <p:nvSpPr>
          <p:cNvPr id="29" name="Text 18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pipeline — from raw content to a ready-to-use, searchable question bank.</a:t>
            </a:r>
            <a:endParaRPr lang="en-US" sz="1300" dirty="0"/>
          </a:p>
        </p:txBody>
      </p:sp>
      <p:sp>
        <p:nvSpPr>
          <p:cNvPr id="30" name="Text 1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9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Question Bank Generation System</a:t>
            </a:r>
            <a:endParaRPr lang="en-US" sz="900" dirty="0"/>
          </a:p>
        </p:txBody>
      </p:sp>
      <p:sp>
        <p:nvSpPr>
          <p:cNvPr id="31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5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entury Schoolbook" panose="02040604050505020304" pitchFamily="34" charset="0"/>
                <a:ea typeface="Century Schoolbook" panose="02040604050505020304" pitchFamily="34" charset="-122"/>
                <a:cs typeface="Century Schoolbook" panose="02040604050505020304" pitchFamily="34" charset="-120"/>
              </a:rPr>
              <a:t>Sources &amp; Documentation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4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PAPERS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4F4F4"/>
          </a:solidFill>
        </p:spPr>
      </p:sp>
      <p:pic>
        <p:nvPicPr>
          <p:cNvPr id="6" name="Image 0" descr="/home/claude/pbl/icons/refboo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311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21408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Systematic Review of Automatic Question Generation for Educational Purposes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25880" y="267004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4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4F4F4"/>
          </a:solidFill>
        </p:spPr>
      </p:sp>
      <p:pic>
        <p:nvPicPr>
          <p:cNvPr id="10" name="Image 1" descr="/home/claude/pbl/icons/refboo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3741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264408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Question Generation and Answer Assessment: A Survey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297680"/>
            <a:ext cx="5486400" cy="960120"/>
          </a:xfrm>
          <a:prstGeom prst="roundRect">
            <a:avLst>
              <a:gd name="adj" fmla="val 9524"/>
            </a:avLst>
          </a:prstGeom>
          <a:solidFill>
            <a:srgbClr val="F4F4F4"/>
          </a:solidFill>
        </p:spPr>
      </p:sp>
      <p:pic>
        <p:nvPicPr>
          <p:cNvPr id="13" name="Image 2" descr="/home/claude/pbl/icons/refboo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51713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07408"/>
            <a:ext cx="4663440" cy="594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Question Generation Using NLP and Transformers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1325880" y="4956048"/>
            <a:ext cx="4663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4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IEEE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492240" y="16002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4F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DOCUMENTATION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92240" y="2011680"/>
            <a:ext cx="50749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AEAEA"/>
            </a:solidFill>
            <a:prstDash val="solid"/>
          </a:ln>
        </p:spPr>
      </p:sp>
      <p:pic>
        <p:nvPicPr>
          <p:cNvPr id="18" name="Image 3" descr="/home/claude/pbl/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27685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224028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Documentation</a:t>
            </a:r>
            <a:endParaRPr lang="en-US" sz="1300" dirty="0"/>
          </a:p>
        </p:txBody>
      </p:sp>
      <p:pic>
        <p:nvPicPr>
          <p:cNvPr id="20" name="Image 4" descr="/home/claude/pbl/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9352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78040" y="2898648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Documentation</a:t>
            </a:r>
            <a:endParaRPr lang="en-US" sz="1300" dirty="0"/>
          </a:p>
        </p:txBody>
      </p:sp>
      <p:pic>
        <p:nvPicPr>
          <p:cNvPr id="22" name="Image 5" descr="/home/claude/pbl/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59359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78040" y="3557016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Documentation</a:t>
            </a:r>
            <a:endParaRPr lang="en-US" sz="1300" dirty="0"/>
          </a:p>
        </p:txBody>
      </p:sp>
      <p:pic>
        <p:nvPicPr>
          <p:cNvPr id="24" name="Image 6" descr="/home/claude/pbl/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251960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78040" y="4215384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spaCy Documentation</a:t>
            </a:r>
            <a:endParaRPr lang="en-US" sz="1300" dirty="0"/>
          </a:p>
        </p:txBody>
      </p:sp>
      <p:pic>
        <p:nvPicPr>
          <p:cNvPr id="26" name="Image 7" descr="/home/claude/pbl/icons/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910328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78040" y="487375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NLTK Documentation</a:t>
            </a:r>
            <a:endParaRPr lang="en-US" sz="1300" dirty="0"/>
          </a:p>
        </p:txBody>
      </p:sp>
      <p:sp>
        <p:nvSpPr>
          <p:cNvPr id="28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Question Bank Generation System</a:t>
            </a:r>
            <a:endParaRPr lang="en-US" sz="900" dirty="0"/>
          </a:p>
        </p:txBody>
      </p:sp>
      <p:sp>
        <p:nvSpPr>
          <p:cNvPr id="29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3192</Words>
  <Application>WPS Presentation</Application>
  <PresentationFormat>On-screen Show (16:9)</PresentationFormat>
  <Paragraphs>203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Century Schoolbook</vt:lpstr>
      <vt:lpstr>Century Schoolbook</vt:lpstr>
      <vt:lpstr>Century Schoolbook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</cp:lastModifiedBy>
  <cp:revision>2</cp:revision>
  <dcterms:created xsi:type="dcterms:W3CDTF">2026-08-16T16:32:00Z</dcterms:created>
  <dcterms:modified xsi:type="dcterms:W3CDTF">2026-08-16T16:35:49Z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9042E51BF260438983B08477F7E95BC0_12</vt:lpwstr>
  </property>
  <property fmtid="{D5CDD505-2E9C-101B-9397-08002B2CF9AE}" pid="3" name="KSOProductBuildVer">
    <vt:lpwstr>1033-12.1.0.28032</vt:lpwstr>
  </property>
</Properties>
</file>